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b677695344daf" /><Relationship Type="http://schemas.openxmlformats.org/officeDocument/2006/relationships/extended-properties" Target="/docProps/app.xml" Id="R43e55e998d584b16" /><Relationship Type="http://schemas.openxmlformats.org/officeDocument/2006/relationships/officeDocument" Target="/ppt/presentation.xml" Id="R6f75c8019b2b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a26edf9144e47"/>
  </p:sldMasterIdLst>
  <p:notesMasterIdLst>
    <p:notesMasterId xmlns:r="http://schemas.openxmlformats.org/officeDocument/2006/relationships" r:id="R53e6b53c5ec647ed"/>
  </p:notesMasterIdLst>
  <p:sldIdLst>
    <p:sldId xmlns:r="http://schemas.openxmlformats.org/officeDocument/2006/relationships" id="256" r:id="R41310d2db1cf4f61"/>
    <p:sldId xmlns:r="http://schemas.openxmlformats.org/officeDocument/2006/relationships" id="257" r:id="R86dece50621b4f07"/>
    <p:sldId xmlns:r="http://schemas.openxmlformats.org/officeDocument/2006/relationships" id="258" r:id="Rcf982abd8b9640a6"/>
    <p:sldId xmlns:r="http://schemas.openxmlformats.org/officeDocument/2006/relationships" id="259" r:id="Rdfe1ddf5f43a44c2"/>
    <p:sldId xmlns:r="http://schemas.openxmlformats.org/officeDocument/2006/relationships" id="260" r:id="Rbefacd552c934211"/>
    <p:sldId xmlns:r="http://schemas.openxmlformats.org/officeDocument/2006/relationships" id="261" r:id="Rb1f2e20665d141fd"/>
    <p:sldId xmlns:r="http://schemas.openxmlformats.org/officeDocument/2006/relationships" id="262" r:id="R62e1af96609348ae"/>
    <p:sldId xmlns:r="http://schemas.openxmlformats.org/officeDocument/2006/relationships" id="263" r:id="R098926b1ea8b43f5"/>
    <p:sldId xmlns:r="http://schemas.openxmlformats.org/officeDocument/2006/relationships" id="264" r:id="R8a7cca19cb764f89"/>
    <p:sldId xmlns:r="http://schemas.openxmlformats.org/officeDocument/2006/relationships" id="265" r:id="R94ee486e16cc42e8"/>
    <p:sldId xmlns:r="http://schemas.openxmlformats.org/officeDocument/2006/relationships" id="266" r:id="Ra1515c82b6c34da1"/>
    <p:sldId xmlns:r="http://schemas.openxmlformats.org/officeDocument/2006/relationships" id="267" r:id="R6001547065614b8e"/>
    <p:sldId xmlns:r="http://schemas.openxmlformats.org/officeDocument/2006/relationships" id="268" r:id="R08b9e1acb917410d"/>
    <p:sldId xmlns:r="http://schemas.openxmlformats.org/officeDocument/2006/relationships" id="269" r:id="R0d0cb6bfc3594db1"/>
    <p:sldId xmlns:r="http://schemas.openxmlformats.org/officeDocument/2006/relationships" id="270" r:id="R7ad9bdb05fe74094"/>
    <p:sldId xmlns:r="http://schemas.openxmlformats.org/officeDocument/2006/relationships" id="271" r:id="R90130e5f2c9e4950"/>
    <p:sldId xmlns:r="http://schemas.openxmlformats.org/officeDocument/2006/relationships" id="272" r:id="R1aeaeb61bd4c4ed9"/>
    <p:sldId xmlns:r="http://schemas.openxmlformats.org/officeDocument/2006/relationships" id="273" r:id="Rddab4cd6544b4ed7"/>
    <p:sldId xmlns:r="http://schemas.openxmlformats.org/officeDocument/2006/relationships" id="274" r:id="Rf05b2199b3d347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62a6affeb04e00" /><Relationship Type="http://schemas.openxmlformats.org/officeDocument/2006/relationships/slideMaster" Target="/ppt/slideMasters/slideMaster1.xml" Id="R49ea26edf9144e47" /><Relationship Type="http://schemas.openxmlformats.org/officeDocument/2006/relationships/notesMaster" Target="/ppt/notesMasters/notesMaster1.xml" Id="R53e6b53c5ec647ed" /><Relationship Type="http://schemas.openxmlformats.org/officeDocument/2006/relationships/presProps" Target="/ppt/presProps.xml" Id="Ra198c26bbb3b4580" /><Relationship Type="http://schemas.openxmlformats.org/officeDocument/2006/relationships/tableStyles" Target="/ppt/tableStyles.xml" Id="R53b29ebf25254b86" /><Relationship Type="http://schemas.openxmlformats.org/officeDocument/2006/relationships/slide" Target="/ppt/slides/slide1.xml" Id="R41310d2db1cf4f61" /><Relationship Type="http://schemas.openxmlformats.org/officeDocument/2006/relationships/slide" Target="/ppt/slides/slide2.xml" Id="R86dece50621b4f07" /><Relationship Type="http://schemas.openxmlformats.org/officeDocument/2006/relationships/slide" Target="/ppt/slides/slide3.xml" Id="Rcf982abd8b9640a6" /><Relationship Type="http://schemas.openxmlformats.org/officeDocument/2006/relationships/slide" Target="/ppt/slides/slide4.xml" Id="Rdfe1ddf5f43a44c2" /><Relationship Type="http://schemas.openxmlformats.org/officeDocument/2006/relationships/slide" Target="/ppt/slides/slide5.xml" Id="Rbefacd552c934211" /><Relationship Type="http://schemas.openxmlformats.org/officeDocument/2006/relationships/slide" Target="/ppt/slides/slide6.xml" Id="Rb1f2e20665d141fd" /><Relationship Type="http://schemas.openxmlformats.org/officeDocument/2006/relationships/slide" Target="/ppt/slides/slide7.xml" Id="R62e1af96609348ae" /><Relationship Type="http://schemas.openxmlformats.org/officeDocument/2006/relationships/slide" Target="/ppt/slides/slide8.xml" Id="R098926b1ea8b43f5" /><Relationship Type="http://schemas.openxmlformats.org/officeDocument/2006/relationships/slide" Target="/ppt/slides/slide9.xml" Id="R8a7cca19cb764f89" /><Relationship Type="http://schemas.openxmlformats.org/officeDocument/2006/relationships/slide" Target="/ppt/slides/slide10.xml" Id="R94ee486e16cc42e8" /><Relationship Type="http://schemas.openxmlformats.org/officeDocument/2006/relationships/slide" Target="/ppt/slides/slide11.xml" Id="Ra1515c82b6c34da1" /><Relationship Type="http://schemas.openxmlformats.org/officeDocument/2006/relationships/slide" Target="/ppt/slides/slide12.xml" Id="R6001547065614b8e" /><Relationship Type="http://schemas.openxmlformats.org/officeDocument/2006/relationships/slide" Target="/ppt/slides/slide13.xml" Id="R08b9e1acb917410d" /><Relationship Type="http://schemas.openxmlformats.org/officeDocument/2006/relationships/slide" Target="/ppt/slides/slide14.xml" Id="R0d0cb6bfc3594db1" /><Relationship Type="http://schemas.openxmlformats.org/officeDocument/2006/relationships/slide" Target="/ppt/slides/slide15.xml" Id="R7ad9bdb05fe74094" /><Relationship Type="http://schemas.openxmlformats.org/officeDocument/2006/relationships/slide" Target="/ppt/slides/slide16.xml" Id="R90130e5f2c9e4950" /><Relationship Type="http://schemas.openxmlformats.org/officeDocument/2006/relationships/slide" Target="/ppt/slides/slide17.xml" Id="R1aeaeb61bd4c4ed9" /><Relationship Type="http://schemas.openxmlformats.org/officeDocument/2006/relationships/slide" Target="/ppt/slides/slide18.xml" Id="Rddab4cd6544b4ed7" /><Relationship Type="http://schemas.openxmlformats.org/officeDocument/2006/relationships/slide" Target="/ppt/slides/slide19.xml" Id="Rf05b2199b3d3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aded62f46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c2f07d38694881" /><Relationship Type="http://schemas.openxmlformats.org/officeDocument/2006/relationships/notesMaster" Target="/ppt/notesMasters/notesMaster1.xml" Id="R83c088d78d5946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129335b404f0c" /><Relationship Type="http://schemas.openxmlformats.org/officeDocument/2006/relationships/notesMaster" Target="/ppt/notesMasters/notesMaster1.xml" Id="Rba5a5c2f0439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cdbd7bd5924b6e" /><Relationship Type="http://schemas.openxmlformats.org/officeDocument/2006/relationships/notesMaster" Target="/ppt/notesMasters/notesMaster1.xml" Id="Re51d866782c8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91c79db34c487d" /><Relationship Type="http://schemas.openxmlformats.org/officeDocument/2006/relationships/notesMaster" Target="/ppt/notesMasters/notesMaster1.xml" Id="R3baed35245c5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abcf79bb84ab6" /><Relationship Type="http://schemas.openxmlformats.org/officeDocument/2006/relationships/notesMaster" Target="/ppt/notesMasters/notesMaster1.xml" Id="Ra6afc615f6b3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1ccd247d74ea6" /><Relationship Type="http://schemas.openxmlformats.org/officeDocument/2006/relationships/notesMaster" Target="/ppt/notesMasters/notesMaster1.xml" Id="R492d44a627b04f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6cf90de0343e2" /><Relationship Type="http://schemas.openxmlformats.org/officeDocument/2006/relationships/notesMaster" Target="/ppt/notesMasters/notesMaster1.xml" Id="Rd37e1ed8cf1243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b0f5cf2aae4fb4" /><Relationship Type="http://schemas.openxmlformats.org/officeDocument/2006/relationships/notesMaster" Target="/ppt/notesMasters/notesMaster1.xml" Id="Rc35f3611f64d48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fb5db51c9a43cf" /><Relationship Type="http://schemas.openxmlformats.org/officeDocument/2006/relationships/notesMaster" Target="/ppt/notesMasters/notesMaster1.xml" Id="R4b93098f56ca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c7bbb6d5c43c2" /><Relationship Type="http://schemas.openxmlformats.org/officeDocument/2006/relationships/notesMaster" Target="/ppt/notesMasters/notesMaster1.xml" Id="R29649c78ae254c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4f233a53244b31" /><Relationship Type="http://schemas.openxmlformats.org/officeDocument/2006/relationships/notesMaster" Target="/ppt/notesMasters/notesMaster1.xml" Id="R03982f4ff8d6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0389a1906847ef" /><Relationship Type="http://schemas.openxmlformats.org/officeDocument/2006/relationships/notesMaster" Target="/ppt/notesMasters/notesMaster1.xml" Id="Red9831b6162e48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54d5dda31442d5" /><Relationship Type="http://schemas.openxmlformats.org/officeDocument/2006/relationships/notesMaster" Target="/ppt/notesMasters/notesMaster1.xml" Id="R0f4b9ca9539f42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2c34b4cfa4f20" /><Relationship Type="http://schemas.openxmlformats.org/officeDocument/2006/relationships/notesMaster" Target="/ppt/notesMasters/notesMaster1.xml" Id="R9e2d0b38d27d40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c76cb2b89f43d1" /><Relationship Type="http://schemas.openxmlformats.org/officeDocument/2006/relationships/notesMaster" Target="/ppt/notesMasters/notesMaster1.xml" Id="Rc0f83d9e38fc43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63955d3ccb4738" /><Relationship Type="http://schemas.openxmlformats.org/officeDocument/2006/relationships/notesMaster" Target="/ppt/notesMasters/notesMaster1.xml" Id="R95fd6690b0a944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a65c107fdf4b71" /><Relationship Type="http://schemas.openxmlformats.org/officeDocument/2006/relationships/notesMaster" Target="/ppt/notesMasters/notesMaster1.xml" Id="Rb9f044c2a44946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2e75bda5844e41" /><Relationship Type="http://schemas.openxmlformats.org/officeDocument/2006/relationships/notesMaster" Target="/ppt/notesMasters/notesMaster1.xml" Id="Rc3c5a3c8da2e41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e329d1215d4a88" /><Relationship Type="http://schemas.openxmlformats.org/officeDocument/2006/relationships/notesMaster" Target="/ppt/notesMasters/notesMaster1.xml" Id="R73fd40640480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Opening question: How can a circuit be converted into a complete state model?</a:t>
            </a:r>
          </a:p>
          <a:p xmlns:a="http://schemas.openxmlformats.org/drawingml/2006/main">
            <a:r>
              <a:t>Outcomes: Derive flip-flop input and next-state equations | Enumerate a state table without missing cases | Distinguish Moore from Mealy output placement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Derive flip-flop input and next-state equations</a:t>
            </a:r>
          </a:p>
          <a:p xmlns:a="http://schemas.openxmlformats.org/drawingml/2006/main">
            <a:r>
              <a:t>Enumerate a state table without missing cases</a:t>
            </a:r>
          </a:p>
          <a:p xmlns:a="http://schemas.openxmlformats.org/drawingml/2006/main">
            <a:r>
              <a:t>Distinguish Moore from Mealy output placement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Ask students for an initial answer: How can a circuit be converted into a complete state model?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A gate network can be expressed as Boolean equations.</a:t>
            </a:r>
          </a:p>
          <a:p xmlns:a="http://schemas.openxmlformats.org/drawingml/2006/main">
            <a:r>
              <a:t>A flip-flop stores one present-state bit.</a:t>
            </a:r>
          </a:p>
          <a:p xmlns:a="http://schemas.openxmlformats.org/drawingml/2006/main">
            <a:r>
              <a:t>A truth table lists every input combination for a fixed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state equation: Boolean expression for a next-state bit</a:t>
            </a:r>
          </a:p>
          <a:p xmlns:a="http://schemas.openxmlformats.org/drawingml/2006/main">
            <a:r>
              <a:t>state table: all present-state and input cases</a:t>
            </a:r>
          </a:p>
          <a:p xmlns:a="http://schemas.openxmlformats.org/drawingml/2006/main">
            <a:r>
              <a:t>Moore output: output determined by present state</a:t>
            </a:r>
          </a:p>
          <a:p xmlns:a="http://schemas.openxmlformats.org/drawingml/2006/main">
            <a:r>
              <a:t>Mealy output: output determined by state and current 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Trace each flip-flop input back through the gates.</a:t>
            </a:r>
          </a:p>
          <a:p xmlns:a="http://schemas.openxmlformats.org/drawingml/2006/main">
            <a:r>
              <a:t>Apply the flip-flop characteristic equation.</a:t>
            </a:r>
          </a:p>
          <a:p xmlns:a="http://schemas.openxmlformats.org/drawingml/2006/main">
            <a:r>
              <a:t>Enumerate every state/input row and draw its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Name every present-state variable and write flip-flop input equations from the gates.</a:t>
            </a:r>
          </a:p>
          <a:p xmlns:a="http://schemas.openxmlformats.org/drawingml/2006/main">
            <a:r>
              <a:t>Apply the correct characteristic equation to obtain each next-state bit.</a:t>
            </a:r>
          </a:p>
          <a:p xmlns:a="http://schemas.openxmlformats.org/drawingml/2006/main">
            <a:r>
              <a:t>Enumerate all state/input rows before drawing and checking the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Analyze a D flip-flop network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Prompt: One D flip-flop has D=X⊕Q and output Z=XQ. Derive its behavior.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Since Q⁺=D, write Q⁺=X⊕Q.</a:t>
            </a:r>
          </a:p>
          <a:p xmlns:a="http://schemas.openxmlformats.org/drawingml/2006/main">
            <a:r>
              <a:t>For X=0, Q⁺=Q, so both states hold.</a:t>
            </a:r>
          </a:p>
          <a:p xmlns:a="http://schemas.openxmlformats.org/drawingml/2006/main">
            <a:r>
              <a:t>For X=1, Q⁺=Q′, so both states toggle.</a:t>
            </a:r>
          </a:p>
          <a:p xmlns:a="http://schemas.openxmlformats.org/drawingml/2006/main">
            <a:r>
              <a:t>Compute Z from the present Q and X for each table row.</a:t>
            </a:r>
          </a:p>
          <a:p xmlns:a="http://schemas.openxmlformats.org/drawingml/2006/main">
            <a:r>
              <a:t>Answer: Z=1 only on the transition out of Q=1 with X=1. This is a Mealy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Moore model | Output belongs inside each state. | Input changes affect output after a state update.</a:t>
            </a:r>
          </a:p>
          <a:p xmlns:a="http://schemas.openxmlformats.org/drawingml/2006/main">
            <a:r>
              <a:t>Mealy model | Output belongs on each transition. | Current input can change output within a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The active row and transition follow D=X⊕Q; Z=XQ responds to the present input and state.</a:t>
            </a:r>
          </a:p>
          <a:p xmlns:a="http://schemas.openxmlformats.org/drawingml/2006/main">
            <a:r>
              <a:t>Set X=1 and single-step twice. Trace each active table row aloud.</a:t>
            </a:r>
          </a:p>
          <a:p xmlns:a="http://schemas.openxmlformats.org/drawingml/2006/main">
            <a:r>
              <a:t>Ask students to place Z for Q=1, X=1 on a state or on an arrow.</a:t>
            </a:r>
          </a:p>
          <a:p xmlns:a="http://schemas.openxmlformats.org/drawingml/2006/main">
            <a:r>
              <a:t>Use the four-row table as the audit of the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For D=X⊕Q and Z=XQ, complete all four state/input rows and draw the two-state diagram with output labels.</a:t>
            </a:r>
          </a:p>
          <a:p xmlns:a="http://schemas.openxmlformats.org/drawingml/2006/main">
            <a:r>
              <a:t>Deliverable: A complete state table and a diagram with four labelled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Prompt: A two-state machine holds when X=0 and toggles when X=1. Its Moore output equals the state bit.</a:t>
            </a:r>
          </a:p>
          <a:p xmlns:a="http://schemas.openxmlformats.org/drawingml/2006/main">
            <a:r>
              <a:t>First move: Name the states S0 and S1 with outputs 0 and 1.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Convert a verbal rule to a table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Name the states S0 and S1 with outputs 0 and 1.</a:t>
            </a:r>
          </a:p>
          <a:p xmlns:a="http://schemas.openxmlformats.org/drawingml/2006/main">
            <a:r>
              <a:t>For X=0, draw self-loops on both states.</a:t>
            </a:r>
          </a:p>
          <a:p xmlns:a="http://schemas.openxmlformats.org/drawingml/2006/main">
            <a:r>
              <a:t>For X=1, draw S0→S1 and S1→S0.</a:t>
            </a:r>
          </a:p>
          <a:p xmlns:a="http://schemas.openxmlformats.org/drawingml/2006/main">
            <a:r>
              <a:t>Place the output inside each state, not on each arrow.</a:t>
            </a:r>
          </a:p>
          <a:p xmlns:a="http://schemas.openxmlformats.org/drawingml/2006/main">
            <a:r>
              <a:t>Answer: Four state/input rows are required, one for each pair of state and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TEMPTING CLAIM: An output Z=XQ belongs inside the state node.</a:t>
            </a:r>
          </a:p>
          <a:p xmlns:a="http://schemas.openxmlformats.org/drawingml/2006/main">
            <a:r>
              <a:t>WHY IT FAILS: The current input X can change Z before the state changes.</a:t>
            </a:r>
          </a:p>
          <a:p xmlns:a="http://schemas.openxmlformats.org/drawingml/2006/main">
            <a:r>
              <a:t>REPAIR: Label Z on the transition for each state/input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Q1: For D=X⊕Q, what transition occurs from Q=1 when X=1?</a:t>
            </a:r>
          </a:p>
          <a:p xmlns:a="http://schemas.openxmlformats.org/drawingml/2006/main">
            <a:r>
              <a:t>Hint: Compute D first.</a:t>
            </a:r>
          </a:p>
          <a:p xmlns:a="http://schemas.openxmlformats.org/drawingml/2006/main">
            <a:r>
              <a:t>Answer: D=1⊕1=0, so Q⁺=0.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circuit output is Z=QX. Is it Moore or Mealy?</a:t>
            </a:r>
          </a:p>
          <a:p xmlns:a="http://schemas.openxmlformats.org/drawingml/2006/main">
            <a:r>
              <a:t>Hint: Check whether X appears in the output equation.</a:t>
            </a:r>
          </a:p>
          <a:p xmlns:a="http://schemas.openxmlformats.org/drawingml/2006/main">
            <a:r>
              <a:t>Answer: Mealy, because the current input X can change Z without a state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Q1: For D=X⊕Q, what transition occurs from Q=1 when X=1?</a:t>
            </a:r>
          </a:p>
          <a:p xmlns:a="http://schemas.openxmlformats.org/drawingml/2006/main">
            <a:r>
              <a:t>D=1⊕1=0, so Q⁺=0.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circuit output is Z=QX. Is it Moore or Mealy?</a:t>
            </a:r>
          </a:p>
          <a:p xmlns:a="http://schemas.openxmlformats.org/drawingml/2006/main">
            <a:r>
              <a:t>Mealy, because the current input X can change Z without a state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16 | Week 9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6 §6.4, pp. 380–390.</a:t>
            </a:r>
          </a:p>
          <a:p xmlns:a="http://schemas.openxmlformats.org/drawingml/2006/main">
            <a:r>
              <a:t>Companion animation: lesson-02.html</a:t>
            </a:r>
          </a:p>
          <a:p xmlns:a="http://schemas.openxmlformats.org/drawingml/2006/main">
            <a:r>
              <a:t>Derive flip-flop input and next-state equations</a:t>
            </a:r>
          </a:p>
          <a:p xmlns:a="http://schemas.openxmlformats.org/drawingml/2006/main">
            <a:r>
              <a:t>Enumerate a state table without missing cases</a:t>
            </a:r>
          </a:p>
          <a:p xmlns:a="http://schemas.openxmlformats.org/drawingml/2006/main">
            <a:r>
              <a:t>Distinguish Moore from Mealy output placement</a:t>
            </a:r>
          </a:p>
          <a:p xmlns:a="http://schemas.openxmlformats.org/drawingml/2006/main">
            <a:r>
              <a:t>Next companion: lesson-03.html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ae1e0870d42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cb1bb5ad74f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56746429a44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f00d561e040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53a11ab304e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ec07228e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F273C8-3324-4446-8B8C-F1459A445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33FC13-BD70-4610-A3DF-53810CEEBB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CD3C57-C8C1-449C-BF35-31B7C2E18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7BBED5-49CE-4830-8820-6B2A870C0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EF4F29-D2F4-43CE-B952-3D866E838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8E4B84-6286-4D21-B949-0B02548C9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EBB4F2-B5EE-4C34-A22E-4637ADC64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84C4A-4C2B-41BA-A77F-C4F2AE76E6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09590-0616-474E-9DA5-27D0625FE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587D24-4612-4E7B-997C-FE32B9D48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b1394d10e34d76" /><Relationship Type="http://schemas.openxmlformats.org/officeDocument/2006/relationships/slideLayout" Target="/ppt/slideLayouts/slideLayout1.xml" Id="R227bac06424d4892" /><Relationship Type="http://schemas.openxmlformats.org/officeDocument/2006/relationships/slideLayout" Target="/ppt/slideLayouts/slideLayout2.xml" Id="R95587c4f7f394016" /><Relationship Type="http://schemas.openxmlformats.org/officeDocument/2006/relationships/slideLayout" Target="/ppt/slideLayouts/slideLayout3.xml" Id="R0b07f3dd909c4007" /><Relationship Type="http://schemas.openxmlformats.org/officeDocument/2006/relationships/slideLayout" Target="/ppt/slideLayouts/slideLayout4.xml" Id="R91cbf7639c3048f4" /><Relationship Type="http://schemas.openxmlformats.org/officeDocument/2006/relationships/slideLayout" Target="/ppt/slideLayouts/slideLayout5.xml" Id="Rc9aa7f0f0ad144b9" /><Relationship Type="http://schemas.openxmlformats.org/officeDocument/2006/relationships/slideLayout" Target="/ppt/slideLayouts/slideLayout6.xml" Id="R31ddedf84e7d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bac06424d4892"/>
    <p:sldLayoutId xmlns:r="http://schemas.openxmlformats.org/officeDocument/2006/relationships" id="2147483650" r:id="R95587c4f7f394016"/>
    <p:sldLayoutId xmlns:r="http://schemas.openxmlformats.org/officeDocument/2006/relationships" id="2147483651" r:id="R0b07f3dd909c4007"/>
    <p:sldLayoutId xmlns:r="http://schemas.openxmlformats.org/officeDocument/2006/relationships" id="2147483652" r:id="R91cbf7639c3048f4"/>
    <p:sldLayoutId xmlns:r="http://schemas.openxmlformats.org/officeDocument/2006/relationships" id="2147483653" r:id="Rc9aa7f0f0ad144b9"/>
    <p:sldLayoutId xmlns:r="http://schemas.openxmlformats.org/officeDocument/2006/relationships" id="2147483654" r:id="R31ddedf84e7d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38f3e7ef64345" /><Relationship Type="http://schemas.openxmlformats.org/officeDocument/2006/relationships/image" Target="/ppt/media/image.png" Id="Rcc541a726d734e09" /><Relationship Type="http://schemas.openxmlformats.org/officeDocument/2006/relationships/image" Target="/ppt/media/image2.png" Id="R568e8e098f9947b3" /><Relationship Type="http://schemas.openxmlformats.org/officeDocument/2006/relationships/notesSlide" Target="/ppt/notesSlides/notesSlide1.xml" Id="R9071e8659cba45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9dcdf83ef4549" /><Relationship Type="http://schemas.openxmlformats.org/officeDocument/2006/relationships/image" Target="/ppt/media/image3.png" Id="Rf6da46481956478b" /><Relationship Type="http://schemas.openxmlformats.org/officeDocument/2006/relationships/image" Target="/ppt/media/image4.png" Id="R6974d0315b294990" /><Relationship Type="http://schemas.openxmlformats.org/officeDocument/2006/relationships/notesSlide" Target="/ppt/notesSlides/notesSlide2.xml" Id="Rc5fc4e9108b94e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0c2ee02b14d63" /><Relationship Type="http://schemas.openxmlformats.org/officeDocument/2006/relationships/image" Target="/ppt/media/image5.png" Id="R6bd38325cd07420c" /><Relationship Type="http://schemas.openxmlformats.org/officeDocument/2006/relationships/image" Target="/ppt/media/image6.png" Id="R9309c38b2f6644a1" /><Relationship Type="http://schemas.openxmlformats.org/officeDocument/2006/relationships/notesSlide" Target="/ppt/notesSlides/notesSlide3.xml" Id="R5cdfcc2fdc2447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c4f2a0c4a4fb7" /><Relationship Type="http://schemas.openxmlformats.org/officeDocument/2006/relationships/image" Target="/ppt/media/image7.png" Id="R5b189e067e9a44e0" /><Relationship Type="http://schemas.openxmlformats.org/officeDocument/2006/relationships/image" Target="/ppt/media/image8.png" Id="R25c1df076b5d4e11" /><Relationship Type="http://schemas.openxmlformats.org/officeDocument/2006/relationships/notesSlide" Target="/ppt/notesSlides/notesSlide4.xml" Id="R28bdd66e700241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9b168aa340a7" /><Relationship Type="http://schemas.openxmlformats.org/officeDocument/2006/relationships/image" Target="/ppt/media/image9.png" Id="Re6a4e1b21b774401" /><Relationship Type="http://schemas.openxmlformats.org/officeDocument/2006/relationships/image" Target="/ppt/media/image10.png" Id="Rdcc726d4b16a4b68" /><Relationship Type="http://schemas.openxmlformats.org/officeDocument/2006/relationships/notesSlide" Target="/ppt/notesSlides/notesSlide5.xml" Id="R88d476debc57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a6e8cc81c4d2b" /><Relationship Type="http://schemas.openxmlformats.org/officeDocument/2006/relationships/image" Target="/ppt/media/image11.png" Id="R02527128034a49ca" /><Relationship Type="http://schemas.openxmlformats.org/officeDocument/2006/relationships/image" Target="/ppt/media/image12.png" Id="R020dcdf8f5a4469e" /><Relationship Type="http://schemas.openxmlformats.org/officeDocument/2006/relationships/notesSlide" Target="/ppt/notesSlides/notesSlide6.xml" Id="R8a14c6f578ad4b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2c3e2a62b43cb" /><Relationship Type="http://schemas.openxmlformats.org/officeDocument/2006/relationships/image" Target="/ppt/media/image13.png" Id="R82ddf84a371e44ee" /><Relationship Type="http://schemas.openxmlformats.org/officeDocument/2006/relationships/image" Target="/ppt/media/image14.png" Id="R0ce7098b3fef493b" /><Relationship Type="http://schemas.openxmlformats.org/officeDocument/2006/relationships/notesSlide" Target="/ppt/notesSlides/notesSlide7.xml" Id="R07ab84744f95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a2c8bbe08479e" /><Relationship Type="http://schemas.openxmlformats.org/officeDocument/2006/relationships/image" Target="/ppt/media/image15.png" Id="R99c688ce5b1c4932" /><Relationship Type="http://schemas.openxmlformats.org/officeDocument/2006/relationships/image" Target="/ppt/media/image16.png" Id="R519d53fa0d6e4d9e" /><Relationship Type="http://schemas.openxmlformats.org/officeDocument/2006/relationships/notesSlide" Target="/ppt/notesSlides/notesSlide8.xml" Id="R712888be6917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baabc1f904edf" /><Relationship Type="http://schemas.openxmlformats.org/officeDocument/2006/relationships/image" Target="/ppt/media/image17.png" Id="R2b9da491bc114062" /><Relationship Type="http://schemas.openxmlformats.org/officeDocument/2006/relationships/image" Target="/ppt/media/image18.png" Id="R08983c963b0d4575" /><Relationship Type="http://schemas.openxmlformats.org/officeDocument/2006/relationships/notesSlide" Target="/ppt/notesSlides/notesSlide9.xml" Id="Rbd1b89bf660b49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d3531a875477a" /><Relationship Type="http://schemas.openxmlformats.org/officeDocument/2006/relationships/image" Target="/ppt/media/image19.png" Id="R8b749d643b584d7d" /><Relationship Type="http://schemas.openxmlformats.org/officeDocument/2006/relationships/image" Target="/ppt/media/image20.png" Id="R179ab301983a4a5f" /><Relationship Type="http://schemas.openxmlformats.org/officeDocument/2006/relationships/notesSlide" Target="/ppt/notesSlides/notesSlide10.xml" Id="Rf3c2ecbb1a7444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b0c2bb7f3458e" /><Relationship Type="http://schemas.openxmlformats.org/officeDocument/2006/relationships/image" Target="/ppt/media/image21.png" Id="Rc5ae69756e8b4eac" /><Relationship Type="http://schemas.openxmlformats.org/officeDocument/2006/relationships/image" Target="/ppt/media/image22.png" Id="R349d9a6cc49b46cd" /><Relationship Type="http://schemas.openxmlformats.org/officeDocument/2006/relationships/notesSlide" Target="/ppt/notesSlides/notesSlide11.xml" Id="R99f7ea5cb92e4e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a2b18f42240ea" /><Relationship Type="http://schemas.openxmlformats.org/officeDocument/2006/relationships/image" Target="/ppt/media/image23.png" Id="Re77c5795872848d0" /><Relationship Type="http://schemas.openxmlformats.org/officeDocument/2006/relationships/image" Target="/ppt/media/image24.png" Id="Rded98c6abb8c4bb6" /><Relationship Type="http://schemas.openxmlformats.org/officeDocument/2006/relationships/notesSlide" Target="/ppt/notesSlides/notesSlide12.xml" Id="R0634f01c32e24c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d755873c64433" /><Relationship Type="http://schemas.openxmlformats.org/officeDocument/2006/relationships/image" Target="/ppt/media/image25.png" Id="R7847b511618346c5" /><Relationship Type="http://schemas.openxmlformats.org/officeDocument/2006/relationships/image" Target="/ppt/media/image26.png" Id="Rae6d67321b724dc3" /><Relationship Type="http://schemas.openxmlformats.org/officeDocument/2006/relationships/notesSlide" Target="/ppt/notesSlides/notesSlide13.xml" Id="R0865d1876e9b47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dcb1cf5e44f03" /><Relationship Type="http://schemas.openxmlformats.org/officeDocument/2006/relationships/image" Target="/ppt/media/image27.png" Id="R906b73782b5849b8" /><Relationship Type="http://schemas.openxmlformats.org/officeDocument/2006/relationships/image" Target="/ppt/media/image28.png" Id="R3997105efd344665" /><Relationship Type="http://schemas.openxmlformats.org/officeDocument/2006/relationships/notesSlide" Target="/ppt/notesSlides/notesSlide14.xml" Id="R56206ab9a25e4d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5c871999c4fa3" /><Relationship Type="http://schemas.openxmlformats.org/officeDocument/2006/relationships/image" Target="/ppt/media/image29.png" Id="R9f64aaec53354fa5" /><Relationship Type="http://schemas.openxmlformats.org/officeDocument/2006/relationships/image" Target="/ppt/media/image30.png" Id="Rb45d21efbd13430e" /><Relationship Type="http://schemas.openxmlformats.org/officeDocument/2006/relationships/notesSlide" Target="/ppt/notesSlides/notesSlide15.xml" Id="Rc35a7ebc6b4c45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1b74997ea4680" /><Relationship Type="http://schemas.openxmlformats.org/officeDocument/2006/relationships/image" Target="/ppt/media/image31.png" Id="Rd1e9b9801d644769" /><Relationship Type="http://schemas.openxmlformats.org/officeDocument/2006/relationships/image" Target="/ppt/media/image32.png" Id="Rd3fc67c89f304dd1" /><Relationship Type="http://schemas.openxmlformats.org/officeDocument/2006/relationships/notesSlide" Target="/ppt/notesSlides/notesSlide16.xml" Id="R1f5934b7930d40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a515c4a0d455a" /><Relationship Type="http://schemas.openxmlformats.org/officeDocument/2006/relationships/image" Target="/ppt/media/image33.png" Id="R5ee55ac5b7d348f4" /><Relationship Type="http://schemas.openxmlformats.org/officeDocument/2006/relationships/image" Target="/ppt/media/image34.png" Id="Rbe9a0714abf24c57" /><Relationship Type="http://schemas.openxmlformats.org/officeDocument/2006/relationships/notesSlide" Target="/ppt/notesSlides/notesSlide17.xml" Id="R14dacf651f5649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2f996f2904d89" /><Relationship Type="http://schemas.openxmlformats.org/officeDocument/2006/relationships/image" Target="/ppt/media/image35.png" Id="R05c817e265fd4ab1" /><Relationship Type="http://schemas.openxmlformats.org/officeDocument/2006/relationships/image" Target="/ppt/media/image36.png" Id="R46824011046b449f" /><Relationship Type="http://schemas.openxmlformats.org/officeDocument/2006/relationships/notesSlide" Target="/ppt/notesSlides/notesSlide18.xml" Id="R9d1b6528376648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81e5b46d546b3" /><Relationship Type="http://schemas.openxmlformats.org/officeDocument/2006/relationships/image" Target="/ppt/media/image37.png" Id="R3bb4dc9934984a62" /><Relationship Type="http://schemas.openxmlformats.org/officeDocument/2006/relationships/image" Target="/ppt/media/image38.png" Id="R6d40a140cef2462d" /><Relationship Type="http://schemas.openxmlformats.org/officeDocument/2006/relationships/notesSlide" Target="/ppt/notesSlides/notesSlide19.xml" Id="R0f7c1c4c44244b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24E44-BDA9-46F7-9512-1614D004B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41a726d734e09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F7C55-A0BC-4D50-BE81-59EE9B035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8e098f9947b3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F3AFC-46A1-411C-8C62-344D7FD6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0DB06-7C03-4444-BF3D-5A9898E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Sequential circuit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00EA5-6D00-467C-A794-63A03B9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9 · Lecture 2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474DD-CE20-4522-BA9D-26887FC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EE914-531A-40E6-A7ED-8BE271B8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5D764-1576-4E77-9DF0-3FA1E1C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</p:spTree>
    <p:extLst>
      <p:ext uri="{BB962C8B-B14F-4D97-AF65-F5344CB8AC3E}">
        <p14:creationId xmlns:p14="http://schemas.microsoft.com/office/powerpoint/2010/main" val="533009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64314-FA1D-4D8E-B788-5AEDA7A574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a46481956478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D512-5B12-4499-BFCB-C7226651D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4d0315b29499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6E2D5-A3DD-4980-80AE-A4A7CAC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02D64-2094-4209-9BFE-0870672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0BD13-67CA-4396-B250-B52E1E71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8AEF7-E8EC-4C3E-8D0C-7C7360A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53C2A-B2BF-4754-B2CC-CB3AA4E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D81A4-7227-4BB2-8879-1A04DF61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FDC30-67A4-4852-855A-07882D1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771E9-8BBC-41C0-9A63-91E2AF8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A9993-3D7E-44E3-BEA0-D745164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02D1F-FF05-4DC9-9ACA-2BCC7D9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AD486-D744-42DD-B7D4-40E7DDC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6629D-49B9-4642-8385-439277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4815-B2A1-475C-ACC7-711CE503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F41C-FB38-4A12-A052-C8DA7B12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02, Sequential circuit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5C29B-5F15-4F06-8526-EBF9C892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DB30F-8630-4099-9841-CED12D9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15A02-6FA6-41DF-A512-1B017FB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14D39-FDD5-4942-B7A6-275A037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420598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4757E-0788-4D5E-9457-B8E7E44AC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38325cd07420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CB76B-4E59-4EC7-9309-C3F6272CC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9c38b2f6644a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5D36E-3495-4CA4-BE2C-CAA84DC8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C45D-5F49-474C-86EC-20D839D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564A2-EBBD-4A22-9F26-2A3D03AA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F3056-7B40-4808-B9E0-8C80596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45C07-CC31-497D-BFC1-0998CC1D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D3DFC-8A50-4DF7-99DE-3E155B49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B8A94-41AB-4335-AFFE-B85BBAA0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C84C-EEC6-4690-B55A-6308E300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6D549-F503-4738-A321-1774E44F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B0509-1E3E-4678-8220-AD7BF19D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856E8-876F-4B03-8D2D-A70A2B3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Derive flip-flop input and next-state equations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8A154-E4CF-45E5-808E-ACEA57C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C6226-3C4C-4D42-8535-3A8E0E33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Enumerate a state table without missing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FB929-370F-46F9-A731-B74C4A4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3FF13-D781-41F4-8333-477B846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Distinguish Moore from Mealy output 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F66A3-9F2C-4B16-8B7A-CB9A2FD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State tables and diagrams</a:t>
            </a:r>
          </a:p>
        </p:txBody>
      </p:sp>
    </p:spTree>
    <p:extLst>
      <p:ext uri="{BB962C8B-B14F-4D97-AF65-F5344CB8AC3E}">
        <p14:creationId xmlns:p14="http://schemas.microsoft.com/office/powerpoint/2010/main" val="687039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9B094-74DA-4CB2-9AF2-3C6AFF59D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89e067e9a44e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D862-001C-4A92-A0BF-C1384AD1C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1df076b5d4e1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873A-5226-4E0E-8099-7B8FAB6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C5A24-C2E6-4253-9772-3AD64E54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94E3B-40DF-4656-9E34-78D1FF1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72FEE-094B-4F0A-A1AD-E2E800D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25279-83A1-4BB3-A392-848F81F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91DF5-F1A6-4868-9FC3-6CF8928B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C3A8-F82F-4DD2-AC48-1A6081B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9F172-926B-4C9B-A775-69262972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CFC31-E1D9-4AB7-8D10-A650856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862EC-BECF-4AE8-B1AF-3207832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can a circuit be converted into a complete state model?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B5430-9157-4461-A8B0-A367E92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576342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E4D34-8537-4D59-818F-51559DC25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4e1b21b77440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E662E-8AFE-45B5-80C8-706559CF3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726d4b16a4b6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724E6-5268-4FBC-8DD3-8F70FF4F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01F1-B516-4980-A467-111D075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F7EBD-DBAA-44C2-BDE7-8579F4F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32E98-65D5-44FD-8230-CFF53B9B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6ACBB-86BC-42BE-94B9-C237B94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10020-E182-483E-B4E9-185807D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AF670-7CA6-4227-993A-077FCE0F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A5F0E-9FFF-4156-95D0-2CDC78C3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04D2-755B-4BD8-880D-ECFEBD47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BD944-8C90-4D95-92A9-8E0F54E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1E6F5-DCBB-431F-9C37-486D4CFB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gate network can be expressed as Boolean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328CC-B7AB-48C1-B371-5F3EF84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113A6-1E8D-4425-9684-9980647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42AE0-6763-43E5-A1FB-69AB58F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flip-flop stores one present-state bit.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8A3A4-033E-4695-BD14-0113915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4EF65-88AA-493B-A7C7-D436150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44A6F-C456-4113-B96A-1F56BFA7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truth table lists every input combination for a fixed state.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A28F8-FDB5-4886-B7AE-51DD1D2D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390039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ED1E6-113C-4E79-854F-AAFA6DDB94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27128034a49c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397B2-0FF4-443B-AD36-AE131EDBF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dcdf8f5a4469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06990-E0B1-41CF-B4AE-88990FE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823D-14CC-4137-A9A6-85541A7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BF45A-7E28-48AF-88C0-F1B27ED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154FA-DE24-43F4-98C3-BFAB74E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3C5F4-8324-4EAC-BC84-AD26A0E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504D7-F1BB-4E5E-878C-351257ED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D2296-1EF2-44F1-9CBE-56D8ABDB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B54DE-5D3E-4C37-8CAF-E37207E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E1880-151C-4680-91C1-B05C909A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B259B-0AC0-431B-B42A-BB78EA6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state equation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38A83-1EAA-4142-B6A3-4514A5D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Boolean expression for a next-state bit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6EC1-A777-4497-8169-EBE757C6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5E95E-12F2-4205-9271-441A017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state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2B32B-F53A-41E6-91B9-E76670E1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all present-state and input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BBD37-BEEC-41D6-87F3-CF762D88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E0B99-59B9-4473-A856-DA89D8C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Moore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E4602-EB70-4832-8FE1-A52C035B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 determined by present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B3833-A7DE-4F64-A587-B2B2AE97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4E8AB-4AD9-476B-8C62-2CC4E0BE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Mealy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1F610-1AE5-4CFB-BE04-2AE4E8F3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 determined by state and current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048E3-FC8F-4888-8B59-D7C4E5F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38170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0AAA5-093B-4E50-BD17-D9B0ECA46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df84a371e44e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02BCC-6EDF-4E75-8914-BF1B6B5F3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7098b3fef493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8BEFB-9611-4F25-84E3-CAB67450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70301-BDF8-4A65-9BC5-520E6516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B28C-BB5F-4E0B-8B1D-BF403A0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927FA-1371-4E58-8407-7BE5B28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CF1BB-8214-4CA4-A5E1-110E9C1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D256F-1394-419E-AE15-E2FCE6F3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ECCEC-EEC5-40E8-B804-54FB02A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86955-87FE-412C-A4F9-5A5A6CFD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66217-3897-4A85-9984-BFE43B7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EAC6A-BF88-4A68-997F-2E03DBD1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each flip-flop input back through the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8BD0E-4645-40DE-80A2-3058F79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9A066-CF40-42C9-8BDB-D38CCFF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the flip-flop characteristic equation.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2483F-158B-41AE-B586-72EA8409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FFDAE-D721-4796-86D4-CD8DCB04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Enumerate every state/input row and draw its transition.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67DA4-36B9-426C-AB97-7B05A851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D80B8-02A7-40E6-9AC2-010E494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can a circuit be converted into a complete state model?</a:t>
            </a:r>
          </a:p>
        </p:txBody>
      </p:sp>
    </p:spTree>
    <p:extLst>
      <p:ext uri="{BB962C8B-B14F-4D97-AF65-F5344CB8AC3E}">
        <p14:creationId xmlns:p14="http://schemas.microsoft.com/office/powerpoint/2010/main" val="126537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6F785-9A7F-4CF9-A7A2-E69E9EDB1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688ce5b1c493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3B57E-BE9C-4395-B326-01113FE2D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d53fa0d6e4d9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5643-00FD-454F-A059-B101564A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9EE7-A3F8-49CB-B452-AED7C4A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B7B87-45DA-430D-A053-01DCF884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17948-D7B9-40BA-9E80-9639806B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DC4D4-EE25-41EB-A514-4AFC820D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3351B-7304-4C87-8A65-541020B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B8BA8-8BA8-49E1-8370-F46B56ED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E7645-6970-4A14-AE48-9025D6B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AA64C-50AE-45E4-8B91-4D046A6F0D24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8360"/>
                <a:gridCol w="2118360"/>
                <a:gridCol w="2118360"/>
                <a:gridCol w="2118360"/>
                <a:gridCol w="211836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Present 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Input 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D=X⊕Q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 Q⁺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Mealy Z=XQ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6EE49-C935-46D8-9A06-F3E8AE10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1787201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382E9-ABBF-4805-9894-15F5F4EBF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da491bc11406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F7560-E61A-4046-87C4-9B5A55C5A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83c963b0d457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C5D5-DF4C-444A-BB8D-BF17946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FDC4-23C7-4AE7-BCE6-6DE3FE1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5F789-4DE5-42F4-913B-1FD082D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E023-51A7-48F1-B6B7-8E4CBE7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88E2A-7BEB-4EEB-ACF1-E19F90F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1DB6F-1E43-43E5-854E-3FE344E7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8B8E7-9C44-4BDA-BCB2-E7B317B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9B2DA-E8B6-4840-8E62-7AE8459D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55419-83F6-4347-9906-4F57B070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1B29A-914F-45E3-936B-C6B9AA2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F5805-B103-4703-AAFF-D2709012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every present-state variable and write flip-flop input equations from the gates.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56847-6BFF-4651-A9D4-AE2B420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FE03A-93CB-4C8F-9F4B-E1659EA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E0E19-D49F-4AB2-BC12-BB7D388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the correct characteristic equation to obtain each next-state bit.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C999D-D8E7-4F96-AD6B-4F64E14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8E18F-3B04-47A2-BC72-6B8842B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9D9B3-5EDD-41FB-ADC7-DFB603F9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Enumerate all state/input rows before drawing and checking the diagram.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5B433-25C8-4D38-BF68-1A7BC5A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D779F-8BFF-4981-9989-BB0D78A4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28709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C62F6-9535-416B-A706-469930F80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49d643b584d7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A003E-18AE-49FC-A262-989252DEB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ab301983a4a5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4492-FB7A-4623-8308-F2A1888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85D0C-F0AF-46EB-A29B-183135F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Analyze a D flip-flop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0DEF6-45C0-44C9-9D3F-5255845C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B1E15-B559-431B-9538-11A41CEB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72271-AD72-4264-AE7C-EF33DE7E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58CDE-68CE-456E-804A-E104A4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7042F-3C40-4807-8B5B-F36B3EB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02D81-E4A5-4A87-8381-23D2967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C69CA-77CF-4469-8F20-7DC09B6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9EB3D-241F-4D30-B1ED-284F7705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One D flip-flop has D=X⊕Q and output Z=XQ. Derive its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9E10E-0810-44B6-944E-46BB0EB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B23CE-6B50-40C2-84F9-056A483E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Since Q⁺=D, write Q⁺=X⊕Q.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D4E78-8E68-4EC3-AE4C-C74277F6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8159-600E-4C67-ADD7-F593D7B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X=0, Q⁺=Q, so both states 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126E1-D06C-4839-9CB5-9DC0DD7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D724B-C26E-4753-909A-3995C490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X=1, Q⁺=Q′, so both states toggle.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555BE-96EE-43E8-AA63-0B7ECFE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EB25A-FBDB-494D-AF25-0D0CACB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Compute Z from the present Q and X for each table row.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5951D-7BDD-4B85-9180-FB757D2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125F1-1170-40D8-88DC-8597FBF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Z=1 only on the transition out of Q=1 with X=1. This is a Mealy output.</a:t>
            </a:r>
          </a:p>
        </p:txBody>
      </p:sp>
    </p:spTree>
    <p:extLst>
      <p:ext uri="{BB962C8B-B14F-4D97-AF65-F5344CB8AC3E}">
        <p14:creationId xmlns:p14="http://schemas.microsoft.com/office/powerpoint/2010/main" val="88586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EC4AD-CBF1-42A6-90E9-496377035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e69756e8b4ea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71ECB-A5DF-4643-9B75-376E66DB5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d9a6cc49b46c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89E79-4FB1-41E8-821D-3035E40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FA40E-8FF3-4681-BE1D-F71971C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5778-7D76-4683-B9EE-3F677F8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6241A-C96C-44C6-8DB1-0BC895E2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2EEA4-6600-4A2D-80F1-1033811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D166-DDAB-4EF3-B113-74E87D22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E25F4-3EBB-42C0-834A-AD726BD8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732FD-3EDC-4119-B712-DF26A35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687E0-3A23-42BA-985A-7F4FFDE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02332-083A-4F55-A8D5-3DED8E1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Moore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83ECB-5852-411F-B386-594CD6E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 belongs inside each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9B1F6-4073-4FEE-ACF7-7AD1A17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Input changes affect output after a state update.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543A2-E17F-4F06-A884-7CCE6F98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Mealy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0D940-EC4C-4B7C-B094-8D1C417C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 belongs on each transition.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3A1A5-032E-4CDA-9CAC-82C64FFA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Current input can change output within a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6CAD6-05E2-45C2-8C02-E31D1B0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EFDDD-6BC0-4527-8EEF-5275C29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253810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69B47-3109-46F2-9098-1588D9CD2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c5795872848d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3E7A3-67D1-4745-B847-F3AA351FD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98c6abb8c4bb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6E599-D6F1-47BC-85B6-44EB63C6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21DE1-DAB3-42B1-8715-A7A220D6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From equation to state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C8308-D5A5-44F9-AB5D-178F210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5997C-F8D0-4430-A6E2-57C7A15C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38177-DABE-4128-BEC4-A9DBB8DF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8EE80-5C32-4649-8989-4F3707F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D67EF-6306-4FE1-8D1A-EE33971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EA761-3EA3-430B-92F6-20C4140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7DD04-B66D-4B28-9996-F742FBE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19400"/>
            <a:ext cx="20097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10AA8-3E8D-4E35-B8AC-C3CEA75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800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Q=0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5BEF-EA22-4029-A3F5-1AFD578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1F5DB-7F3D-4A17-8B3F-6CFFB6D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19400"/>
            <a:ext cx="20097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26515-8117-4F7C-B07F-572F4971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1800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Q=1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5D9A4-6BBF-4B8E-8693-57885CD1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338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X=1 toggles; X=0 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9DEE0-10D9-4210-9200-7E087853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active row and transition follow D=X⊕Q; Z=XQ responds to the present input and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A31A1-24DD-42FA-AB42-17DC612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lesson-02.html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2787665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89A61-EEB8-46C7-96FB-D8D9C5DA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8F99F-CEAD-4BC7-B11D-D31756FE1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7b511618346c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0BE3A-8AB5-44B0-9BE6-DD0CDE7E1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d67321b724dc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E2C5-E89D-4E83-9203-67C33F5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6F022-027A-4567-9D64-807D90C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L16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76BB7-C04D-4B1E-9E95-CE78E8B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F9432-894C-4EAE-A70B-43E81402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For D=X⊕Q and Z=XQ, complete all four state/input rows and draw the two-state diagram with output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EC1BB-271C-4B12-AD64-72788DE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every present-state variable and write flip-flop input equations from the gates.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04FA5-7CBA-4D35-B3F6-42D2C41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F5D14-04CB-477B-851B-D635040B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65045-0769-4CD5-B4C7-6994C68D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complete state table and a diagram with four labelled transitions.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ED065-62D4-4F35-A41B-74F67C1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5C247-977E-40EE-92CC-A267A9A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87F37-7160-474E-B1F4-EF753A1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L16  |  Week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28026-D43C-45E3-B327-A1DA7A1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A327A-6B8A-48B1-8009-182186C8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F358C-D553-4DB1-A774-1CD82E8E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4562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F0657-54B1-4DE6-85B5-FE9B662010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b73782b5849b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F6F22-9BAC-4648-B0CD-E7A968540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7105efd34466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7AAC-6D6E-4AA7-859F-B694D9F6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2EA09-D844-4640-82D7-1E807872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BE0FB-8237-4ED9-A0A5-66DA09F1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8758E-B8CE-4AF4-92E5-198BC8C4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3511B-7FE9-4EC5-9247-0B55CA7B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AE25F-07DD-4928-910D-3152D4FC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03F9A-6FB7-4711-B2A3-FA6B689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EFE94-83B3-4339-B3E5-B96E5E0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9C8F9-3FFE-455E-82B6-A05405B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CFDA9-B0DF-417C-82A5-86F1FB8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two-state machine holds when X=0 and toggles when X=1. Its Moore output equals the state bit.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37EB-1E55-4D66-A8FA-ADCDB1B0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D7F01-4ECA-4DA2-BFD2-A5BDBAF1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the states S0 and S1 with outputs 0 and 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238F0-4E14-4325-AE35-FE139E7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1410222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277A6-C444-44ED-B12D-1EB0A98F6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4aaec53354fa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D86E1-602D-4371-A588-23B19F8EC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d21efbd13430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C0E97-C6D4-4EE8-BC62-9C84D23F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877BB-76F8-4FFA-93E5-AF220DFF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8A9DC-332D-40FD-A50F-4FF695C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BBF06-817D-4DF3-A920-23D9B652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EB93A-3491-4B82-A89D-D6B6B4E7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756A-42F2-481A-A2E0-32821A97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77336-D655-41F8-852C-23AFAD78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45D7-0DF6-4FBB-966F-B931308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53F5A-CF48-4C2A-A07E-4182CF0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C5CDB-6C02-4F49-8AA7-CE20675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089FB-76AA-4644-B470-4771383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the states S0 and S1 with outputs 0 and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35005-A538-41F0-9AC0-D776BE0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EB47B-7E07-4A34-B9D6-E786104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08CC8-B749-472A-B3BE-4788A0D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X=0, draw self-loops on both states.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EE27D-7D82-422B-A5B2-52DBA78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D5767-E0D8-42E9-907E-FD85B9DC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2700A-157B-4988-AB98-0FA2F81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X=1, draw S0→S1 and S1→S0.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A0E43-1228-468A-B094-2AFDF3D5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B34F7-A796-452B-9AE0-51270A0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625D1-BC3D-4418-A93C-EA4DB3C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Place the output inside each state, not on each arrow.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360BE-6D00-4EAB-A8DF-77D9799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55E9A-32AC-48FD-81A6-3ED4550A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Four state/input rows are required, one for each pair of state and X.</a:t>
            </a:r>
          </a:p>
        </p:txBody>
      </p:sp>
    </p:spTree>
    <p:extLst>
      <p:ext uri="{BB962C8B-B14F-4D97-AF65-F5344CB8AC3E}">
        <p14:creationId xmlns:p14="http://schemas.microsoft.com/office/powerpoint/2010/main" val="19333773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4AF2D-D034-49E6-915E-A2A69A2FC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9b9801d64476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9EDA6-540B-46BB-A867-EECCDEDD6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c67c89f304dd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20AC3-2576-445A-B679-0BAD041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4FADB-FD82-4AAF-BCDC-93FEB1F5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675EF-4E60-4525-8D66-BE299F7D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C595B-43C5-4AD4-84A6-008AC732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5B6AC-CB98-4FA4-AA9B-BD2FB2CE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015C-3492-4236-A6AE-30D4C4C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C5615-EE31-4EE4-BD2F-4506CCE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3C498-5AB0-4702-A9E9-D95D061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BC0AC-4FF1-4437-85CC-5D4C91BF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7598C-A015-41EC-A67F-A2C3344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FF2FE-BF6B-434C-B76F-2EC9818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An output Z=XQ belongs inside the state node.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F7C3A-BCE9-4601-939C-FBB61D58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02B2-8599-451F-85F2-E2ED3E24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94769-BB4D-412F-A140-BB48488B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current input X can change Z before the state changes.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A0233-A621-423B-AF2A-BA25DE38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84E53-979A-489B-9744-CB10DD6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2E49B-05CB-4836-BAF0-8DB1A9BB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Label Z on the transition for each state/input pair.</a:t>
            </a:r>
          </a:p>
        </p:txBody>
      </p:sp>
    </p:spTree>
    <p:extLst>
      <p:ext uri="{BB962C8B-B14F-4D97-AF65-F5344CB8AC3E}">
        <p14:creationId xmlns:p14="http://schemas.microsoft.com/office/powerpoint/2010/main" val="17960582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9EDDC-8DD5-4E64-8136-6290D6FB0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55ac5b7d348f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F1E1-7B5C-439B-9C80-3FAE882C4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a0714abf24c5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FF133-12EE-4B6D-80BA-250C175B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825A4-1BDE-4958-BADF-3C606CC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3378C-45EA-4BFF-8BDC-409B745D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A135-E902-4881-BEF7-75019F0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F056E-9C42-45CE-AE42-EFED130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D5D2C-8986-48EF-B7E4-2F1DCD6B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2354A-9D22-482C-8A75-C13F52C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2CCF2-8B1D-477C-847A-288F0278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CEE88-3126-4205-A9B7-47D84EC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64E05-E3B7-4854-BEFC-8F30A97F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D=X⊕Q, what transition occurs from Q=1 when X=1?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30530-AB0B-4DE6-AF44-9AC2CB9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AC7EB-3673-45ED-A0B0-C621256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circuit output is Z=QX. Is it Moore or Mealy?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C1D8D-BF4B-4F59-99DC-3E98665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6358458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41245-EBDE-4F72-AC99-5BAC69A3C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817e265fd4ab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00C84-D13E-41C8-A71F-F92D0F7E9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24011046b449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3C7C4-063D-4DA9-B3B1-C83A1F4F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BDF8C-936B-4F01-AB1F-A8D32AE1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69C8B-5259-44ED-9EFF-9E6F497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9097-C151-4CBA-B816-5E4AE93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99BC3-A25E-42FA-878F-EDA0B53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A78F6-C689-4621-8771-B37C2C97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E1791-637E-4F6E-B1AB-3C0E495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5F35A-CD33-48F9-8882-00A12E7F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CBE7C-3ACB-4257-9FF2-B92BD23D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BFC78-7ED8-4AFC-B388-0F543E5B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B8F94-54BA-4849-9A02-EACFDB1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D=1⊕1=0, so Q⁺=0.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A5175-F67C-43F3-9BAC-C7530D41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CC489-E05E-4935-91A6-12801942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46CC4-D0B9-40B8-9E83-E764DD87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Mealy, because the current input X can change Z without a state change.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CC13E-3974-410A-9110-479FABC9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1441777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6E9E6-3AC3-42B4-8CB9-5DAA90D5B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4dc9934984a6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8D947-0F14-4A2D-8401-17FDD302E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0a140cef2462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F1B44-6494-426F-99CA-7549FD7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L16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6CEB4-627E-44AD-A467-59FDAC5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41407-2C9F-480C-8BFC-AE3A7738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C0A94-9FBF-445E-8208-E6B7E15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DFBBB-A79A-43CB-90CE-BB8B2A60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§6.4, pp. 380–390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724F2-527C-4B0D-AD93-909E17C7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L16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F527E-4551-4241-A34E-A0D2DB6C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3BEE5-E6CE-4C7F-AF1D-09DA58C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33118-7098-48E0-AB6A-59CDAC7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77EF9-24F0-4542-83FD-CA64C470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Derive flip-flop input and next-state equations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2A515-050A-48FB-B9B0-4D735B96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CED8C-D198-44FF-83C8-B27C967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Enumerate a state table without missing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C0EA1-5D7D-4360-A784-78DAE96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7338F-D05B-431D-8810-97A2CC3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Distinguish Moore from Mealy output placement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6B1A8-8331-481B-9EF6-80ADA8D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0A400-2C47-4702-85F8-8360D41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279DD-1AF6-45BE-AC47-BB9339D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Flip-flop excitation and synchronous counters. Use lesson-03.html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1167903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2026-10-13T11:24:24.1670000Z</dcterms:created>
  <dcterms:modified xsi:type="dcterms:W3CDTF">2026-10-13T11:24:24.1670000Z</dcterms:modified>
</coreProperties>
</file>