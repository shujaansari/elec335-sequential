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feba691edb42f1" /><Relationship Type="http://schemas.openxmlformats.org/officeDocument/2006/relationships/extended-properties" Target="/docProps/app.xml" Id="R2ea9c448814946c5" /><Relationship Type="http://schemas.openxmlformats.org/officeDocument/2006/relationships/officeDocument" Target="/ppt/presentation.xml" Id="Re29a5bca7c2947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4da0de4de54c34"/>
  </p:sldMasterIdLst>
  <p:notesMasterIdLst>
    <p:notesMasterId xmlns:r="http://schemas.openxmlformats.org/officeDocument/2006/relationships" r:id="R1e02b71e3eba4546"/>
  </p:notesMasterIdLst>
  <p:sldIdLst>
    <p:sldId xmlns:r="http://schemas.openxmlformats.org/officeDocument/2006/relationships" id="256" r:id="Rc6e6f474ad804077"/>
    <p:sldId xmlns:r="http://schemas.openxmlformats.org/officeDocument/2006/relationships" id="257" r:id="R714bb65b3de24f1e"/>
    <p:sldId xmlns:r="http://schemas.openxmlformats.org/officeDocument/2006/relationships" id="258" r:id="R28af18cc4480433d"/>
    <p:sldId xmlns:r="http://schemas.openxmlformats.org/officeDocument/2006/relationships" id="259" r:id="R76c59be6c8e94a92"/>
    <p:sldId xmlns:r="http://schemas.openxmlformats.org/officeDocument/2006/relationships" id="260" r:id="R5e3e77af36ac442c"/>
    <p:sldId xmlns:r="http://schemas.openxmlformats.org/officeDocument/2006/relationships" id="261" r:id="R660bfc8746534faf"/>
    <p:sldId xmlns:r="http://schemas.openxmlformats.org/officeDocument/2006/relationships" id="262" r:id="R128c5dbb69f14298"/>
    <p:sldId xmlns:r="http://schemas.openxmlformats.org/officeDocument/2006/relationships" id="263" r:id="R65c569866cfe4267"/>
    <p:sldId xmlns:r="http://schemas.openxmlformats.org/officeDocument/2006/relationships" id="264" r:id="R98775c1c60674a56"/>
    <p:sldId xmlns:r="http://schemas.openxmlformats.org/officeDocument/2006/relationships" id="265" r:id="Rf4fd3621dce14bed"/>
    <p:sldId xmlns:r="http://schemas.openxmlformats.org/officeDocument/2006/relationships" id="266" r:id="Rb7b508f6d3d24515"/>
    <p:sldId xmlns:r="http://schemas.openxmlformats.org/officeDocument/2006/relationships" id="267" r:id="Re0ee4e207d9e454e"/>
    <p:sldId xmlns:r="http://schemas.openxmlformats.org/officeDocument/2006/relationships" id="268" r:id="Rf214bd7981ff4e59"/>
    <p:sldId xmlns:r="http://schemas.openxmlformats.org/officeDocument/2006/relationships" id="269" r:id="Ra217f0e75d564941"/>
    <p:sldId xmlns:r="http://schemas.openxmlformats.org/officeDocument/2006/relationships" id="270" r:id="R60b7628e357f4f13"/>
    <p:sldId xmlns:r="http://schemas.openxmlformats.org/officeDocument/2006/relationships" id="271" r:id="R55a10d7719ea4854"/>
    <p:sldId xmlns:r="http://schemas.openxmlformats.org/officeDocument/2006/relationships" id="272" r:id="Ra500d194f775467d"/>
    <p:sldId xmlns:r="http://schemas.openxmlformats.org/officeDocument/2006/relationships" id="273" r:id="Rf1a2e3d43d1b43bd"/>
    <p:sldId xmlns:r="http://schemas.openxmlformats.org/officeDocument/2006/relationships" id="274" r:id="R4adf3508859548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35c06feabe46c5" /><Relationship Type="http://schemas.openxmlformats.org/officeDocument/2006/relationships/slideMaster" Target="/ppt/slideMasters/slideMaster1.xml" Id="R174da0de4de54c34" /><Relationship Type="http://schemas.openxmlformats.org/officeDocument/2006/relationships/notesMaster" Target="/ppt/notesMasters/notesMaster1.xml" Id="R1e02b71e3eba4546" /><Relationship Type="http://schemas.openxmlformats.org/officeDocument/2006/relationships/presProps" Target="/ppt/presProps.xml" Id="Rdd6ac414f3d842c9" /><Relationship Type="http://schemas.openxmlformats.org/officeDocument/2006/relationships/tableStyles" Target="/ppt/tableStyles.xml" Id="Raac031eb21e4428d" /><Relationship Type="http://schemas.openxmlformats.org/officeDocument/2006/relationships/slide" Target="/ppt/slides/slide1.xml" Id="Rc6e6f474ad804077" /><Relationship Type="http://schemas.openxmlformats.org/officeDocument/2006/relationships/slide" Target="/ppt/slides/slide2.xml" Id="R714bb65b3de24f1e" /><Relationship Type="http://schemas.openxmlformats.org/officeDocument/2006/relationships/slide" Target="/ppt/slides/slide3.xml" Id="R28af18cc4480433d" /><Relationship Type="http://schemas.openxmlformats.org/officeDocument/2006/relationships/slide" Target="/ppt/slides/slide4.xml" Id="R76c59be6c8e94a92" /><Relationship Type="http://schemas.openxmlformats.org/officeDocument/2006/relationships/slide" Target="/ppt/slides/slide5.xml" Id="R5e3e77af36ac442c" /><Relationship Type="http://schemas.openxmlformats.org/officeDocument/2006/relationships/slide" Target="/ppt/slides/slide6.xml" Id="R660bfc8746534faf" /><Relationship Type="http://schemas.openxmlformats.org/officeDocument/2006/relationships/slide" Target="/ppt/slides/slide7.xml" Id="R128c5dbb69f14298" /><Relationship Type="http://schemas.openxmlformats.org/officeDocument/2006/relationships/slide" Target="/ppt/slides/slide8.xml" Id="R65c569866cfe4267" /><Relationship Type="http://schemas.openxmlformats.org/officeDocument/2006/relationships/slide" Target="/ppt/slides/slide9.xml" Id="R98775c1c60674a56" /><Relationship Type="http://schemas.openxmlformats.org/officeDocument/2006/relationships/slide" Target="/ppt/slides/slide10.xml" Id="Rf4fd3621dce14bed" /><Relationship Type="http://schemas.openxmlformats.org/officeDocument/2006/relationships/slide" Target="/ppt/slides/slide11.xml" Id="Rb7b508f6d3d24515" /><Relationship Type="http://schemas.openxmlformats.org/officeDocument/2006/relationships/slide" Target="/ppt/slides/slide12.xml" Id="Re0ee4e207d9e454e" /><Relationship Type="http://schemas.openxmlformats.org/officeDocument/2006/relationships/slide" Target="/ppt/slides/slide13.xml" Id="Rf214bd7981ff4e59" /><Relationship Type="http://schemas.openxmlformats.org/officeDocument/2006/relationships/slide" Target="/ppt/slides/slide14.xml" Id="Ra217f0e75d564941" /><Relationship Type="http://schemas.openxmlformats.org/officeDocument/2006/relationships/slide" Target="/ppt/slides/slide15.xml" Id="R60b7628e357f4f13" /><Relationship Type="http://schemas.openxmlformats.org/officeDocument/2006/relationships/slide" Target="/ppt/slides/slide16.xml" Id="R55a10d7719ea4854" /><Relationship Type="http://schemas.openxmlformats.org/officeDocument/2006/relationships/slide" Target="/ppt/slides/slide17.xml" Id="Ra500d194f775467d" /><Relationship Type="http://schemas.openxmlformats.org/officeDocument/2006/relationships/slide" Target="/ppt/slides/slide18.xml" Id="Rf1a2e3d43d1b43bd" /><Relationship Type="http://schemas.openxmlformats.org/officeDocument/2006/relationships/slide" Target="/ppt/slides/slide19.xml" Id="R4adf3508859548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dfe00e288f4c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a19b83ed254e13" /><Relationship Type="http://schemas.openxmlformats.org/officeDocument/2006/relationships/notesMaster" Target="/ppt/notesMasters/notesMaster1.xml" Id="R153ad1bc703d4d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36ec6ae3544071" /><Relationship Type="http://schemas.openxmlformats.org/officeDocument/2006/relationships/notesMaster" Target="/ppt/notesMasters/notesMaster1.xml" Id="R7ecc8747d3be4d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d1e1a695c64f34" /><Relationship Type="http://schemas.openxmlformats.org/officeDocument/2006/relationships/notesMaster" Target="/ppt/notesMasters/notesMaster1.xml" Id="R63ba9f0a5d644e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efa5c3919e4d3d" /><Relationship Type="http://schemas.openxmlformats.org/officeDocument/2006/relationships/notesMaster" Target="/ppt/notesMasters/notesMaster1.xml" Id="R4cba235a7fbc4a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2c02201a0845a5" /><Relationship Type="http://schemas.openxmlformats.org/officeDocument/2006/relationships/notesMaster" Target="/ppt/notesMasters/notesMaster1.xml" Id="Rfa73499afdfe45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e7049a9a414001" /><Relationship Type="http://schemas.openxmlformats.org/officeDocument/2006/relationships/notesMaster" Target="/ppt/notesMasters/notesMaster1.xml" Id="R6717d14c86c34e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61e481acb84fbf" /><Relationship Type="http://schemas.openxmlformats.org/officeDocument/2006/relationships/notesMaster" Target="/ppt/notesMasters/notesMaster1.xml" Id="Rafc5e7c2076541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df32dfe65744d5" /><Relationship Type="http://schemas.openxmlformats.org/officeDocument/2006/relationships/notesMaster" Target="/ppt/notesMasters/notesMaster1.xml" Id="R457e1cc23dd64d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798a619a6c4c32" /><Relationship Type="http://schemas.openxmlformats.org/officeDocument/2006/relationships/notesMaster" Target="/ppt/notesMasters/notesMaster1.xml" Id="R7adf05b871c647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e449796f624956" /><Relationship Type="http://schemas.openxmlformats.org/officeDocument/2006/relationships/notesMaster" Target="/ppt/notesMasters/notesMaster1.xml" Id="Rc01725701c814b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64fd1ab73b448a" /><Relationship Type="http://schemas.openxmlformats.org/officeDocument/2006/relationships/notesMaster" Target="/ppt/notesMasters/notesMaster1.xml" Id="R31474d9e6c934e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19fe620b0f4fd3" /><Relationship Type="http://schemas.openxmlformats.org/officeDocument/2006/relationships/notesMaster" Target="/ppt/notesMasters/notesMaster1.xml" Id="Ra45d68eaa59449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e0314db8304555" /><Relationship Type="http://schemas.openxmlformats.org/officeDocument/2006/relationships/notesMaster" Target="/ppt/notesMasters/notesMaster1.xml" Id="R1de5c47dd13d47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b90d0fcc634349" /><Relationship Type="http://schemas.openxmlformats.org/officeDocument/2006/relationships/notesMaster" Target="/ppt/notesMasters/notesMaster1.xml" Id="Rcadfb132d91b4e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c63e4a1f09406a" /><Relationship Type="http://schemas.openxmlformats.org/officeDocument/2006/relationships/notesMaster" Target="/ppt/notesMasters/notesMaster1.xml" Id="R113273b98daf43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172bb22a034d54" /><Relationship Type="http://schemas.openxmlformats.org/officeDocument/2006/relationships/notesMaster" Target="/ppt/notesMasters/notesMaster1.xml" Id="R2493ea60142345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0d3a6f4de4d46fe" /><Relationship Type="http://schemas.openxmlformats.org/officeDocument/2006/relationships/notesMaster" Target="/ppt/notesMasters/notesMaster1.xml" Id="R280f189c72ad4cc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0db2340141544bf" /><Relationship Type="http://schemas.openxmlformats.org/officeDocument/2006/relationships/notesMaster" Target="/ppt/notesMasters/notesMaster1.xml" Id="Rb277b3a1040c41e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949f931eda44c06" /><Relationship Type="http://schemas.openxmlformats.org/officeDocument/2006/relationships/notesMaster" Target="/ppt/notesMasters/notesMaster1.xml" Id="R821cda5bb2e941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22 | Week 12</a:t>
            </a:r>
          </a:p>
          <a:p xmlns:a="http://schemas.openxmlformats.org/drawingml/2006/main">
            <a:r>
              <a:t>Opening</a:t>
            </a:r>
          </a:p>
          <a:p xmlns:a="http://schemas.openxmlformats.org/drawingml/2006/main">
            <a:r>
              <a:t>Reading: Alan B. Marcovitz, Introduction to Logic Design, 3rd ed., Ch. 9 §9.1, online chapter pp. 9-3–9-10.</a:t>
            </a:r>
          </a:p>
          <a:p xmlns:a="http://schemas.openxmlformats.org/drawingml/2006/main">
            <a:r>
              <a:t>Companion animation: lesson-08.html</a:t>
            </a:r>
          </a:p>
          <a:p xmlns:a="http://schemas.openxmlformats.org/drawingml/2006/main">
            <a:r>
              <a:t>Opening question: When are two states indistinguishable for every future input sequence?</a:t>
            </a:r>
          </a:p>
          <a:p xmlns:a="http://schemas.openxmlformats.org/drawingml/2006/main">
            <a:r>
              <a:t>Outcomes: Mark output-incompatible state pairs | Propagate successor implications | Construct a reduced machine from unmarked pairs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22 | Week 12</a:t>
            </a:r>
          </a:p>
          <a:p xmlns:a="http://schemas.openxmlformats.org/drawingml/2006/main">
            <a:r>
              <a:t>Reading map</a:t>
            </a:r>
          </a:p>
          <a:p xmlns:a="http://schemas.openxmlformats.org/drawingml/2006/main">
            <a:r>
              <a:t>Reading: Alan B. Marcovitz, Introduction to Logic Design, 3rd ed., Ch. 9 §9.1, online chapter pp. 9-3–9-10.</a:t>
            </a:r>
          </a:p>
          <a:p xmlns:a="http://schemas.openxmlformats.org/drawingml/2006/main">
            <a:r>
              <a:t>Companion animation: lesson-08.html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22 | Week 12</a:t>
            </a:r>
          </a:p>
          <a:p xmlns:a="http://schemas.openxmlformats.org/drawingml/2006/main">
            <a:r>
              <a:t>Learning outcomes</a:t>
            </a:r>
          </a:p>
          <a:p xmlns:a="http://schemas.openxmlformats.org/drawingml/2006/main">
            <a:r>
              <a:t>Reading: Alan B. Marcovitz, Introduction to Logic Design, 3rd ed., Ch. 9 §9.1, online chapter pp. 9-3–9-10.</a:t>
            </a:r>
          </a:p>
          <a:p xmlns:a="http://schemas.openxmlformats.org/drawingml/2006/main">
            <a:r>
              <a:t>Companion animation: lesson-08.html</a:t>
            </a:r>
          </a:p>
          <a:p xmlns:a="http://schemas.openxmlformats.org/drawingml/2006/main">
            <a:r>
              <a:t>Mark output-incompatible state pairs</a:t>
            </a:r>
          </a:p>
          <a:p xmlns:a="http://schemas.openxmlformats.org/drawingml/2006/main">
            <a:r>
              <a:t>Propagate successor implications</a:t>
            </a:r>
          </a:p>
          <a:p xmlns:a="http://schemas.openxmlformats.org/drawingml/2006/main">
            <a:r>
              <a:t>Construct a reduced machine from unmarked pairs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22 | Week 12</a:t>
            </a:r>
          </a:p>
          <a:p xmlns:a="http://schemas.openxmlformats.org/drawingml/2006/main">
            <a:r>
              <a:t>Guiding question</a:t>
            </a:r>
          </a:p>
          <a:p xmlns:a="http://schemas.openxmlformats.org/drawingml/2006/main">
            <a:r>
              <a:t>Reading: Alan B. Marcovitz, Introduction to Logic Design, 3rd ed., Ch. 9 §9.1, online chapter pp. 9-3–9-10.</a:t>
            </a:r>
          </a:p>
          <a:p xmlns:a="http://schemas.openxmlformats.org/drawingml/2006/main">
            <a:r>
              <a:t>Companion animation: lesson-08.html</a:t>
            </a:r>
          </a:p>
          <a:p xmlns:a="http://schemas.openxmlformats.org/drawingml/2006/main">
            <a:r>
              <a:t>Ask students for an initial answer: When are two states indistinguishable for every future input sequence?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22 | Week 12</a:t>
            </a:r>
          </a:p>
          <a:p xmlns:a="http://schemas.openxmlformats.org/drawingml/2006/main">
            <a:r>
              <a:t>Prerequisite bridge</a:t>
            </a:r>
          </a:p>
          <a:p xmlns:a="http://schemas.openxmlformats.org/drawingml/2006/main">
            <a:r>
              <a:t>Reading: Alan B. Marcovitz, Introduction to Logic Design, 3rd ed., Ch. 9 §9.1, online chapter pp. 9-3–9-10.</a:t>
            </a:r>
          </a:p>
          <a:p xmlns:a="http://schemas.openxmlformats.org/drawingml/2006/main">
            <a:r>
              <a:t>Companion animation: lesson-08.html</a:t>
            </a:r>
          </a:p>
          <a:p xmlns:a="http://schemas.openxmlformats.org/drawingml/2006/main">
            <a:r>
              <a:t>A state table supplies output and successor information.</a:t>
            </a:r>
          </a:p>
          <a:p xmlns:a="http://schemas.openxmlformats.org/drawingml/2006/main">
            <a:r>
              <a:t>Equivalent states have the same external behavior.</a:t>
            </a:r>
          </a:p>
          <a:p xmlns:a="http://schemas.openxmlformats.org/drawingml/2006/main">
            <a:r>
              <a:t>A difference in output prevents equivalence immediately.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22 | Week 12</a:t>
            </a:r>
          </a:p>
          <a:p xmlns:a="http://schemas.openxmlformats.org/drawingml/2006/main">
            <a:r>
              <a:t>Vocabulary</a:t>
            </a:r>
          </a:p>
          <a:p xmlns:a="http://schemas.openxmlformats.org/drawingml/2006/main">
            <a:r>
              <a:t>Reading: Alan B. Marcovitz, Introduction to Logic Design, 3rd ed., Ch. 9 §9.1, online chapter pp. 9-3–9-10.</a:t>
            </a:r>
          </a:p>
          <a:p xmlns:a="http://schemas.openxmlformats.org/drawingml/2006/main">
            <a:r>
              <a:t>Companion animation: lesson-08.html</a:t>
            </a:r>
          </a:p>
          <a:p xmlns:a="http://schemas.openxmlformats.org/drawingml/2006/main">
            <a:r>
              <a:t>equivalent states: states with identical observable behavior for every input sequence</a:t>
            </a:r>
          </a:p>
          <a:p xmlns:a="http://schemas.openxmlformats.org/drawingml/2006/main">
            <a:r>
              <a:t>implication pair: successor pair that must also be equivalent</a:t>
            </a:r>
          </a:p>
          <a:p xmlns:a="http://schemas.openxmlformats.org/drawingml/2006/main">
            <a:r>
              <a:t>incompatible pair: pair proved distinguishable</a:t>
            </a:r>
          </a:p>
          <a:p xmlns:a="http://schemas.openxmlformats.org/drawingml/2006/main">
            <a:r>
              <a:t>reduced machine: machine after equivalent states are merged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22 | Week 12</a:t>
            </a:r>
          </a:p>
          <a:p xmlns:a="http://schemas.openxmlformats.org/drawingml/2006/main">
            <a:r>
              <a:t>Plain-language model</a:t>
            </a:r>
          </a:p>
          <a:p xmlns:a="http://schemas.openxmlformats.org/drawingml/2006/main">
            <a:r>
              <a:t>Reading: Alan B. Marcovitz, Introduction to Logic Design, 3rd ed., Ch. 9 §9.1, online chapter pp. 9-3–9-10.</a:t>
            </a:r>
          </a:p>
          <a:p xmlns:a="http://schemas.openxmlformats.org/drawingml/2006/main">
            <a:r>
              <a:t>Companion animation: lesson-08.html</a:t>
            </a:r>
          </a:p>
          <a:p xmlns:a="http://schemas.openxmlformats.org/drawingml/2006/main">
            <a:r>
              <a:t>Mark pairs whose outputs differ.</a:t>
            </a:r>
          </a:p>
          <a:p xmlns:a="http://schemas.openxmlformats.org/drawingml/2006/main">
            <a:r>
              <a:t>For each remaining pair, record successor implications.</a:t>
            </a:r>
          </a:p>
          <a:p xmlns:a="http://schemas.openxmlformats.org/drawingml/2006/main">
            <a:r>
              <a:t>Propagate incompatibility until no new pair is marked.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22 | Week 12</a:t>
            </a:r>
          </a:p>
          <a:p xmlns:a="http://schemas.openxmlformats.org/drawingml/2006/main">
            <a:r>
              <a:t>Reference table</a:t>
            </a:r>
          </a:p>
          <a:p xmlns:a="http://schemas.openxmlformats.org/drawingml/2006/main">
            <a:r>
              <a:t>Reading: Alan B. Marcovitz, Introduction to Logic Design, 3rd ed., Ch. 9 §9.1, online chapter pp. 9-3–9-10.</a:t>
            </a:r>
          </a:p>
          <a:p xmlns:a="http://schemas.openxmlformats.org/drawingml/2006/main">
            <a:r>
              <a:t>Companion animation: lesson-08.html</a:t>
            </a:r>
          </a:p>
          <a:p xmlns:a="http://schemas.openxmlformats.org/drawingml/2006/main">
            <a:r>
              <a:t>Read all columns in the bit order shown. Ask students to predict one row before the worked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22 | Week 12</a:t>
            </a:r>
          </a:p>
          <a:p xmlns:a="http://schemas.openxmlformats.org/drawingml/2006/main">
            <a:r>
              <a:t>Textbook exercise method</a:t>
            </a:r>
          </a:p>
          <a:p xmlns:a="http://schemas.openxmlformats.org/drawingml/2006/main">
            <a:r>
              <a:t>Reading: Alan B. Marcovitz, Introduction to Logic Design, 3rd ed., Ch. 9 §9.1, online chapter pp. 9-3–9-10.</a:t>
            </a:r>
          </a:p>
          <a:p xmlns:a="http://schemas.openxmlformats.org/drawingml/2006/main">
            <a:r>
              <a:t>Companion animation: lesson-08.html</a:t>
            </a:r>
          </a:p>
          <a:p xmlns:a="http://schemas.openxmlformats.org/drawingml/2006/main">
            <a:r>
              <a:t>List all unordered pairs and mark immediate output conflicts.</a:t>
            </a:r>
          </a:p>
          <a:p xmlns:a="http://schemas.openxmlformats.org/drawingml/2006/main">
            <a:r>
              <a:t>Record successor-pair implications for each remaining pair and propagate marks to a fixed point.</a:t>
            </a:r>
          </a:p>
          <a:p xmlns:a="http://schemas.openxmlformats.org/drawingml/2006/main">
            <a:r>
              <a:t>Merge only unmarked equivalence classes and rebuild the transition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22 | Week 12</a:t>
            </a:r>
          </a:p>
          <a:p xmlns:a="http://schemas.openxmlformats.org/drawingml/2006/main">
            <a:r>
              <a:t>Reduce a four-state Moore machine</a:t>
            </a:r>
          </a:p>
          <a:p xmlns:a="http://schemas.openxmlformats.org/drawingml/2006/main">
            <a:r>
              <a:t>Reading: Alan B. Marcovitz, Introduction to Logic Design, 3rd ed., Ch. 9 §9.1, online chapter pp. 9-3–9-10.</a:t>
            </a:r>
          </a:p>
          <a:p xmlns:a="http://schemas.openxmlformats.org/drawingml/2006/main">
            <a:r>
              <a:t>Companion animation: lesson-08.html</a:t>
            </a:r>
          </a:p>
          <a:p xmlns:a="http://schemas.openxmlformats.org/drawingml/2006/main">
            <a:r>
              <a:t>Prompt: Use the table above. Determine which states can be merged.</a:t>
            </a:r>
          </a:p>
          <a:p xmlns:a="http://schemas.openxmlformats.org/drawingml/2006/main">
            <a:r>
              <a:t>Steps:</a:t>
            </a:r>
          </a:p>
          <a:p xmlns:a="http://schemas.openxmlformats.org/drawingml/2006/main">
            <a:r>
              <a:t>Mark (A,D), (B,D) and (C,D): their present outputs differ.</a:t>
            </a:r>
          </a:p>
          <a:p xmlns:a="http://schemas.openxmlformats.org/drawingml/2006/main">
            <a:r>
              <a:t>Pair (A,B) implies (B,B) for X=0 and (C,D) for X=1. Since (C,D) is marked, mark (A,B).</a:t>
            </a:r>
          </a:p>
          <a:p xmlns:a="http://schemas.openxmlformats.org/drawingml/2006/main">
            <a:r>
              <a:t>Pair (A,C) implies (B,C) for X=0 and (C,D) for X=1, so mark (A,C).</a:t>
            </a:r>
          </a:p>
          <a:p xmlns:a="http://schemas.openxmlformats.org/drawingml/2006/main">
            <a:r>
              <a:t>Pair (B,C) implies itself for X=0 and (D,D) for X=1, so it remains unmarked.</a:t>
            </a:r>
          </a:p>
          <a:p xmlns:a="http://schemas.openxmlformats.org/drawingml/2006/main">
            <a:r>
              <a:t>Answer: Merge B and C. The reduced states are {A}, {B,C} and {D}.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22 | Week 12</a:t>
            </a:r>
          </a:p>
          <a:p xmlns:a="http://schemas.openxmlformats.org/drawingml/2006/main">
            <a:r>
              <a:t>Concept comparison</a:t>
            </a:r>
          </a:p>
          <a:p xmlns:a="http://schemas.openxmlformats.org/drawingml/2006/main">
            <a:r>
              <a:t>Reading: Alan B. Marcovitz, Introduction to Logic Design, 3rd ed., Ch. 9 §9.1, online chapter pp. 9-3–9-10.</a:t>
            </a:r>
          </a:p>
          <a:p xmlns:a="http://schemas.openxmlformats.org/drawingml/2006/main">
            <a:r>
              <a:t>Companion animation: lesson-08.html</a:t>
            </a:r>
          </a:p>
          <a:p xmlns:a="http://schemas.openxmlformats.org/drawingml/2006/main">
            <a:r>
              <a:t>Immediate mark | Outputs differ for the same input. | No successor analysis is needed.</a:t>
            </a:r>
          </a:p>
          <a:p xmlns:a="http://schemas.openxmlformats.org/drawingml/2006/main">
            <a:r>
              <a:t>Implied mark | A successor pair is already incompatible. | The distinction propagates backward.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22 | Week 12</a:t>
            </a:r>
          </a:p>
          <a:p xmlns:a="http://schemas.openxmlformats.org/drawingml/2006/main">
            <a:r>
              <a:t>Interactive model</a:t>
            </a:r>
          </a:p>
          <a:p xmlns:a="http://schemas.openxmlformats.org/drawingml/2006/main">
            <a:r>
              <a:t>Reading: Alan B. Marcovitz, Introduction to Logic Design, 3rd ed., Ch. 9 §9.1, online chapter pp. 9-3–9-10.</a:t>
            </a:r>
          </a:p>
          <a:p xmlns:a="http://schemas.openxmlformats.org/drawingml/2006/main">
            <a:r>
              <a:t>Companion animation: lesson-08.html</a:t>
            </a:r>
          </a:p>
          <a:p xmlns:a="http://schemas.openxmlformats.org/drawingml/2006/main">
            <a:r>
              <a:t>Advance one pass at a time. Immediate output mismatches appear first; successor distinctions propagate next.</a:t>
            </a:r>
          </a:p>
          <a:p xmlns:a="http://schemas.openxmlformats.org/drawingml/2006/main">
            <a:r>
              <a:t>Stop after the first pass and ask whether A and B can now be merged.</a:t>
            </a:r>
          </a:p>
          <a:p xmlns:a="http://schemas.openxmlformats.org/drawingml/2006/main">
            <a:r>
              <a:t>Advance the propagation pass and trace the single distinguishing input.</a:t>
            </a:r>
          </a:p>
          <a:p xmlns:a="http://schemas.openxmlformats.org/drawingml/2006/main">
            <a:r>
              <a:t>Have students rebuild the reduced table from equivalence classes.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22 | Week 12</a:t>
            </a:r>
          </a:p>
          <a:p xmlns:a="http://schemas.openxmlformats.org/drawingml/2006/main">
            <a:r>
              <a:t>Team activity</a:t>
            </a:r>
          </a:p>
          <a:p xmlns:a="http://schemas.openxmlformats.org/drawingml/2006/main">
            <a:r>
              <a:t>Reading: Alan B. Marcovitz, Introduction to Logic Design, 3rd ed., Ch. 9 §9.1, online chapter pp. 9-3–9-10.</a:t>
            </a:r>
          </a:p>
          <a:p xmlns:a="http://schemas.openxmlformats.org/drawingml/2006/main">
            <a:r>
              <a:t>Companion animation: lesson-08.html</a:t>
            </a:r>
          </a:p>
          <a:p xmlns:a="http://schemas.openxmlformats.org/drawingml/2006/main">
            <a:r>
              <a:t>Use the lesson’s state table to mark output-incompatible pairs, record one successor implication, and identify a pair that survives.</a:t>
            </a:r>
          </a:p>
          <a:p xmlns:a="http://schemas.openxmlformats.org/drawingml/2006/main">
            <a:r>
              <a:t>Deliverable: A completed implication chart and proposed reduced-state groups.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22 | Week 12</a:t>
            </a:r>
          </a:p>
          <a:p xmlns:a="http://schemas.openxmlformats.org/drawingml/2006/main">
            <a:r>
              <a:t>Guided example</a:t>
            </a:r>
          </a:p>
          <a:p xmlns:a="http://schemas.openxmlformats.org/drawingml/2006/main">
            <a:r>
              <a:t>Reading: Alan B. Marcovitz, Introduction to Logic Design, 3rd ed., Ch. 9 §9.1, online chapter pp. 9-3–9-10.</a:t>
            </a:r>
          </a:p>
          <a:p xmlns:a="http://schemas.openxmlformats.org/drawingml/2006/main">
            <a:r>
              <a:t>Companion animation: lesson-08.html</a:t>
            </a:r>
          </a:p>
          <a:p xmlns:a="http://schemas.openxmlformats.org/drawingml/2006/main">
            <a:r>
              <a:t>Prompt: States A and B both output 0. Explain why they are still distinguishable.</a:t>
            </a:r>
          </a:p>
          <a:p xmlns:a="http://schemas.openxmlformats.org/drawingml/2006/main">
            <a:r>
              <a:t>First move: Apply input X=1.</a:t>
            </a:r>
          </a:p>
          <a:p xmlns:a="http://schemas.openxmlformats.org/drawingml/2006/main">
            <a:r>
              <a:t>Pause before showing the next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22 | Week 12</a:t>
            </a:r>
          </a:p>
          <a:p xmlns:a="http://schemas.openxmlformats.org/drawingml/2006/main">
            <a:r>
              <a:t>Show why same output is insufficient</a:t>
            </a:r>
          </a:p>
          <a:p xmlns:a="http://schemas.openxmlformats.org/drawingml/2006/main">
            <a:r>
              <a:t>Reading: Alan B. Marcovitz, Introduction to Logic Design, 3rd ed., Ch. 9 §9.1, online chapter pp. 9-3–9-10.</a:t>
            </a:r>
          </a:p>
          <a:p xmlns:a="http://schemas.openxmlformats.org/drawingml/2006/main">
            <a:r>
              <a:t>Companion animation: lesson-08.html</a:t>
            </a:r>
          </a:p>
          <a:p xmlns:a="http://schemas.openxmlformats.org/drawingml/2006/main">
            <a:r>
              <a:t>Steps:</a:t>
            </a:r>
          </a:p>
          <a:p xmlns:a="http://schemas.openxmlformats.org/drawingml/2006/main">
            <a:r>
              <a:t>Apply input X=1.</a:t>
            </a:r>
          </a:p>
          <a:p xmlns:a="http://schemas.openxmlformats.org/drawingml/2006/main">
            <a:r>
              <a:t>A moves to C, whose output is 0.</a:t>
            </a:r>
          </a:p>
          <a:p xmlns:a="http://schemas.openxmlformats.org/drawingml/2006/main">
            <a:r>
              <a:t>B moves to D, whose output is 1.</a:t>
            </a:r>
          </a:p>
          <a:p xmlns:a="http://schemas.openxmlformats.org/drawingml/2006/main">
            <a:r>
              <a:t>Answer: The one-symbol input sequence 1 distinguishes A from B on the following state interval.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22 | Week 12</a:t>
            </a:r>
          </a:p>
          <a:p xmlns:a="http://schemas.openxmlformats.org/drawingml/2006/main">
            <a:r>
              <a:t>Misconception clinic</a:t>
            </a:r>
          </a:p>
          <a:p xmlns:a="http://schemas.openxmlformats.org/drawingml/2006/main">
            <a:r>
              <a:t>Reading: Alan B. Marcovitz, Introduction to Logic Design, 3rd ed., Ch. 9 §9.1, online chapter pp. 9-3–9-10.</a:t>
            </a:r>
          </a:p>
          <a:p xmlns:a="http://schemas.openxmlformats.org/drawingml/2006/main">
            <a:r>
              <a:t>Companion animation: lesson-08.html</a:t>
            </a:r>
          </a:p>
          <a:p xmlns:a="http://schemas.openxmlformats.org/drawingml/2006/main">
            <a:r>
              <a:t>TEMPTING CLAIM: States with the same current output are always equivalent.</a:t>
            </a:r>
          </a:p>
          <a:p xmlns:a="http://schemas.openxmlformats.org/drawingml/2006/main">
            <a:r>
              <a:t>WHY IT FAILS: A later input may send them to distinguishable successor states.</a:t>
            </a:r>
          </a:p>
          <a:p xmlns:a="http://schemas.openxmlformats.org/drawingml/2006/main">
            <a:r>
              <a:t>REPAIR: Propagate successor implications before merging states.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22 | Week 12</a:t>
            </a:r>
          </a:p>
          <a:p xmlns:a="http://schemas.openxmlformats.org/drawingml/2006/main">
            <a:r>
              <a:t>Practice questions</a:t>
            </a:r>
          </a:p>
          <a:p xmlns:a="http://schemas.openxmlformats.org/drawingml/2006/main">
            <a:r>
              <a:t>Reading: Alan B. Marcovitz, Introduction to Logic Design, 3rd ed., Ch. 9 §9.1, online chapter pp. 9-3–9-10.</a:t>
            </a:r>
          </a:p>
          <a:p xmlns:a="http://schemas.openxmlformats.org/drawingml/2006/main">
            <a:r>
              <a:t>Companion animation: lesson-08.html</a:t>
            </a:r>
          </a:p>
          <a:p xmlns:a="http://schemas.openxmlformats.org/drawingml/2006/main">
            <a:r>
              <a:t>Q1: Which pairs are marked before considering successor states?</a:t>
            </a:r>
          </a:p>
          <a:p xmlns:a="http://schemas.openxmlformats.org/drawingml/2006/main">
            <a:r>
              <a:t>Hint: Compare the output column.</a:t>
            </a:r>
          </a:p>
          <a:p xmlns:a="http://schemas.openxmlformats.org/drawingml/2006/main">
            <a:r>
              <a:t>Answer: (A,D), (B,D) and (C,D).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Q2: What is the reduced transition from {B,C} when X=0?</a:t>
            </a:r>
          </a:p>
          <a:p xmlns:a="http://schemas.openxmlformats.org/drawingml/2006/main">
            <a:r>
              <a:t>Hint: Check both B and C destinations.</a:t>
            </a:r>
          </a:p>
          <a:p xmlns:a="http://schemas.openxmlformats.org/drawingml/2006/main">
            <a:r>
              <a:t>Answer: Both destinations remain in {B,C}, so the reduced transition is a self-loop.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22 | Week 12</a:t>
            </a:r>
          </a:p>
          <a:p xmlns:a="http://schemas.openxmlformats.org/drawingml/2006/main">
            <a:r>
              <a:t>Practice solutions</a:t>
            </a:r>
          </a:p>
          <a:p xmlns:a="http://schemas.openxmlformats.org/drawingml/2006/main">
            <a:r>
              <a:t>Reading: Alan B. Marcovitz, Introduction to Logic Design, 3rd ed., Ch. 9 §9.1, online chapter pp. 9-3–9-10.</a:t>
            </a:r>
          </a:p>
          <a:p xmlns:a="http://schemas.openxmlformats.org/drawingml/2006/main">
            <a:r>
              <a:t>Companion animation: lesson-08.html</a:t>
            </a:r>
          </a:p>
          <a:p xmlns:a="http://schemas.openxmlformats.org/drawingml/2006/main">
            <a:r>
              <a:t>Q1: Which pairs are marked before considering successor states?</a:t>
            </a:r>
          </a:p>
          <a:p xmlns:a="http://schemas.openxmlformats.org/drawingml/2006/main">
            <a:r>
              <a:t>(A,D), (B,D) and (C,D).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Q2: What is the reduced transition from {B,C} when X=0?</a:t>
            </a:r>
          </a:p>
          <a:p xmlns:a="http://schemas.openxmlformats.org/drawingml/2006/main">
            <a:r>
              <a:t>Both destinations remain in {B,C}, so the reduced transition is a self-loop.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22 | Week 12</a:t>
            </a:r>
          </a:p>
          <a:p xmlns:a="http://schemas.openxmlformats.org/drawingml/2006/main">
            <a:r>
              <a:t>Closing outcomes</a:t>
            </a:r>
          </a:p>
          <a:p xmlns:a="http://schemas.openxmlformats.org/drawingml/2006/main">
            <a:r>
              <a:t>Reading: Alan B. Marcovitz, Introduction to Logic Design, 3rd ed., Ch. 9 §9.1, online chapter pp. 9-3–9-10.</a:t>
            </a:r>
          </a:p>
          <a:p xmlns:a="http://schemas.openxmlformats.org/drawingml/2006/main">
            <a:r>
              <a:t>Companion animation: lesson-08.html</a:t>
            </a:r>
          </a:p>
          <a:p xmlns:a="http://schemas.openxmlformats.org/drawingml/2006/main">
            <a:r>
              <a:t>Mark output-incompatible state pairs</a:t>
            </a:r>
          </a:p>
          <a:p xmlns:a="http://schemas.openxmlformats.org/drawingml/2006/main">
            <a:r>
              <a:t>Propagate successor implications</a:t>
            </a:r>
          </a:p>
          <a:p xmlns:a="http://schemas.openxmlformats.org/drawingml/2006/main">
            <a:r>
              <a:t>Construct a reduced machine from unmarked pairs</a:t>
            </a:r>
          </a:p>
          <a:p xmlns:a="http://schemas.openxmlformats.org/drawingml/2006/main">
            <a:r>
              <a:t>Next companion: lesson-09.html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b83be141c4e0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874e9d87a148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21531f9f864d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88081543744f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605631271b47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6431e8d7244a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544908-FB29-43D4-A947-7ED8380E12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9C6F02-B410-4807-A653-127A341F8C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5FF133F-6D66-44FB-BAF5-59DD165440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8D0C40-CF41-4B5F-A470-9998E858B3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CD0441-3306-4E91-88A0-362DE0518D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F07923-FCBB-4C9C-9457-CF39D26F48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E35E3F-601B-489F-BDB0-B79BA01126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2ACD73C-9F2F-48EE-AE12-2418B59ACF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500D13-E2E6-4513-B194-FBB13D9C72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A394C3-16ED-4772-A150-7207954C9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6964848ffe4355" /><Relationship Type="http://schemas.openxmlformats.org/officeDocument/2006/relationships/slideLayout" Target="/ppt/slideLayouts/slideLayout1.xml" Id="Re1387ffe8f974f4a" /><Relationship Type="http://schemas.openxmlformats.org/officeDocument/2006/relationships/slideLayout" Target="/ppt/slideLayouts/slideLayout2.xml" Id="R6f36d844e5a346d2" /><Relationship Type="http://schemas.openxmlformats.org/officeDocument/2006/relationships/slideLayout" Target="/ppt/slideLayouts/slideLayout3.xml" Id="R89ea7f8456fe43ae" /><Relationship Type="http://schemas.openxmlformats.org/officeDocument/2006/relationships/slideLayout" Target="/ppt/slideLayouts/slideLayout4.xml" Id="R8c22feee0b654197" /><Relationship Type="http://schemas.openxmlformats.org/officeDocument/2006/relationships/slideLayout" Target="/ppt/slideLayouts/slideLayout5.xml" Id="R580c90b769cf403d" /><Relationship Type="http://schemas.openxmlformats.org/officeDocument/2006/relationships/slideLayout" Target="/ppt/slideLayouts/slideLayout6.xml" Id="R813e044a977347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387ffe8f974f4a"/>
    <p:sldLayoutId xmlns:r="http://schemas.openxmlformats.org/officeDocument/2006/relationships" id="2147483650" r:id="R6f36d844e5a346d2"/>
    <p:sldLayoutId xmlns:r="http://schemas.openxmlformats.org/officeDocument/2006/relationships" id="2147483651" r:id="R89ea7f8456fe43ae"/>
    <p:sldLayoutId xmlns:r="http://schemas.openxmlformats.org/officeDocument/2006/relationships" id="2147483652" r:id="R8c22feee0b654197"/>
    <p:sldLayoutId xmlns:r="http://schemas.openxmlformats.org/officeDocument/2006/relationships" id="2147483653" r:id="R580c90b769cf403d"/>
    <p:sldLayoutId xmlns:r="http://schemas.openxmlformats.org/officeDocument/2006/relationships" id="2147483654" r:id="R813e044a977347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4fefc8fd1c424e" /><Relationship Type="http://schemas.openxmlformats.org/officeDocument/2006/relationships/image" Target="/ppt/media/image.png" Id="Rc438d35cd974417e" /><Relationship Type="http://schemas.openxmlformats.org/officeDocument/2006/relationships/image" Target="/ppt/media/image2.png" Id="R99471534f6a840c7" /><Relationship Type="http://schemas.openxmlformats.org/officeDocument/2006/relationships/notesSlide" Target="/ppt/notesSlides/notesSlide1.xml" Id="Ree19b610b8034b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95e31ff9704a5d" /><Relationship Type="http://schemas.openxmlformats.org/officeDocument/2006/relationships/image" Target="/ppt/media/image3.png" Id="Rc2a73bb8410e43b4" /><Relationship Type="http://schemas.openxmlformats.org/officeDocument/2006/relationships/image" Target="/ppt/media/image4.png" Id="Rebdb2a8dc88b46b8" /><Relationship Type="http://schemas.openxmlformats.org/officeDocument/2006/relationships/notesSlide" Target="/ppt/notesSlides/notesSlide2.xml" Id="Rfc6e55f4eb3147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ba11ad76064f8a" /><Relationship Type="http://schemas.openxmlformats.org/officeDocument/2006/relationships/image" Target="/ppt/media/image5.png" Id="Rb5a81cca9f1442ff" /><Relationship Type="http://schemas.openxmlformats.org/officeDocument/2006/relationships/image" Target="/ppt/media/image6.png" Id="Rf0bf479abd084c72" /><Relationship Type="http://schemas.openxmlformats.org/officeDocument/2006/relationships/notesSlide" Target="/ppt/notesSlides/notesSlide3.xml" Id="R331e90a0528040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1f82130fce4b03" /><Relationship Type="http://schemas.openxmlformats.org/officeDocument/2006/relationships/image" Target="/ppt/media/image7.png" Id="Rb8c76c75cb8b4eb0" /><Relationship Type="http://schemas.openxmlformats.org/officeDocument/2006/relationships/image" Target="/ppt/media/image8.png" Id="Rfc9eefb892f944ad" /><Relationship Type="http://schemas.openxmlformats.org/officeDocument/2006/relationships/notesSlide" Target="/ppt/notesSlides/notesSlide4.xml" Id="R7144dbbb3b8a4d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3ece62726c4b0a" /><Relationship Type="http://schemas.openxmlformats.org/officeDocument/2006/relationships/image" Target="/ppt/media/image9.png" Id="R45bd0154c4934ba6" /><Relationship Type="http://schemas.openxmlformats.org/officeDocument/2006/relationships/image" Target="/ppt/media/image10.png" Id="R3fa8324f5bd0410b" /><Relationship Type="http://schemas.openxmlformats.org/officeDocument/2006/relationships/notesSlide" Target="/ppt/notesSlides/notesSlide5.xml" Id="R7686dc59232641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2a28d138144037" /><Relationship Type="http://schemas.openxmlformats.org/officeDocument/2006/relationships/image" Target="/ppt/media/image11.png" Id="R3bdffac2d6b14128" /><Relationship Type="http://schemas.openxmlformats.org/officeDocument/2006/relationships/image" Target="/ppt/media/image12.png" Id="R66f54af0285b40d1" /><Relationship Type="http://schemas.openxmlformats.org/officeDocument/2006/relationships/notesSlide" Target="/ppt/notesSlides/notesSlide6.xml" Id="R46c0acf3647d40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f8dd7382204523" /><Relationship Type="http://schemas.openxmlformats.org/officeDocument/2006/relationships/image" Target="/ppt/media/image13.png" Id="Rf9fa783b491f4259" /><Relationship Type="http://schemas.openxmlformats.org/officeDocument/2006/relationships/image" Target="/ppt/media/image14.png" Id="R4baa355c290c4786" /><Relationship Type="http://schemas.openxmlformats.org/officeDocument/2006/relationships/notesSlide" Target="/ppt/notesSlides/notesSlide7.xml" Id="Rc2dfcb8e494e46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c0fdef275540a6" /><Relationship Type="http://schemas.openxmlformats.org/officeDocument/2006/relationships/image" Target="/ppt/media/image15.png" Id="R57a40b1c1ebc4a78" /><Relationship Type="http://schemas.openxmlformats.org/officeDocument/2006/relationships/image" Target="/ppt/media/image16.png" Id="R4417e50b5d954439" /><Relationship Type="http://schemas.openxmlformats.org/officeDocument/2006/relationships/notesSlide" Target="/ppt/notesSlides/notesSlide8.xml" Id="R5e78cb742c6442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7f2e902e8c4b94" /><Relationship Type="http://schemas.openxmlformats.org/officeDocument/2006/relationships/image" Target="/ppt/media/image17.png" Id="R3f7cb42d0acb4631" /><Relationship Type="http://schemas.openxmlformats.org/officeDocument/2006/relationships/image" Target="/ppt/media/image18.png" Id="Rd4037511e93b4d55" /><Relationship Type="http://schemas.openxmlformats.org/officeDocument/2006/relationships/notesSlide" Target="/ppt/notesSlides/notesSlide9.xml" Id="R2d0e105692aa46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a9787ea20541eb" /><Relationship Type="http://schemas.openxmlformats.org/officeDocument/2006/relationships/image" Target="/ppt/media/image19.png" Id="Racf911528f3b4a2b" /><Relationship Type="http://schemas.openxmlformats.org/officeDocument/2006/relationships/image" Target="/ppt/media/image20.png" Id="Rbe24e012b27b45c1" /><Relationship Type="http://schemas.openxmlformats.org/officeDocument/2006/relationships/notesSlide" Target="/ppt/notesSlides/notesSlide10.xml" Id="Rc063cb6febd049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8d3ec1248441d1" /><Relationship Type="http://schemas.openxmlformats.org/officeDocument/2006/relationships/image" Target="/ppt/media/image21.png" Id="Rbb11a6c07a2a4313" /><Relationship Type="http://schemas.openxmlformats.org/officeDocument/2006/relationships/image" Target="/ppt/media/image22.png" Id="R0f1801f777e8490f" /><Relationship Type="http://schemas.openxmlformats.org/officeDocument/2006/relationships/notesSlide" Target="/ppt/notesSlides/notesSlide11.xml" Id="R8927f52ab06f4c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91d2e46cf14064" /><Relationship Type="http://schemas.openxmlformats.org/officeDocument/2006/relationships/image" Target="/ppt/media/image23.png" Id="Rb71603351f54409f" /><Relationship Type="http://schemas.openxmlformats.org/officeDocument/2006/relationships/image" Target="/ppt/media/image24.png" Id="R270d46b230ae4779" /><Relationship Type="http://schemas.openxmlformats.org/officeDocument/2006/relationships/notesSlide" Target="/ppt/notesSlides/notesSlide12.xml" Id="R0513ed3985f341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b30879c8c7451c" /><Relationship Type="http://schemas.openxmlformats.org/officeDocument/2006/relationships/image" Target="/ppt/media/image25.png" Id="Rc6d6125a699d4c35" /><Relationship Type="http://schemas.openxmlformats.org/officeDocument/2006/relationships/image" Target="/ppt/media/image26.png" Id="Rb37713776d204a55" /><Relationship Type="http://schemas.openxmlformats.org/officeDocument/2006/relationships/notesSlide" Target="/ppt/notesSlides/notesSlide13.xml" Id="R6021c014eebc4c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bf761b24494a80" /><Relationship Type="http://schemas.openxmlformats.org/officeDocument/2006/relationships/image" Target="/ppt/media/image27.png" Id="R5527877937d94e6b" /><Relationship Type="http://schemas.openxmlformats.org/officeDocument/2006/relationships/image" Target="/ppt/media/image28.png" Id="R1f9fc5ee81244dc0" /><Relationship Type="http://schemas.openxmlformats.org/officeDocument/2006/relationships/notesSlide" Target="/ppt/notesSlides/notesSlide14.xml" Id="R2f7986bf603f4c8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15a394eeeb4084" /><Relationship Type="http://schemas.openxmlformats.org/officeDocument/2006/relationships/image" Target="/ppt/media/image29.png" Id="R12b3b618473d4c73" /><Relationship Type="http://schemas.openxmlformats.org/officeDocument/2006/relationships/image" Target="/ppt/media/image30.png" Id="R823efe6d0ed941b8" /><Relationship Type="http://schemas.openxmlformats.org/officeDocument/2006/relationships/notesSlide" Target="/ppt/notesSlides/notesSlide15.xml" Id="R7e9dce2fc42c4be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2bd305c0c94b8b" /><Relationship Type="http://schemas.openxmlformats.org/officeDocument/2006/relationships/image" Target="/ppt/media/image31.png" Id="R48e1648fc6684510" /><Relationship Type="http://schemas.openxmlformats.org/officeDocument/2006/relationships/image" Target="/ppt/media/image32.png" Id="Raeadcc59a8f844d4" /><Relationship Type="http://schemas.openxmlformats.org/officeDocument/2006/relationships/notesSlide" Target="/ppt/notesSlides/notesSlide16.xml" Id="Rb0825fe80c4545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905b71c64a4a41" /><Relationship Type="http://schemas.openxmlformats.org/officeDocument/2006/relationships/image" Target="/ppt/media/image33.png" Id="R3f903ab97d204e56" /><Relationship Type="http://schemas.openxmlformats.org/officeDocument/2006/relationships/image" Target="/ppt/media/image34.png" Id="Rc8ded3f521904243" /><Relationship Type="http://schemas.openxmlformats.org/officeDocument/2006/relationships/notesSlide" Target="/ppt/notesSlides/notesSlide17.xml" Id="Ra318374ce32040e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60f99879214acb" /><Relationship Type="http://schemas.openxmlformats.org/officeDocument/2006/relationships/image" Target="/ppt/media/image35.png" Id="R87a5aeafb84943e4" /><Relationship Type="http://schemas.openxmlformats.org/officeDocument/2006/relationships/image" Target="/ppt/media/image36.png" Id="R6d463e5d26cb4820" /><Relationship Type="http://schemas.openxmlformats.org/officeDocument/2006/relationships/notesSlide" Target="/ppt/notesSlides/notesSlide18.xml" Id="R5958f91368e94e6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18fc1da01f4f6a" /><Relationship Type="http://schemas.openxmlformats.org/officeDocument/2006/relationships/image" Target="/ppt/media/image37.png" Id="Rcfcbf05c93944531" /><Relationship Type="http://schemas.openxmlformats.org/officeDocument/2006/relationships/image" Target="/ppt/media/image38.png" Id="Ra5bcb0f0962546ce" /><Relationship Type="http://schemas.openxmlformats.org/officeDocument/2006/relationships/notesSlide" Target="/ppt/notesSlides/notesSlide19.xml" Id="Rbe1a9dc919ec4d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3E817-FA13-4696-9A9A-88ADFB9B7E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8d35cd974417e"/>
          <a:srcRect xmlns:a="http://schemas.openxmlformats.org/drawingml/2006/main" l="28940" t="0" r="2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7B801-62F0-4950-B68C-36AAF94521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71534f6a840c7"/>
          <a:stretch xmlns:a="http://schemas.openxmlformats.org/drawingml/2006/main"/>
        </p:blipFill>
        <p:spPr>
          <a:xfrm xmlns:a="http://schemas.openxmlformats.org/drawingml/2006/main">
            <a:off x="610120" y="457200"/>
            <a:ext cx="6275934" cy="1028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7A16E-D37A-401D-A395-FDBE790B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907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ELEC 335  |  Fall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83DED-DD9C-4D62-A7F7-4B829E8D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38375"/>
            <a:ext cx="77819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42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State reduction by implication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310E1-956B-48EE-930F-68C66606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9105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Week 12 · Lecture 2</a:t>
            </a:r>
          </a:p>
          <a:p xmlns:a="http://schemas.openxmlformats.org/drawingml/2006/main">
            <a: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Chapter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23CB9-CF0B-43A7-A8AD-8BE1FAB2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29300"/>
            <a:ext cx="8763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139D9-13C9-40E9-A128-94102E13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4238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Digital Logic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A8386-A84E-4484-BBB3-BB1DD55A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19800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Textbook: Ch. 9 §9.1, online chapter pp. 9-3–9-10</a:t>
            </a:r>
          </a:p>
        </p:txBody>
      </p:sp>
    </p:spTree>
    <p:extLst>
      <p:ext uri="{BB962C8B-B14F-4D97-AF65-F5344CB8AC3E}">
        <p14:creationId xmlns:p14="http://schemas.microsoft.com/office/powerpoint/2010/main" val="6723578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430671-6E44-498B-BCE9-1967B39A93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73bb8410e43b4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7DFC0-411F-4278-A7C4-0715082B80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b2a8dc88b46b8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2CA9B-F5E2-4801-90F3-3F04DC0D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L22 · READING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85DEC-34E1-4846-8C26-EEB65A6D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Where this lecture sits in the course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5651D-CC2D-4909-A248-975345C1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A0C82-79FF-4F71-BB60-DE1F2D90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95199-4809-4F3D-A75C-91D84C34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§9.1, online chapter pp. 9-3–9-10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4C47A-5DDF-494A-9217-1A182F6B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L22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E29E5-02ED-4E4E-98CE-DEB781FB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6E184-0D6E-473A-8F78-ED143ABA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7FBAD-5E97-485D-93C0-811E9F59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3AF93-FD4B-4F77-A75D-CE2560EF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0002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4730A-E03A-43D8-B055-AE475E5C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5262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Textbook: Ch. 9 §9.1, online chapter pp. 9-3–9-10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2B24C-702F-4909-B5DC-FB42F20F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18488E-0A10-42AA-A4A1-A40C85CB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004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06DC3E-4244-44C6-BF57-21B6D64F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5277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263E"/>
                </a:solidFill>
                <a:latin typeface="Tahoma"/>
                <a:ea typeface="Tahoma"/>
                <a:cs typeface="Tahoma"/>
              </a:rPr>
              <a:t>Interactive companion: Lesson 08, State reduction by implication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198F48-5FBF-4084-8866-0FAC7226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2F106-0A10-4E35-8AD2-89954EAA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005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9FA723-B5F5-40F6-B888-1F779523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5292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After class: worked examples and practice in the HTML lesson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7C563F-474D-425B-B118-A80DC1F0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578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Preparation: read the named section, then use the worked slides to check each design step.</a:t>
            </a:r>
          </a:p>
        </p:txBody>
      </p:sp>
    </p:spTree>
    <p:extLst>
      <p:ext uri="{BB962C8B-B14F-4D97-AF65-F5344CB8AC3E}">
        <p14:creationId xmlns:p14="http://schemas.microsoft.com/office/powerpoint/2010/main" val="9361371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9D60E3-0BE2-46C6-A5EE-10E615775B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81cca9f1442ff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78135-9293-40F4-8ABE-CF25D0491F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f479abd084c72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1F53A-99F9-47D6-8DDF-2BDC90A2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L22 · 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4027E-C82B-45E1-B57B-E3D19BCA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Today's destination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9C0E5-1187-4D01-B63D-470F40D8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1B20E-91DF-41A4-81F0-AE51146B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D5979-9827-432E-A11C-66143D32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§9.1, online chapter pp. 9-3–9-10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923F5-7A79-4E17-83CB-2151622C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L22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CF124-59BA-4F7D-8EB0-087938AB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85A20-7CBC-4C4A-A7DA-3AE07985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56E9A-06CB-4266-8997-8F6B51CC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14300" cy="343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4AC90-0D3B-4D2B-9B6A-599BFF3C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0A75E-B241-4FE9-9E27-8CF47B3E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914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Mark output-incompatible state pairs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116B0-94D4-404C-9440-3DDDABA3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3A482-A107-414F-9EEE-BBE5C8F6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057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Propagate successor implications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DBD107-9CB4-4B45-B7F1-DCCC9ABE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4CE99E-2B5E-469B-9199-D4502BC1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200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Construct a reduced machine from unmarked pairs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3988F-80C8-4534-88D5-018658B7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5530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84342"/>
                </a:solidFill>
                <a:latin typeface="Tahoma"/>
                <a:ea typeface="Tahoma"/>
                <a:cs typeface="Tahoma"/>
              </a:rPr>
              <a:t>Course outcome: State tables and efficient sequential design</a:t>
            </a:r>
          </a:p>
        </p:txBody>
      </p:sp>
    </p:spTree>
    <p:extLst>
      <p:ext uri="{BB962C8B-B14F-4D97-AF65-F5344CB8AC3E}">
        <p14:creationId xmlns:p14="http://schemas.microsoft.com/office/powerpoint/2010/main" val="11918217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D4816-6B39-41A6-B39E-F397D8EC2F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76c75cb8b4eb0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E618E-B81A-46EA-B47E-01B62498D3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eefb892f944ad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6CA37-9F11-4A55-AC0C-CD24443D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L22 · BIG PICTURE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06889-D1EE-4422-81AE-740B994F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question that organizes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163D4-78EC-4DA8-BC4B-B4357C61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53F4F-147F-4DCE-8703-737ABD91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8E62B-B370-47D4-B948-85C76826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§9.1, online chapter pp. 9-3–9-10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4D21E-6125-459A-9351-87E27276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L22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41D95-E7DC-41CE-8F09-A2CDDFDB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B9B64-67D1-47B3-B22E-2D7ADA65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686D6-034E-477F-9F08-C6B7140C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02108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97D0E-EE1D-4C26-8627-95038DA4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162175"/>
            <a:ext cx="876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When are two states indistinguishable for every future input sequence?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66847-E365-4A1E-834D-30986AD5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05350"/>
            <a:ext cx="876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Keep this question in view as the circuit models and examples develop.</a:t>
            </a:r>
          </a:p>
        </p:txBody>
      </p:sp>
    </p:spTree>
    <p:extLst>
      <p:ext uri="{BB962C8B-B14F-4D97-AF65-F5344CB8AC3E}">
        <p14:creationId xmlns:p14="http://schemas.microsoft.com/office/powerpoint/2010/main" val="8290640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DE535E-9AFA-458E-A8C8-C505479A6D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d0154c4934ba6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92EBE-676C-4594-9A45-5EE4CE3B20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8324f5bd0410b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258A1-A1C6-4920-B016-1844C1D1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L22 · PREREQUISITE BRIDGE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BAEB2-49FD-4379-862F-3FC719DB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Start from what you already know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882C2-53F1-4690-8810-01CFB26A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DAD41-D92C-473E-9742-45E5A044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9DA56-2673-4927-A437-BBE73B2E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§9.1, online chapter pp. 9-3–9-10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839CE-478E-46FB-90D8-3A974514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L22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70913-21AA-41B5-8A56-C510C21F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62156-B5FD-42D1-AE82-1BEF6194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D49C9-416D-44F1-A739-4939B751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27237-8F04-44BD-A6D8-CA2AE4D1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47850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6A05C-7226-4948-AA5C-91AEBC5E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77165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state table supplies output and successor information.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A6639-2189-40A9-84C2-03807ABE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75F47-3959-46E2-8A31-84298B76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19425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A44EE-2CCF-40E2-8BEB-D8795BF7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943225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Equivalent states have the same external behavior.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C5A0E4-1A65-4AF0-8A04-B63D2D96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14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21B4BF-0E94-420C-A57A-8B855AEC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91000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6EE725-864E-47EC-87FA-CA4D5299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11480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difference in output prevents equivalence immediately.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33B41C-40C3-4C54-B875-E27AB338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768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Turn to a partner: explain one statement without reading it aloud.</a:t>
            </a:r>
          </a:p>
        </p:txBody>
      </p:sp>
    </p:spTree>
    <p:extLst>
      <p:ext uri="{BB962C8B-B14F-4D97-AF65-F5344CB8AC3E}">
        <p14:creationId xmlns:p14="http://schemas.microsoft.com/office/powerpoint/2010/main" val="20090560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E88094-2A1B-4F29-B77E-16DE00D18D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ffac2d6b14128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C8902-37BA-43F3-8281-4FA6FB59DA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54af0285b40d1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36E01-A475-41C6-A7B0-5CCBE2F2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L22 · VOCABULARY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51D29-15DC-48C2-B976-F73E191C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Four words to make precise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CD89B-0989-42DC-9556-50E61607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E6683-BD40-4D9D-8F11-976AD404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65DD8-0016-43B3-8969-1E630D42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§9.1, online chapter pp. 9-3–9-10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F19BB-E9B8-4428-B7DF-E24C9E89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L22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A7A23-9E35-4055-BCBD-F63F9257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D80E7-8A86-4B93-9D5D-D805F4C4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CEABB-8561-4261-BFA3-68ED3DAD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9DAA6-A981-4E72-BE25-BED87B54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equivalent 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9D8C24-7BE3-462F-A186-7913C3CF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4792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states with identical observable behavior for every input sequence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48AF0-3489-4625-B712-1428B2A1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90A67-F367-41A4-80C3-2CDC82C2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431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implication 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D5BFC-B108-4944-9A1A-42F48AB9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4792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successor pair that must also be equivalent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236F5-3CC1-4C78-B49F-45520FE8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FE05C6-37D5-4DBC-87A1-DF5EC0B7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incompatible pair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CDD21F-EAFA-45A2-9C26-ECF70519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719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pair proved distinguishable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56B18E-0B55-49D1-B0CD-BB5A5E11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7665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DD748C-FBB5-400D-887C-EA2AC8A9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671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reduced machine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37B43E-3569-4E7F-B419-CB86F253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719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machine after equivalent states are merged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A44852-CEFF-4470-8FD7-891F532E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591175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Use each term when explaining the circuit, table, or timing trace.</a:t>
            </a:r>
          </a:p>
        </p:txBody>
      </p:sp>
    </p:spTree>
    <p:extLst>
      <p:ext uri="{BB962C8B-B14F-4D97-AF65-F5344CB8AC3E}">
        <p14:creationId xmlns:p14="http://schemas.microsoft.com/office/powerpoint/2010/main" val="1050766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C1F7B-7ACF-4F62-8BEC-9F90CA99AD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a783b491f4259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AB022-9DDD-4E8B-82B5-E42FB3E148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a355c290c4786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B42F2-3EC8-4D61-8E3C-BB13DBE2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L22 · PLAIN-LANGUAGE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5D93C-4E57-4368-8062-B2BE23B0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17E68-1067-41A6-B249-8D6DE4D3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F9351-5E04-478B-922A-732E7491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DC71C-A009-400E-AF65-1A462CF2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§9.1, online chapter pp. 9-3–9-10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B9CCE-7B8D-4341-B8F3-DA8ED604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L22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37361-722D-4D29-874B-8BF2F7E5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1A1E5-5857-4D72-8964-849B9096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C3DF6-2B81-4572-967C-4D1FD713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EF5DD-C546-47B8-ADEE-20E51FB5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62125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Mark pairs whose outputs differ.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ACA32-4ADA-4B1A-9780-34C3C1A3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C8088-6E3C-471D-8A94-D428D5AF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For each remaining pair, record successor implications.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C47A37-352F-4CC4-A9E9-3CEA07FA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EE31D0-8FB3-4EFA-9B25-9F81B0F6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76675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Propagate incompatibility until no new pair is marked.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60F9D-2656-4767-A96A-DF662CC3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038725"/>
            <a:ext cx="97821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7A3B89-AD33-4C33-A0DF-D9DECCC2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5302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When are two states indistinguishable for every future input sequence?</a:t>
            </a:r>
          </a:p>
        </p:txBody>
      </p:sp>
    </p:spTree>
    <p:extLst>
      <p:ext uri="{BB962C8B-B14F-4D97-AF65-F5344CB8AC3E}">
        <p14:creationId xmlns:p14="http://schemas.microsoft.com/office/powerpoint/2010/main" val="5393345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88007-9262-4EB7-8778-7CA012E068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40b1c1ebc4a78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51432-44CC-4C55-AA89-27957B9024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7e50b5d954439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A5545-C9D7-4C21-A07B-C5EB2801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L22 ·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82E97-5003-4D9D-BD9F-457C06D2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table to keep beside the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76430-40D7-4252-8FBB-7B3F93E0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3A52B-CCD7-4605-BD59-E9AC7E8C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3D5FA-3E36-453C-9723-88567B35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§9.1, online chapter pp. 9-3–9-10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459DF-4C7F-414C-85D9-68B1E7AB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L22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49575-E032-4B16-A96E-599BFBCE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9F2AF-DE6B-4E1F-9102-3A087726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5B5F1-F2B8-4A49-8EA6-D52F8E62405A}"/>
              </a:ext>
            </a:extLst>
          </p:cNvPr>
          <p:cNvGraphicFramePr/>
          <p:nvPr/>
        </p:nvGraphicFramePr>
        <p:xfrm>
          <a:off xmlns:a="http://schemas.openxmlformats.org/drawingml/2006/main" x="771525" y="1790700"/>
          <a:ext xmlns:a="http://schemas.openxmlformats.org/drawingml/2006/main" cx="10591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30600"/>
                <a:gridCol w="3530600"/>
                <a:gridCol w="3530600"/>
              </a:tblGrid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State / output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X=0 next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X=1 next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A /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B /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C /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D / 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5D4CB4-20C1-4C12-8E19-617C30CC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10200"/>
            <a:ext cx="880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Name the bit order and control conditions before using a row.</a:t>
            </a:r>
          </a:p>
        </p:txBody>
      </p:sp>
    </p:spTree>
    <p:extLst>
      <p:ext uri="{BB962C8B-B14F-4D97-AF65-F5344CB8AC3E}">
        <p14:creationId xmlns:p14="http://schemas.microsoft.com/office/powerpoint/2010/main" val="9944535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B4D441-FA2F-4817-9702-82E47424CE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cb42d0acb4631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4959B-51B6-4840-8CBF-C1F7895908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37511e93b4d55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E5802-B562-44A7-99EA-E39B75A7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L22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5163E-87C1-48D8-869B-0FBEB73E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reliable procedure for exercises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2CDDA-5A8C-4F66-8236-5ECB315B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76D85-6629-4395-AC51-EFFB0720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14920-6C66-4D90-9E75-BEFF6DFC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§9.1, online chapter pp. 9-3–9-10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03CF9-C4AB-44D5-ABE6-D2A6F7B1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L22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9DF8E-E67C-4017-9C03-40BD8DA5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BFA72-9653-40FF-9994-93F14C67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F9A68-88A9-4C19-A519-1B4608BB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859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800BF-5CB6-4A05-8CC1-971E39F0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621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2DC43-B029-4CC6-B791-7FD4F9AC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573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List all unordered pairs and mark immediate output conflicts.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DA12A-D2B9-4149-BEDE-F7B856FD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527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DE5C4-526C-4234-934C-72C0BC10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289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3BF836-E490-4766-8C3E-7D753F54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241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Record successor-pair implications for each remaining pair and propagate marks to a fixed point.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645C03-BF65-4AF0-8B66-39BFE3B7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195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ACD865-0FC4-4E70-90CA-EA85B2B7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957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63390-BF65-4762-9540-43775209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909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Merge only unmarked equivalence classes and rebuild the transition table.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A5D1D-8A4D-4029-9617-B456ED72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8953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0126CB-9EA5-4303-BD26-FF2F3B72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14950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Complete the table or trace, then verify the circuit one row at a time.</a:t>
            </a:r>
          </a:p>
        </p:txBody>
      </p:sp>
    </p:spTree>
    <p:extLst>
      <p:ext uri="{BB962C8B-B14F-4D97-AF65-F5344CB8AC3E}">
        <p14:creationId xmlns:p14="http://schemas.microsoft.com/office/powerpoint/2010/main" val="7124086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CDF5C6-87A8-4C1F-8FD3-76120D289C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911528f3b4a2b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E63E2-74E9-4748-B000-106A140F6D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4e012b27b45c1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A0E4E-BA88-498B-BD4B-8B56DBDA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L22 · WORKED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2091D-D2ED-483E-A292-8087726D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Reduce a four-state Moore machine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7E1C9-C1F5-488A-99DD-CC72EB5B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207C8-46B7-4316-A2BB-FE91CB40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5DBC6-F2FB-419A-97B7-9DA10EF3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§9.1, online chapter pp. 9-3–9-10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5173C-B479-4747-9380-5CAA8DAF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L22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BB67D-90C3-4456-BEE0-4ED43C8D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195B2-AB21-48E0-8570-865195DE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CC971-953D-421B-9B91-76305573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107537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98832-83DE-4FFB-A18C-B87129F9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1021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Use the table above. Determine which states can be merged.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7107E-3457-45BD-893E-F2DC6473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781300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40F6E-CBEE-45F5-B29C-F0B3F5E0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62250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Mark (A,D), (B,D) and (C,D): their present outputs differ.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F927B-77D1-4269-924D-22B0BC18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05175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765328-9AC7-46D8-A9B3-15B6076E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286125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Pair (A,B) implies (B,B) for X=0 and (C,D) for X=1. Since (C,D) is marked, mark (A,B).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1B2D13-1024-4509-B8B2-8CE94E04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29050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5D206F-6AB1-4736-BE7A-1F1E6C3E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810000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Pair (A,C) implies (B,C) for X=0 and (C,D) for X=1, so mark (A,C).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6CF4F-483A-41B1-9272-937ACD17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52925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8C30BA-4FF3-4792-8C84-A7D5D727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33875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Pair (B,C) implies itself for X=0 and (D,D) for X=1, so it remains unmarked.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85C20F-F1C4-4696-A367-EE4C9E37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CBF11B-1A6E-40FD-BADD-D11DB211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1492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Merge B and C. The reduced states are {A}, {B,C} and {D}.</a:t>
            </a:r>
          </a:p>
        </p:txBody>
      </p:sp>
    </p:spTree>
    <p:extLst>
      <p:ext uri="{BB962C8B-B14F-4D97-AF65-F5344CB8AC3E}">
        <p14:creationId xmlns:p14="http://schemas.microsoft.com/office/powerpoint/2010/main" val="20612354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00A9BD-35E0-4A59-A750-AC53886C48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1a6c07a2a4313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9AA97-FF2F-463C-9E5E-E3EE947C44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801f777e8490f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9C3F0-F515-4E08-B4E5-8206B012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L22 ·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ACF97-7F65-4291-89E0-13AD7A16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Two designs to distinguish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ACE02-F703-4DDF-A0FA-6E6AD36D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BC873-4E54-4F5E-B0CD-B1B24437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A1AB5-28DC-4627-94C6-1DF337F3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§9.1, online chapter pp. 9-3–9-10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BCE98-7A43-4409-940B-FE98B8A1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L22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31E80-115B-439D-850F-FB9CC01F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BBC76-1ED9-42CD-924F-DF8000C8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45F55-168B-4280-8E55-C6B2D141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47850"/>
            <a:ext cx="19050" cy="294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69A2BF-28FE-480D-A26D-FDF7FEC2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1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Immediate mark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E97B5-2696-4712-8F92-7D96580F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Outputs differ for the same input.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50C103-FCBE-41E7-A942-DD04304C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4857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No successor analysis is needed.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2A712-D42B-4B37-8C60-C133CD99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81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Implied mark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60DBC-1D6B-4164-B437-9D1E933D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431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successor pair is already incompatible.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D84B98-43FB-4E25-B755-59681D92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33775"/>
            <a:ext cx="4857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The distinction propagates backward.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40BE81-1C19-47E4-83D9-D618360F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1057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BA354-0D19-4DA3-8E2A-830903D9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53025"/>
            <a:ext cx="962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Explain the difference using behavior and timing, then test one case.</a:t>
            </a:r>
          </a:p>
        </p:txBody>
      </p:sp>
    </p:spTree>
    <p:extLst>
      <p:ext uri="{BB962C8B-B14F-4D97-AF65-F5344CB8AC3E}">
        <p14:creationId xmlns:p14="http://schemas.microsoft.com/office/powerpoint/2010/main" val="9414496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2E2846-7F8E-4D19-B3D3-D5E21E6512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603351f54409f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89ABE-ECA3-439E-9F7C-1C68847181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d46b230ae4779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665E5-D082-4D03-98B0-B0E9504B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L22 · INTERACTIVE COMPANION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67E19-9436-429F-AE67-D7CF97D4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Implication-table animator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6D07E-F45C-4563-8A2A-737E8816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F3227-2D3B-477E-AFE5-68F4F982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5E87B-0A3F-4AD1-967F-B41A1225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§9.1, online chapter pp. 9-3–9-10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0094F-8F22-48D4-BE96-0C0437EC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L22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63955-5704-4A1D-BDB1-691A60D2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D2ECA-3883-44F4-8780-CA6DE49D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355A3-A787-406B-AE18-0B1BE6DF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819400"/>
            <a:ext cx="221932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5E4E6-5FC6-4578-9232-1BD4CC72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895600"/>
            <a:ext cx="20097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Pair (A,B)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5B8FA-F2A4-445C-AE3C-0FDA369D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771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2A3FB-6B46-4AEA-A4DA-13C4A5F5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819400"/>
            <a:ext cx="221932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7D8A3-6DF3-493E-8913-FE686C09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95600"/>
            <a:ext cx="20097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Pair (C,D)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450C6-9259-42DA-A468-2EA83B91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200525"/>
            <a:ext cx="7724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A successor distinction propagates backward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C6AE75-A21D-4DE5-A472-92D0BAD3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52975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Advance one pass at a time. Immediate output mismatches appear first; successor distinctions propagate next.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6E12D1-1E22-4CED-8054-7B08585C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14975"/>
            <a:ext cx="9334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Open lesson-08.html for the animated model and state-by-state controls.</a:t>
            </a:r>
          </a:p>
        </p:txBody>
      </p:sp>
    </p:spTree>
    <p:extLst>
      <p:ext uri="{BB962C8B-B14F-4D97-AF65-F5344CB8AC3E}">
        <p14:creationId xmlns:p14="http://schemas.microsoft.com/office/powerpoint/2010/main" val="9059571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0E7FC-BF9E-48D9-8E3E-0B643501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05050" cy="666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2D7FF-74DE-4B53-8DAC-9285F708FA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6125a699d4c35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F3F7D-D081-4780-B5EE-504C0F4668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713776d204a55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A463A-CEEE-452E-B50D-A4C2DE9A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79057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ACTIVITY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58B44-805F-465D-88A6-E72621CC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04975"/>
            <a:ext cx="1238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L22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TEAM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1E48D-BC63-49F4-AC87-674D3E31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781050"/>
            <a:ext cx="78771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Apply the method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916E6-BED5-42AB-A761-753A35D8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90725"/>
            <a:ext cx="8286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Use the lesson’s state table to mark output-incompatible pairs, record one successor implication, and identify a pair that survives.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13B45-B34A-499F-9DBC-D45B9303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62325"/>
            <a:ext cx="79914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List all unordered pairs and mark immediate output conflicts.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2A75F-F4B6-4490-8F95-35983BE0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81600"/>
            <a:ext cx="798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9CF60-BB31-452D-B982-58A8000B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391150"/>
            <a:ext cx="159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DELIVERABLE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3F200-BA99-4688-B675-CEEF7B15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67325"/>
            <a:ext cx="6200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completed implication chart and proposed reduced-state groups.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8090F-623A-41FC-A243-AAF5C781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115050"/>
            <a:ext cx="9886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E5B55-A5F8-4FF3-B70A-046EC788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143625"/>
            <a:ext cx="862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§9.1, online chapter pp. 9-3–9-10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4050B-D2D9-427E-B655-2F6D2163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L22  |  Week 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E47C5-8AB8-4445-BA16-DDA7973F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4293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Digital Logic 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7D136-3C00-4035-AEAA-0EB0F094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92F9ED-8DB5-4E78-8159-F89806C1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539816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B2FE3-34A2-4088-87F5-15BF43AD64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7877937d94e6b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BD093-4871-4257-8358-575645E2B0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fc5ee81244dc0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FCDBC-9F8F-4885-BE9A-D66991FC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L22 · GUIDED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5F53B-F821-475B-8B2C-897F9AD7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Try the first move before 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B4FF9-273F-4058-B691-C5C2EFFC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B75D6-0107-47C4-A43C-4DE10DB5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5B36D-6A59-440C-A9E0-939A9662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§9.1, online chapter pp. 9-3–9-10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A332B-415D-412B-9373-6579A789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L22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89E17-E9A0-40A7-BA0C-36B9E87B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26473-B9DE-4E9D-BF8D-219D8F7A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CA76A-7EFA-4BB3-92C1-598E7613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047750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6D370-92D7-4C43-912B-6B3A2DD1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57400"/>
            <a:ext cx="9144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States A and B both output 0. Explain why they are still distinguishable.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E7A45A-A876-44FF-BE76-2F4523ED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971925"/>
            <a:ext cx="4067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YOUR FIRST MOVE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56E9B-7D95-466A-91DB-DA245D39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05300"/>
            <a:ext cx="885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Apply input X=1.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9F346-6079-4253-B493-0CC28A49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429250"/>
            <a:ext cx="881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Pause for 60–90 seconds. Write, then compare with a partner.</a:t>
            </a:r>
          </a:p>
        </p:txBody>
      </p:sp>
    </p:spTree>
    <p:extLst>
      <p:ext uri="{BB962C8B-B14F-4D97-AF65-F5344CB8AC3E}">
        <p14:creationId xmlns:p14="http://schemas.microsoft.com/office/powerpoint/2010/main" val="845651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607E3C-7E2F-4D3D-B19D-53DC7D2947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3b618473d4c73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016AB-7990-4E9E-8995-B2B8BE675C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efe6d0ed941b8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00A84-F40D-476C-9457-94BA55B5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L22 · GUIDED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2ECC5-94EB-4251-BE7F-61FC9976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Now make every step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D9078-4146-4864-8861-E8BA7C34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C8DEF-B53F-4AE2-BF82-268D9CC8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76342-F127-47B1-B11A-17D5011B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§9.1, online chapter pp. 9-3–9-10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65FEE-69DA-462B-B004-78851025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L22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FED4C-B48E-4211-B6ED-FED6CA43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0A0BC-702F-40B8-8C06-726616E1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F0BEF-8835-4E08-8DC2-43045860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240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DBE10-ACC3-47A1-8644-49E9E7BC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75260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44680-9D3B-4F40-84DE-18273971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67640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Apply input X=1.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D0AC1-6DFD-4799-8A57-8ADC7A90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971A0-22C8-42ED-BE87-265D6BCB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3365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0078B-1D2B-4E8E-AD90-8325FF07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45745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moves to C, whose output is 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E8537-8D97-41BA-AEF4-216760E7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AD822-A795-4D1D-98CE-6E607E69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31470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33C699-FC87-4CC4-B447-E47E8C3E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23850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B moves to D, whose output is 1.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B2EE9E-EFE3-41EA-9D6C-4ACC5627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993457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C3C4F0-09F6-4AA1-8DD0-2F9B7867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72075"/>
            <a:ext cx="9001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958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The one-symbol input sequence 1 distinguishes A from B on the following state interval.</a:t>
            </a:r>
          </a:p>
        </p:txBody>
      </p:sp>
    </p:spTree>
    <p:extLst>
      <p:ext uri="{BB962C8B-B14F-4D97-AF65-F5344CB8AC3E}">
        <p14:creationId xmlns:p14="http://schemas.microsoft.com/office/powerpoint/2010/main" val="17862173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851FB8-9726-4739-9203-D56D1B939F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1648fc6684510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FDA4D-6755-41AD-BF42-E5C12413F7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dcc59a8f844d4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2B614-D7B9-4ED8-8277-337F4C5F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L22 · MISCONCEPTION CLINIC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571F4-BA9E-461D-97E8-2B5E4B45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tempting mistake to remove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316DF-B137-4D66-ADC3-7311CE43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6FEC0-3A2F-4688-B8F3-833560BB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C7738-E5DB-47AD-B92F-0C5F83EA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§9.1, online chapter pp. 9-3–9-10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C8F35-0FD8-4941-B34E-E542BE9B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L22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453A8-E918-46F1-9235-22F179DE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EF6A6-4FBB-49C0-9EA2-059FC501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AD5E6-FF7A-49D1-A841-CFD69419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C0464-3524-4B3D-8E1D-9D69AA83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9145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TEMPTING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F6003-70C2-4057-A720-CBAF7AA0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764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States with the same current output are always equivalent.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93551-A4CE-40E0-A670-A8C64415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76018-D5C7-492D-A816-23EE6F54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1718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5AB5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E5AB52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E5AB52"/>
                </a:solidFill>
                <a:latin typeface="Tahoma"/>
                <a:ea typeface="Tahoma"/>
                <a:cs typeface="Tahoma"/>
              </a:rPr>
              <a:t>WHY IT FAILS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36DA4-874A-4429-B988-7D11C41C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337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later input may send them to distinguishable successor states.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5ACFE1-DB8C-4D06-B670-96D21BA0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DC9F91-E2E6-4D2E-81D4-5F005B8A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291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REPAIR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C6245C-690B-4747-98D7-EDE8EAEC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3910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Propagate successor implications before merging states.</a:t>
            </a:r>
          </a:p>
        </p:txBody>
      </p:sp>
    </p:spTree>
    <p:extLst>
      <p:ext uri="{BB962C8B-B14F-4D97-AF65-F5344CB8AC3E}">
        <p14:creationId xmlns:p14="http://schemas.microsoft.com/office/powerpoint/2010/main" val="63188443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EED7BD-F923-4167-854A-F0D59FDCF4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03ab97d204e56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5E8FD-E7F5-438D-A7CB-1B6113B351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ed3f521904243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02781-AC45-4153-8266-6453D9CC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L22 · ONE-MINUTE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7F002-9017-4108-A36C-EE400792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Close the book: can you apply it?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50ED5-B348-43E0-B932-309CAF9E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EDEF1-E2C8-4ED5-9A99-4C9DE2EE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50DD1-91B9-46C8-BC85-9FA12283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§9.1, online chapter pp. 9-3–9-10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7E08C-72A1-4985-BD75-365B12F3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L22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65ED7-6B99-4E01-B18C-83B4BFD5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3A351-5335-4177-9C94-606236C2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8787D-7B8F-467F-9433-98690243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657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AE869-EF1B-420E-A367-F62DDD87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00250"/>
            <a:ext cx="9296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Which pairs are marked before considering successor states?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FE682-700D-4C1D-8EB5-CB22990C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657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6C6F7-40A7-4AE1-9DDA-F68E6F61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52850"/>
            <a:ext cx="9296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What is the reduced transition from {B,C} when X=0?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B752B-0BF7-4796-95B8-75F5D699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486400"/>
            <a:ext cx="847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Answer without notes, then compare your reasoning with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11895022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DE98AD-2B5E-4FE4-BDC9-5EA343B264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5aeafb84943e4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81E12-86F5-418C-8507-F27C335A91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63e5d26cb4820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A394E-01FA-45AB-91C7-F6A5898E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L22 · PRACTICE SOLUTIONS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59DED-CE2A-4A56-8395-C97C7E52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Check the rule behind each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F603A-656F-477D-A853-3DCC7D6C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6B66E-9894-49F5-9693-4506DC37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5B87C-713B-4669-B1A9-6F5D7CB0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§9.1, online chapter pp. 9-3–9-10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032D3-8252-4EBF-85B5-5B4C052E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L22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88016-2F60-452F-8397-D483CDFC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1DB18-C095-42E8-B075-CE8B80EC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12995-5E70-4FFF-8032-BCEC42F5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04394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39652-FB87-4D58-8C0F-C8A799FA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04787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FC4AE-EE16-4ECA-AA77-81B0E241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5740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(A,D), (B,D) and (C,D).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9E654-790B-4FD4-8E23-6DA647F5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04394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CB354-2A0C-487A-A5FB-4829E82A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5762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0475B7-0531-4B89-AE9B-7DCF7F94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6715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Both destinations remain in {B,C}, so the reduced transition is a self-loop.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68AF4-C96D-4CE3-A9F6-B7C365EE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553075"/>
            <a:ext cx="8696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Return to the reference table if your answer used a different rule.</a:t>
            </a:r>
          </a:p>
        </p:txBody>
      </p:sp>
    </p:spTree>
    <p:extLst>
      <p:ext uri="{BB962C8B-B14F-4D97-AF65-F5344CB8AC3E}">
        <p14:creationId xmlns:p14="http://schemas.microsoft.com/office/powerpoint/2010/main" val="14181786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0DBD65-0ACD-44ED-8525-F78E2AE52C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bf05c93944531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2B8F7-67F9-4373-ADE0-ABDF0BCFA1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cb0f0962546ce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DC85A-E075-4AA4-9215-53589D2E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L22 ·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F6E7A-BA2B-482D-A709-BCD26A6D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What should stay with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D4AA5-5B45-420A-82DB-25658F99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4FD27-BE56-4932-9DD6-1570B145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76B21-44C3-4186-A74C-69E78A0B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§9.1, online chapter pp. 9-3–9-10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675AB-5BEC-445A-84E2-18593354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L22  |  Week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37935-D6B2-46A9-B2F4-5A3CFDCA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C919A-A620-431C-B90A-C8E9B0D9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700B2-0B95-4F7A-AB07-9DCE3B5B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4B24C-E0FD-45FC-B5CD-80BA8195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Mark output-incompatible state pairs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5E06D-A8D1-449F-92B8-62A11C84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17D241-9F2F-43E5-BDCF-4B75EB1E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432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Propagate successor implications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F66C61-BF10-4F98-98A2-ACF1B535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8300C-1DF7-494B-88ED-1F7601BB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338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Construct a reduced machine from unmarked pairs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D6FFD-19AC-4DBE-A4D1-0598F6B3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72050"/>
            <a:ext cx="9725025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D0F61-713E-40D6-89E0-DAB5189C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81600"/>
            <a:ext cx="962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4C1F9A-4441-4E05-82F8-A531DC07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95875"/>
            <a:ext cx="7858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Next: Partitions and state assignment. Use lesson-09.html to preview its model.</a:t>
            </a:r>
          </a:p>
        </p:txBody>
      </p:sp>
    </p:spTree>
    <p:extLst>
      <p:ext uri="{BB962C8B-B14F-4D97-AF65-F5344CB8AC3E}">
        <p14:creationId xmlns:p14="http://schemas.microsoft.com/office/powerpoint/2010/main" val="518676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2026-10-13T11:24:51.5190000Z</dcterms:created>
  <dcterms:modified xsi:type="dcterms:W3CDTF">2026-10-13T11:24:51.5190000Z</dcterms:modified>
</coreProperties>
</file>