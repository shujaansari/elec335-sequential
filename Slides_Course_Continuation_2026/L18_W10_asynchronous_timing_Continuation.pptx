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71fd27b064141" /><Relationship Type="http://schemas.openxmlformats.org/officeDocument/2006/relationships/extended-properties" Target="/docProps/app.xml" Id="Re50c46482a804e3a" /><Relationship Type="http://schemas.openxmlformats.org/officeDocument/2006/relationships/officeDocument" Target="/ppt/presentation.xml" Id="R4ac5be7d9e9f4f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dc01c984864ef0"/>
  </p:sldMasterIdLst>
  <p:notesMasterIdLst>
    <p:notesMasterId xmlns:r="http://schemas.openxmlformats.org/officeDocument/2006/relationships" r:id="R8993d56ae5b54800"/>
  </p:notesMasterIdLst>
  <p:sldIdLst>
    <p:sldId xmlns:r="http://schemas.openxmlformats.org/officeDocument/2006/relationships" id="256" r:id="R3f061b9cd86847b3"/>
    <p:sldId xmlns:r="http://schemas.openxmlformats.org/officeDocument/2006/relationships" id="257" r:id="R9aa63e739cb14c09"/>
    <p:sldId xmlns:r="http://schemas.openxmlformats.org/officeDocument/2006/relationships" id="258" r:id="Rb3b23d25bbc54239"/>
    <p:sldId xmlns:r="http://schemas.openxmlformats.org/officeDocument/2006/relationships" id="259" r:id="R13ed25c891ea434b"/>
    <p:sldId xmlns:r="http://schemas.openxmlformats.org/officeDocument/2006/relationships" id="260" r:id="R36564877cd3047de"/>
    <p:sldId xmlns:r="http://schemas.openxmlformats.org/officeDocument/2006/relationships" id="261" r:id="R71d93759c1a047d9"/>
    <p:sldId xmlns:r="http://schemas.openxmlformats.org/officeDocument/2006/relationships" id="262" r:id="R64472c91229d4dcd"/>
    <p:sldId xmlns:r="http://schemas.openxmlformats.org/officeDocument/2006/relationships" id="263" r:id="R117666e2adc84cee"/>
    <p:sldId xmlns:r="http://schemas.openxmlformats.org/officeDocument/2006/relationships" id="264" r:id="R28e05ad04b11439a"/>
    <p:sldId xmlns:r="http://schemas.openxmlformats.org/officeDocument/2006/relationships" id="265" r:id="Rd2bd2409e310476c"/>
    <p:sldId xmlns:r="http://schemas.openxmlformats.org/officeDocument/2006/relationships" id="266" r:id="R3a235c477085407a"/>
    <p:sldId xmlns:r="http://schemas.openxmlformats.org/officeDocument/2006/relationships" id="267" r:id="Reab1c5a4ad53444b"/>
    <p:sldId xmlns:r="http://schemas.openxmlformats.org/officeDocument/2006/relationships" id="268" r:id="R89d43b60193c41d4"/>
    <p:sldId xmlns:r="http://schemas.openxmlformats.org/officeDocument/2006/relationships" id="269" r:id="R6237d73ecde1482c"/>
    <p:sldId xmlns:r="http://schemas.openxmlformats.org/officeDocument/2006/relationships" id="270" r:id="R4fe41cbcbbaf4efa"/>
    <p:sldId xmlns:r="http://schemas.openxmlformats.org/officeDocument/2006/relationships" id="271" r:id="Rb6d700e8da7c47b1"/>
    <p:sldId xmlns:r="http://schemas.openxmlformats.org/officeDocument/2006/relationships" id="272" r:id="R6417ca21a4ac4bf6"/>
    <p:sldId xmlns:r="http://schemas.openxmlformats.org/officeDocument/2006/relationships" id="273" r:id="R6e4343c9dd844a58"/>
    <p:sldId xmlns:r="http://schemas.openxmlformats.org/officeDocument/2006/relationships" id="274" r:id="R3e4c1691df834a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2646a6b5e4093" /><Relationship Type="http://schemas.openxmlformats.org/officeDocument/2006/relationships/slideMaster" Target="/ppt/slideMasters/slideMaster1.xml" Id="R77dc01c984864ef0" /><Relationship Type="http://schemas.openxmlformats.org/officeDocument/2006/relationships/notesMaster" Target="/ppt/notesMasters/notesMaster1.xml" Id="R8993d56ae5b54800" /><Relationship Type="http://schemas.openxmlformats.org/officeDocument/2006/relationships/presProps" Target="/ppt/presProps.xml" Id="R3e2ae55c05cd44c1" /><Relationship Type="http://schemas.openxmlformats.org/officeDocument/2006/relationships/tableStyles" Target="/ppt/tableStyles.xml" Id="Rd819d2c4d3594dea" /><Relationship Type="http://schemas.openxmlformats.org/officeDocument/2006/relationships/slide" Target="/ppt/slides/slide1.xml" Id="R3f061b9cd86847b3" /><Relationship Type="http://schemas.openxmlformats.org/officeDocument/2006/relationships/slide" Target="/ppt/slides/slide2.xml" Id="R9aa63e739cb14c09" /><Relationship Type="http://schemas.openxmlformats.org/officeDocument/2006/relationships/slide" Target="/ppt/slides/slide3.xml" Id="Rb3b23d25bbc54239" /><Relationship Type="http://schemas.openxmlformats.org/officeDocument/2006/relationships/slide" Target="/ppt/slides/slide4.xml" Id="R13ed25c891ea434b" /><Relationship Type="http://schemas.openxmlformats.org/officeDocument/2006/relationships/slide" Target="/ppt/slides/slide5.xml" Id="R36564877cd3047de" /><Relationship Type="http://schemas.openxmlformats.org/officeDocument/2006/relationships/slide" Target="/ppt/slides/slide6.xml" Id="R71d93759c1a047d9" /><Relationship Type="http://schemas.openxmlformats.org/officeDocument/2006/relationships/slide" Target="/ppt/slides/slide7.xml" Id="R64472c91229d4dcd" /><Relationship Type="http://schemas.openxmlformats.org/officeDocument/2006/relationships/slide" Target="/ppt/slides/slide8.xml" Id="R117666e2adc84cee" /><Relationship Type="http://schemas.openxmlformats.org/officeDocument/2006/relationships/slide" Target="/ppt/slides/slide9.xml" Id="R28e05ad04b11439a" /><Relationship Type="http://schemas.openxmlformats.org/officeDocument/2006/relationships/slide" Target="/ppt/slides/slide10.xml" Id="Rd2bd2409e310476c" /><Relationship Type="http://schemas.openxmlformats.org/officeDocument/2006/relationships/slide" Target="/ppt/slides/slide11.xml" Id="R3a235c477085407a" /><Relationship Type="http://schemas.openxmlformats.org/officeDocument/2006/relationships/slide" Target="/ppt/slides/slide12.xml" Id="Reab1c5a4ad53444b" /><Relationship Type="http://schemas.openxmlformats.org/officeDocument/2006/relationships/slide" Target="/ppt/slides/slide13.xml" Id="R89d43b60193c41d4" /><Relationship Type="http://schemas.openxmlformats.org/officeDocument/2006/relationships/slide" Target="/ppt/slides/slide14.xml" Id="R6237d73ecde1482c" /><Relationship Type="http://schemas.openxmlformats.org/officeDocument/2006/relationships/slide" Target="/ppt/slides/slide15.xml" Id="R4fe41cbcbbaf4efa" /><Relationship Type="http://schemas.openxmlformats.org/officeDocument/2006/relationships/slide" Target="/ppt/slides/slide16.xml" Id="Rb6d700e8da7c47b1" /><Relationship Type="http://schemas.openxmlformats.org/officeDocument/2006/relationships/slide" Target="/ppt/slides/slide17.xml" Id="R6417ca21a4ac4bf6" /><Relationship Type="http://schemas.openxmlformats.org/officeDocument/2006/relationships/slide" Target="/ppt/slides/slide18.xml" Id="R6e4343c9dd844a58" /><Relationship Type="http://schemas.openxmlformats.org/officeDocument/2006/relationships/slide" Target="/ppt/slides/slide19.xml" Id="R3e4c1691df83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ab15c3246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bee7c1713f42b2" /><Relationship Type="http://schemas.openxmlformats.org/officeDocument/2006/relationships/notesMaster" Target="/ppt/notesMasters/notesMaster1.xml" Id="Ra043daaf334c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d0d9b7c24c4238" /><Relationship Type="http://schemas.openxmlformats.org/officeDocument/2006/relationships/notesMaster" Target="/ppt/notesMasters/notesMaster1.xml" Id="Rcb6e87dcfd204b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e7467cc0494801" /><Relationship Type="http://schemas.openxmlformats.org/officeDocument/2006/relationships/notesMaster" Target="/ppt/notesMasters/notesMaster1.xml" Id="R6839af82a37348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fc48ff03b42f0" /><Relationship Type="http://schemas.openxmlformats.org/officeDocument/2006/relationships/notesMaster" Target="/ppt/notesMasters/notesMaster1.xml" Id="R636069ca35db40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b6ef6c3894056" /><Relationship Type="http://schemas.openxmlformats.org/officeDocument/2006/relationships/notesMaster" Target="/ppt/notesMasters/notesMaster1.xml" Id="Rdeb056c176cc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09b80309445c4" /><Relationship Type="http://schemas.openxmlformats.org/officeDocument/2006/relationships/notesMaster" Target="/ppt/notesMasters/notesMaster1.xml" Id="R7b1209ea872e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0b446abeba4461" /><Relationship Type="http://schemas.openxmlformats.org/officeDocument/2006/relationships/notesMaster" Target="/ppt/notesMasters/notesMaster1.xml" Id="R8d842f0f319840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5c330c4dd1408d" /><Relationship Type="http://schemas.openxmlformats.org/officeDocument/2006/relationships/notesMaster" Target="/ppt/notesMasters/notesMaster1.xml" Id="R0a1048a5fd8f42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c462b11ac47a8" /><Relationship Type="http://schemas.openxmlformats.org/officeDocument/2006/relationships/notesMaster" Target="/ppt/notesMasters/notesMaster1.xml" Id="Redb7f91c926640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4e415025544b5" /><Relationship Type="http://schemas.openxmlformats.org/officeDocument/2006/relationships/notesMaster" Target="/ppt/notesMasters/notesMaster1.xml" Id="Rd91017953c9347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105e303d884e6e" /><Relationship Type="http://schemas.openxmlformats.org/officeDocument/2006/relationships/notesMaster" Target="/ppt/notesMasters/notesMaster1.xml" Id="R606f38c3dfd549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1ab35d251242c2" /><Relationship Type="http://schemas.openxmlformats.org/officeDocument/2006/relationships/notesMaster" Target="/ppt/notesMasters/notesMaster1.xml" Id="R0da2858ee7c446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f5c02414334d35" /><Relationship Type="http://schemas.openxmlformats.org/officeDocument/2006/relationships/notesMaster" Target="/ppt/notesMasters/notesMaster1.xml" Id="R690534c17f8942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b0b8a03ffc4994" /><Relationship Type="http://schemas.openxmlformats.org/officeDocument/2006/relationships/notesMaster" Target="/ppt/notesMasters/notesMaster1.xml" Id="R633791b2a4c14f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2fc04b8ad143a8" /><Relationship Type="http://schemas.openxmlformats.org/officeDocument/2006/relationships/notesMaster" Target="/ppt/notesMasters/notesMaster1.xml" Id="Re20712d8ac4d4e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90e5792b124f8a" /><Relationship Type="http://schemas.openxmlformats.org/officeDocument/2006/relationships/notesMaster" Target="/ppt/notesMasters/notesMaster1.xml" Id="Rf388ad102af34a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1e9a01e8194531" /><Relationship Type="http://schemas.openxmlformats.org/officeDocument/2006/relationships/notesMaster" Target="/ppt/notesMasters/notesMaster1.xml" Id="R13dc512fa17549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a5c8f419b045af" /><Relationship Type="http://schemas.openxmlformats.org/officeDocument/2006/relationships/notesMaster" Target="/ppt/notesMasters/notesMaster1.xml" Id="R1d7a56e633134d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b1501982424548" /><Relationship Type="http://schemas.openxmlformats.org/officeDocument/2006/relationships/notesMaster" Target="/ppt/notesMasters/notesMaster1.xml" Id="R1a2681fca205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Opening question: What changes when state elements do not update on one shared edge?</a:t>
            </a:r>
          </a:p>
          <a:p xmlns:a="http://schemas.openxmlformats.org/drawingml/2006/main">
            <a:r>
              <a:t>Outcomes: Trace a ripple counter through transient codes | Explain propagation delay and decode glitches | Recognize a fundamental-mode asynchronous state change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Trace a ripple counter through transient codes</a:t>
            </a:r>
          </a:p>
          <a:p xmlns:a="http://schemas.openxmlformats.org/drawingml/2006/main">
            <a:r>
              <a:t>Explain propagation delay and decode glitches</a:t>
            </a:r>
          </a:p>
          <a:p xmlns:a="http://schemas.openxmlformats.org/drawingml/2006/main">
            <a:r>
              <a:t>Recognize a fundamental-mode asynchronous state change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Ask students for an initial answer: What changes when state elements do not update on one shared edge?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A synchronous design samples all stages on one clock edge.</a:t>
            </a:r>
          </a:p>
          <a:p xmlns:a="http://schemas.openxmlformats.org/drawingml/2006/main">
            <a:r>
              <a:t>A T stage changes state when a triggering edge arrives.</a:t>
            </a:r>
          </a:p>
          <a:p xmlns:a="http://schemas.openxmlformats.org/drawingml/2006/main">
            <a:r>
              <a:t>Combinational decoding responds to intermediate signal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ripple counter: one counter stage clocks the next stage</a:t>
            </a:r>
          </a:p>
          <a:p xmlns:a="http://schemas.openxmlformats.org/drawingml/2006/main">
            <a:r>
              <a:t>propagation delay: time between a triggering event and its output response</a:t>
            </a:r>
          </a:p>
          <a:p xmlns:a="http://schemas.openxmlformats.org/drawingml/2006/main">
            <a:r>
              <a:t>transient code: temporary bit pattern before settling</a:t>
            </a:r>
          </a:p>
          <a:p xmlns:a="http://schemas.openxmlformats.org/drawingml/2006/main">
            <a:r>
              <a:t>fundamental mode: one external input change followed by settling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State the triggering edge of every stage.</a:t>
            </a:r>
          </a:p>
          <a:p xmlns:a="http://schemas.openxmlformats.org/drawingml/2006/main">
            <a:r>
              <a:t>Trace the first stage change, then each induced change.</a:t>
            </a:r>
          </a:p>
          <a:p xmlns:a="http://schemas.openxmlformats.org/drawingml/2006/main">
            <a:r>
              <a:t>Separate transient codes from the final settled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State which clock edge triggers each stage and in which bit order.</a:t>
            </a:r>
          </a:p>
          <a:p xmlns:a="http://schemas.openxmlformats.org/drawingml/2006/main">
            <a:r>
              <a:t>Trace every stage transition and include transient codes before the settled result.</a:t>
            </a:r>
          </a:p>
          <a:p xmlns:a="http://schemas.openxmlformats.org/drawingml/2006/main">
            <a:r>
              <a:t>For asynchronous feedback, list stable input/state combinations and check the one-input-change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Trace 011→100 in a ripple counter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Prompt: A three-bit falling-edge toggle chain starts at Q₂Q₁Q₀=011. Show the order after the next external clock event.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Q₀ toggles from 1 to 0: 011→010.</a:t>
            </a:r>
          </a:p>
          <a:p xmlns:a="http://schemas.openxmlformats.org/drawingml/2006/main">
            <a:r>
              <a:t>That falling edge clocks Q₁, which toggles 1→0: 010→000.</a:t>
            </a:r>
          </a:p>
          <a:p xmlns:a="http://schemas.openxmlformats.org/drawingml/2006/main">
            <a:r>
              <a:t>Q₁ falling clocks Q₂, which toggles 0→1: 000→100.</a:t>
            </a:r>
          </a:p>
          <a:p xmlns:a="http://schemas.openxmlformats.org/drawingml/2006/main">
            <a:r>
              <a:t>Only 100 is the settled count. 010 and 000 are transient.</a:t>
            </a:r>
          </a:p>
          <a:p xmlns:a="http://schemas.openxmlformats.org/drawingml/2006/main">
            <a:r>
              <a:t>Answer: The observed path is 011, 010, 000, 100.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Synchronous counter | All stages share the external clock. | State bits update around one edge.</a:t>
            </a:r>
          </a:p>
          <a:p xmlns:a="http://schemas.openxmlformats.org/drawingml/2006/main">
            <a:r>
              <a:t>Ripple counter | Each stage clocks the next. | Transitions occur in sequence after delay.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Step the counter and watch intermediate bit patterns. Slow motion makes the ripple visible.</a:t>
            </a:r>
          </a:p>
          <a:p xmlns:a="http://schemas.openxmlformats.org/drawingml/2006/main">
            <a:r>
              <a:t>Freeze the 011→100 ripple transition after its first bit change.</a:t>
            </a:r>
          </a:p>
          <a:p xmlns:a="http://schemas.openxmlformats.org/drawingml/2006/main">
            <a:r>
              <a:t>Ask the class which transient code a decoder could detect.</a:t>
            </a:r>
          </a:p>
          <a:p xmlns:a="http://schemas.openxmlformats.org/drawingml/2006/main">
            <a:r>
              <a:t>Demonstrate that the SR latch responds while the external clock is idle.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Trace 011 to 100 in a three-stage falling-edge ripple counter. Identify each temporary code a decoder could see.</a:t>
            </a:r>
          </a:p>
          <a:p xmlns:a="http://schemas.openxmlformats.org/drawingml/2006/main">
            <a:r>
              <a:t>Deliverable: An ordered transition trace and one possible decode hazard.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Prompt: A request S sets an indicator; clear R resets it. The events never assert together. Derive the next-state rule.</a:t>
            </a:r>
          </a:p>
          <a:p xmlns:a="http://schemas.openxmlformats.org/drawingml/2006/main">
            <a:r>
              <a:t>First move: List the stable cases: 00 holds Q, 10 sets Q to 1, and 01 resets Q to 0.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Design an asynchronous event memory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List the stable cases: 00 holds Q, 10 sets Q to 1, and 01 resets Q to 0.</a:t>
            </a:r>
          </a:p>
          <a:p xmlns:a="http://schemas.openxmlformats.org/drawingml/2006/main">
            <a:r>
              <a:t>Use a present-state column to cover Q=0 and Q=1 for each permitted input pair.</a:t>
            </a:r>
          </a:p>
          <a:p xmlns:a="http://schemas.openxmlformats.org/drawingml/2006/main">
            <a:r>
              <a:t>The set term S makes Q⁺=1 whenever S=1. The hold term QR′ preserves Q when R=0.</a:t>
            </a:r>
          </a:p>
          <a:p xmlns:a="http://schemas.openxmlformats.org/drawingml/2006/main">
            <a:r>
              <a:t>Combine them as Q⁺=S+QR′, valid for the specified mutually exclusive inputs.</a:t>
            </a:r>
          </a:p>
          <a:p xmlns:a="http://schemas.openxmlformats.org/drawingml/2006/main">
            <a:r>
              <a:t>Answer: An active-high SR latch realizes the rule. Input 11 is outside the specification and must be prevented or resolved by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TEMPTING CLAIM: All ripple-counter bits change at the same instant.</a:t>
            </a:r>
          </a:p>
          <a:p xmlns:a="http://schemas.openxmlformats.org/drawingml/2006/main">
            <a:r>
              <a:t>WHY IT FAILS: Each stage waits for the preceding stage’s triggering edge.</a:t>
            </a:r>
          </a:p>
          <a:p xmlns:a="http://schemas.openxmlformats.org/drawingml/2006/main">
            <a:r>
              <a:t>REPAIR: Trace every intermediate code in time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Q1: What intermediate codes can appear during ripple transition 001→010?</a:t>
            </a:r>
          </a:p>
          <a:p xmlns:a="http://schemas.openxmlformats.org/drawingml/2006/main">
            <a:r>
              <a:t>Hint: Toggle Q₀ first, then react to its falling edge.</a:t>
            </a:r>
          </a:p>
          <a:p xmlns:a="http://schemas.openxmlformats.org/drawingml/2006/main">
            <a:r>
              <a:t>Answer: 001→000→010.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Why might a decoder connected to ripple outputs produce a narrow pulse?</a:t>
            </a:r>
          </a:p>
          <a:p xmlns:a="http://schemas.openxmlformats.org/drawingml/2006/main">
            <a:r>
              <a:t>Hint: Consider the intermediate codes before settling.</a:t>
            </a:r>
          </a:p>
          <a:p xmlns:a="http://schemas.openxmlformats.org/drawingml/2006/main">
            <a:r>
              <a:t>Answer: Its Boolean condition can become true briefly for a transient state even when the starting and final states do not require that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Q1: What intermediate codes can appear during ripple transition 001→010?</a:t>
            </a:r>
          </a:p>
          <a:p xmlns:a="http://schemas.openxmlformats.org/drawingml/2006/main">
            <a:r>
              <a:t>001→000→010.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Why might a decoder connected to ripple outputs produce a narrow pulse?</a:t>
            </a:r>
          </a:p>
          <a:p xmlns:a="http://schemas.openxmlformats.org/drawingml/2006/main">
            <a:r>
              <a:t>Its Boolean condition can become true briefly for a transient state even when the starting and final states do not require that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18 | Week 10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7 §7.3, pp. 447–450; timing extension.</a:t>
            </a:r>
          </a:p>
          <a:p xmlns:a="http://schemas.openxmlformats.org/drawingml/2006/main">
            <a:r>
              <a:t>Companion animation: lesson-04.html</a:t>
            </a:r>
          </a:p>
          <a:p xmlns:a="http://schemas.openxmlformats.org/drawingml/2006/main">
            <a:r>
              <a:t>Trace a ripple counter through transient codes</a:t>
            </a:r>
          </a:p>
          <a:p xmlns:a="http://schemas.openxmlformats.org/drawingml/2006/main">
            <a:r>
              <a:t>Explain propagation delay and decode glitches</a:t>
            </a:r>
          </a:p>
          <a:p xmlns:a="http://schemas.openxmlformats.org/drawingml/2006/main">
            <a:r>
              <a:t>Recognize a fundamental-mode asynchronous state change</a:t>
            </a:r>
          </a:p>
          <a:p xmlns:a="http://schemas.openxmlformats.org/drawingml/2006/main">
            <a:r>
              <a:t>Next companion: lesson-05.html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c51eff3da4d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12e12510343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7ab9d318b4e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fb6d04f3642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35a2692d141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7f0d13ae247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316CF-EC5F-42EF-8F14-BA9E84E96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CFB650B-2299-43A3-963C-CF3E663EC4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3EE50E-2A2F-44D0-A3F3-7F74A8E1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933DFB-CAC9-4FB2-8D41-95E6DF10D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0483F5-C0B3-4C81-A8FF-26FA072F6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DD6F64-5A33-4361-9C22-C1B2FE13F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72F2EB-66C0-4A83-A5C4-285BB2C8B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AF7BC4-D91D-41FC-9043-394DA93D32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20FF1A-9F6E-4AAA-BB0C-6DBF0D2F4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718DC0-6A71-472D-A761-258C76005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adeb5ff80848b1" /><Relationship Type="http://schemas.openxmlformats.org/officeDocument/2006/relationships/slideLayout" Target="/ppt/slideLayouts/slideLayout1.xml" Id="Rd9cab036f2ce4b6a" /><Relationship Type="http://schemas.openxmlformats.org/officeDocument/2006/relationships/slideLayout" Target="/ppt/slideLayouts/slideLayout2.xml" Id="R559fea2622f649a3" /><Relationship Type="http://schemas.openxmlformats.org/officeDocument/2006/relationships/slideLayout" Target="/ppt/slideLayouts/slideLayout3.xml" Id="Ra787ae4cdeae4751" /><Relationship Type="http://schemas.openxmlformats.org/officeDocument/2006/relationships/slideLayout" Target="/ppt/slideLayouts/slideLayout4.xml" Id="R613e2622c1504c9d" /><Relationship Type="http://schemas.openxmlformats.org/officeDocument/2006/relationships/slideLayout" Target="/ppt/slideLayouts/slideLayout5.xml" Id="R310c2160505f445f" /><Relationship Type="http://schemas.openxmlformats.org/officeDocument/2006/relationships/slideLayout" Target="/ppt/slideLayouts/slideLayout6.xml" Id="R48e182354edc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ab036f2ce4b6a"/>
    <p:sldLayoutId xmlns:r="http://schemas.openxmlformats.org/officeDocument/2006/relationships" id="2147483650" r:id="R559fea2622f649a3"/>
    <p:sldLayoutId xmlns:r="http://schemas.openxmlformats.org/officeDocument/2006/relationships" id="2147483651" r:id="Ra787ae4cdeae4751"/>
    <p:sldLayoutId xmlns:r="http://schemas.openxmlformats.org/officeDocument/2006/relationships" id="2147483652" r:id="R613e2622c1504c9d"/>
    <p:sldLayoutId xmlns:r="http://schemas.openxmlformats.org/officeDocument/2006/relationships" id="2147483653" r:id="R310c2160505f445f"/>
    <p:sldLayoutId xmlns:r="http://schemas.openxmlformats.org/officeDocument/2006/relationships" id="2147483654" r:id="R48e182354edc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baa58c7ab4507" /><Relationship Type="http://schemas.openxmlformats.org/officeDocument/2006/relationships/image" Target="/ppt/media/image.png" Id="R725df9241ee44f68" /><Relationship Type="http://schemas.openxmlformats.org/officeDocument/2006/relationships/image" Target="/ppt/media/image2.png" Id="R7b72a185d59e4ae3" /><Relationship Type="http://schemas.openxmlformats.org/officeDocument/2006/relationships/notesSlide" Target="/ppt/notesSlides/notesSlide1.xml" Id="R5f2d6e314c5b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a631e63c424998" /><Relationship Type="http://schemas.openxmlformats.org/officeDocument/2006/relationships/image" Target="/ppt/media/image3.png" Id="R4cba7a1ce36543d3" /><Relationship Type="http://schemas.openxmlformats.org/officeDocument/2006/relationships/image" Target="/ppt/media/image4.png" Id="R4cda78116ed84342" /><Relationship Type="http://schemas.openxmlformats.org/officeDocument/2006/relationships/notesSlide" Target="/ppt/notesSlides/notesSlide2.xml" Id="Re8411293eebf4f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71ec6ecfe472b" /><Relationship Type="http://schemas.openxmlformats.org/officeDocument/2006/relationships/image" Target="/ppt/media/image5.png" Id="Rde3b7e8e1dc04310" /><Relationship Type="http://schemas.openxmlformats.org/officeDocument/2006/relationships/image" Target="/ppt/media/image6.png" Id="R05a190edeab54ebf" /><Relationship Type="http://schemas.openxmlformats.org/officeDocument/2006/relationships/notesSlide" Target="/ppt/notesSlides/notesSlide3.xml" Id="R0462bd9385ce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f8eed2b804300" /><Relationship Type="http://schemas.openxmlformats.org/officeDocument/2006/relationships/image" Target="/ppt/media/image7.png" Id="Rd575edf5b5504304" /><Relationship Type="http://schemas.openxmlformats.org/officeDocument/2006/relationships/image" Target="/ppt/media/image8.png" Id="R08a9384a9b014eb6" /><Relationship Type="http://schemas.openxmlformats.org/officeDocument/2006/relationships/notesSlide" Target="/ppt/notesSlides/notesSlide4.xml" Id="R7bc6109bf5ca4f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7185760c54b17" /><Relationship Type="http://schemas.openxmlformats.org/officeDocument/2006/relationships/image" Target="/ppt/media/image9.png" Id="R7848b52038474fdd" /><Relationship Type="http://schemas.openxmlformats.org/officeDocument/2006/relationships/image" Target="/ppt/media/image10.png" Id="R258397015a9b4085" /><Relationship Type="http://schemas.openxmlformats.org/officeDocument/2006/relationships/notesSlide" Target="/ppt/notesSlides/notesSlide5.xml" Id="R4d9ccabce695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c156038284f68" /><Relationship Type="http://schemas.openxmlformats.org/officeDocument/2006/relationships/image" Target="/ppt/media/image11.png" Id="R1d46c35e77514d3e" /><Relationship Type="http://schemas.openxmlformats.org/officeDocument/2006/relationships/image" Target="/ppt/media/image12.png" Id="R18727e489c0c4865" /><Relationship Type="http://schemas.openxmlformats.org/officeDocument/2006/relationships/notesSlide" Target="/ppt/notesSlides/notesSlide6.xml" Id="Rf928ea883854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69161f3b34535" /><Relationship Type="http://schemas.openxmlformats.org/officeDocument/2006/relationships/image" Target="/ppt/media/image13.png" Id="Rc0409c9fc1d64398" /><Relationship Type="http://schemas.openxmlformats.org/officeDocument/2006/relationships/image" Target="/ppt/media/image14.png" Id="R7c386a10b73b466e" /><Relationship Type="http://schemas.openxmlformats.org/officeDocument/2006/relationships/notesSlide" Target="/ppt/notesSlides/notesSlide7.xml" Id="Rfc88831e29294c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34b9ad3534ef2" /><Relationship Type="http://schemas.openxmlformats.org/officeDocument/2006/relationships/image" Target="/ppt/media/image15.png" Id="R6839aaeb9aa94d91" /><Relationship Type="http://schemas.openxmlformats.org/officeDocument/2006/relationships/image" Target="/ppt/media/image16.png" Id="R5ce351a7fa5a4eab" /><Relationship Type="http://schemas.openxmlformats.org/officeDocument/2006/relationships/notesSlide" Target="/ppt/notesSlides/notesSlide8.xml" Id="R65f2c04330cc4a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420341ea04e4f" /><Relationship Type="http://schemas.openxmlformats.org/officeDocument/2006/relationships/image" Target="/ppt/media/image17.png" Id="R2632f1eacf57423a" /><Relationship Type="http://schemas.openxmlformats.org/officeDocument/2006/relationships/image" Target="/ppt/media/image18.png" Id="R62a55664335440ec" /><Relationship Type="http://schemas.openxmlformats.org/officeDocument/2006/relationships/notesSlide" Target="/ppt/notesSlides/notesSlide9.xml" Id="R277c50181a1f4e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b6734531b4a57" /><Relationship Type="http://schemas.openxmlformats.org/officeDocument/2006/relationships/image" Target="/ppt/media/image19.png" Id="R84ca6bc779c84136" /><Relationship Type="http://schemas.openxmlformats.org/officeDocument/2006/relationships/image" Target="/ppt/media/image20.png" Id="Rc2fe1cff1ee240b5" /><Relationship Type="http://schemas.openxmlformats.org/officeDocument/2006/relationships/notesSlide" Target="/ppt/notesSlides/notesSlide10.xml" Id="R224a996088c047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43d459f48a4337" /><Relationship Type="http://schemas.openxmlformats.org/officeDocument/2006/relationships/image" Target="/ppt/media/image21.png" Id="R492c0159d7374c65" /><Relationship Type="http://schemas.openxmlformats.org/officeDocument/2006/relationships/image" Target="/ppt/media/image22.png" Id="Rd65fdfc1a3eb4d98" /><Relationship Type="http://schemas.openxmlformats.org/officeDocument/2006/relationships/notesSlide" Target="/ppt/notesSlides/notesSlide11.xml" Id="Rca81c1206d8a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f949570ad48e0" /><Relationship Type="http://schemas.openxmlformats.org/officeDocument/2006/relationships/image" Target="/ppt/media/image23.png" Id="Redf267d44a7a4fd9" /><Relationship Type="http://schemas.openxmlformats.org/officeDocument/2006/relationships/image" Target="/ppt/media/image24.png" Id="Reb30f3976c4f4dc2" /><Relationship Type="http://schemas.openxmlformats.org/officeDocument/2006/relationships/notesSlide" Target="/ppt/notesSlides/notesSlide12.xml" Id="R1873da57530a42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35ec1c7264971" /><Relationship Type="http://schemas.openxmlformats.org/officeDocument/2006/relationships/image" Target="/ppt/media/image25.png" Id="Rb4df95304eb34dc3" /><Relationship Type="http://schemas.openxmlformats.org/officeDocument/2006/relationships/image" Target="/ppt/media/image26.png" Id="Rd86619169b6f477c" /><Relationship Type="http://schemas.openxmlformats.org/officeDocument/2006/relationships/notesSlide" Target="/ppt/notesSlides/notesSlide13.xml" Id="R4bf4f06f2d4d49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2a7ea75d54072" /><Relationship Type="http://schemas.openxmlformats.org/officeDocument/2006/relationships/image" Target="/ppt/media/image27.png" Id="R3fd362d52ef349ab" /><Relationship Type="http://schemas.openxmlformats.org/officeDocument/2006/relationships/image" Target="/ppt/media/image28.png" Id="R66ee3ef1b5444387" /><Relationship Type="http://schemas.openxmlformats.org/officeDocument/2006/relationships/notesSlide" Target="/ppt/notesSlides/notesSlide14.xml" Id="Ra439e1b0953045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b0e19d0914b28" /><Relationship Type="http://schemas.openxmlformats.org/officeDocument/2006/relationships/image" Target="/ppt/media/image29.png" Id="R253b7f6f52b44cc6" /><Relationship Type="http://schemas.openxmlformats.org/officeDocument/2006/relationships/image" Target="/ppt/media/image30.png" Id="R34d445e8f9ff4135" /><Relationship Type="http://schemas.openxmlformats.org/officeDocument/2006/relationships/notesSlide" Target="/ppt/notesSlides/notesSlide15.xml" Id="Ra78871bb960841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9ed26470b4ef9" /><Relationship Type="http://schemas.openxmlformats.org/officeDocument/2006/relationships/image" Target="/ppt/media/image31.png" Id="R88ca233f12074e28" /><Relationship Type="http://schemas.openxmlformats.org/officeDocument/2006/relationships/image" Target="/ppt/media/image32.png" Id="Re060f30ae6934eb4" /><Relationship Type="http://schemas.openxmlformats.org/officeDocument/2006/relationships/notesSlide" Target="/ppt/notesSlides/notesSlide16.xml" Id="Rc5edf1e632124d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d0932fa8d46f4" /><Relationship Type="http://schemas.openxmlformats.org/officeDocument/2006/relationships/image" Target="/ppt/media/image33.png" Id="R8718e2da8d814185" /><Relationship Type="http://schemas.openxmlformats.org/officeDocument/2006/relationships/image" Target="/ppt/media/image34.png" Id="R1ee28d2899b04456" /><Relationship Type="http://schemas.openxmlformats.org/officeDocument/2006/relationships/notesSlide" Target="/ppt/notesSlides/notesSlide17.xml" Id="Re263de74a23246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9f90fcdce4455" /><Relationship Type="http://schemas.openxmlformats.org/officeDocument/2006/relationships/image" Target="/ppt/media/image35.png" Id="R2c4550cf970d4b6e" /><Relationship Type="http://schemas.openxmlformats.org/officeDocument/2006/relationships/image" Target="/ppt/media/image36.png" Id="R20c6632ebcdc4e9c" /><Relationship Type="http://schemas.openxmlformats.org/officeDocument/2006/relationships/notesSlide" Target="/ppt/notesSlides/notesSlide18.xml" Id="Redff56d9ad174b6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89a8d2bc84bee" /><Relationship Type="http://schemas.openxmlformats.org/officeDocument/2006/relationships/image" Target="/ppt/media/image37.png" Id="R405dc985e16c418c" /><Relationship Type="http://schemas.openxmlformats.org/officeDocument/2006/relationships/image" Target="/ppt/media/image38.png" Id="R69619fcd8e564cc2" /><Relationship Type="http://schemas.openxmlformats.org/officeDocument/2006/relationships/notesSlide" Target="/ppt/notesSlides/notesSlide19.xml" Id="Rf59085efe5d1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DD58A-BD49-48F6-AB6D-4CB01BDA4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df9241ee44f68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EBF0F-BD5F-45E9-AC4C-782C36AF3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2a185d59e4ae3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DA3E9-3578-4C19-9151-23C4E224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F34F4-D4F3-4710-A585-5F049D0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Ripple counters and asynchronous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4364-E707-493E-ACF2-BD550B08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10 · Lecture 2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3803-D7B9-4118-B1CC-BEA35EDB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6D568-AB1E-46A6-AFBA-4389CDC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FF54C-2F85-40E8-849C-B43172D9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</p:spTree>
    <p:extLst>
      <p:ext uri="{BB962C8B-B14F-4D97-AF65-F5344CB8AC3E}">
        <p14:creationId xmlns:p14="http://schemas.microsoft.com/office/powerpoint/2010/main" val="1429992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B6099-8CB9-4441-8554-D26377F2C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a7a1ce36543d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6B655-E90F-4A0B-93B7-F5C948E46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a78116ed8434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541F7-FB87-4463-BE4F-F0B5A11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97511-18AE-4E1A-ABDA-26481C8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1A8AE-B86A-44AC-A907-FE45DEC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6E114-9AB1-4F25-832F-4943DF6D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5D754-FF9F-4F3A-A04F-1A6ACA1C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B64B7-03E3-4C37-A950-A310883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6B80D-04AA-4E89-A462-C4506A59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AD6DB-19AA-4DA4-BA6F-B857B5B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DD199-FEA6-4189-9ADF-E737FCBA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3FB36-6C4D-4CE8-ABE5-A1DDDF9D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4DD69-1AD1-4135-8237-C0FAFBE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1A127-4283-4F88-8C0D-F77BA15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6931C-163A-47D4-AB72-80C96327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07374-F83E-4233-8C42-0FAE018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04, Ripple counters and asynchronous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EA013-A6F5-4B84-BB3F-6779A77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ED04D-EDEF-44F7-98A8-4B67B890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A54E1-3769-4557-8A7A-B51CFDBF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DA134-C452-47E3-9AD6-B3BAC7E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1927142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2670F-B030-48FF-938A-894B8FB00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b7e8e1dc04310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BFDE5-167F-4183-B50D-F81C3BAE0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190edeab54ebf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7707-F8F4-4388-BB5E-2363BBA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330AB-38A5-47BA-8761-59E3ED5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83841-443C-4484-B9CD-922748FD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77849-0D1A-4C6A-9246-AE0EF5A1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7D9FF-9109-44C0-BA8A-A8AC0788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6725A-0017-4262-8798-EB2BF13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C9590-36EB-46D9-9189-D10C2DE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E491B-7F53-4770-A214-0DA17863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C853E-83FD-4D82-8238-107ABD26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3AA8B-6F01-40DC-8E0D-54BE779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C11B0-3B57-49E5-B09E-50B0F56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a ripple counter through transient codes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B028C-63E7-4011-823C-051A1E5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9B3E6-A1F6-4717-8A50-DEDA210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Explain propagation delay and decode glitches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A07A1-DA28-4A31-B093-3ECB19A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4002C-18EF-4D8F-B0DF-66E9527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Recognize a fundamental-mode asynchronous state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66509-AEB7-4D1D-B697-B6034AC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Asynchronous sequential circuits and ripple counters</a:t>
            </a:r>
          </a:p>
        </p:txBody>
      </p:sp>
    </p:spTree>
    <p:extLst>
      <p:ext uri="{BB962C8B-B14F-4D97-AF65-F5344CB8AC3E}">
        <p14:creationId xmlns:p14="http://schemas.microsoft.com/office/powerpoint/2010/main" val="502192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04877-133D-4A70-ABF4-86C896462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5edf5b550430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E0EC4-99E5-4C24-BA57-1A1CC5C6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9384a9b014eb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408EB-1D3C-4AF0-8072-505F823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CD3B3-0325-43C3-901A-6116A621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FBED0-A52E-4931-A4AF-7F367B9A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67E4F-B18C-4824-B4CA-90814E72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91F3D-ABC6-431F-83AD-B5C3FEFB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8C3DB-4715-4333-A7A0-F0DDFD34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16534-3255-441D-825C-72F52D4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68C4B-E417-42AF-BDE4-6E9ACC1D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240B-A423-46D2-9B50-EC828560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2868C-D8E5-4820-A3B8-D2999EB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changes when state elements do not update on one shared 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23F68-447F-4D72-AA43-F124C57C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1414479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D3A53-0ECB-4CB0-8E3E-1D4613B0D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8b52038474fd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7CBE3-173C-4D3D-A691-19E0204F5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397015a9b408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CA085-8558-426E-8D1B-C2361C1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6A21-4926-4C06-A11A-0CFD963E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16526-9403-48B2-B292-094ACBD4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C793D-EFCD-45BF-BA80-BEA30BAA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3B753-71C7-4DAF-82EE-C79910BB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627C-9A75-46B9-B65B-4FA1CD97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F6F93-7A3B-4D02-B244-4069351B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B3081-E854-42FB-9F57-81E4ECE9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8576F-1FA6-41A2-906D-CEA62AA6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38AEE-51E9-43C7-84D0-D80A60A1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4AF18-82EA-497D-95CC-D598B090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synchronous design samples all stages on one clock 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19D00-FBD8-42F0-91EB-533456E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6717B-9699-4DE8-A1A2-FE756AB4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1E527-3219-489B-B034-4BAC041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T stage changes state when a triggering edge arrives.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C4957-8AF9-4E78-A8BB-0CEDEA37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6D30A-DDB6-446E-80AC-882B3F76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D6CDE-D9DC-4BEE-8DC9-7D221643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Combinational decoding responds to intermediate signal values.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C5D9B-EAEC-40B7-82FC-7C81A30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501931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C9710-6547-4E03-997C-8E4A4E29B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6c35e77514d3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4B88A-D4EF-4140-84E2-90AF3AA8D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27e489c0c486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636B4-85B8-49D9-B574-D1F61DE5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56A10-ACC4-4BD6-B296-37F0491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B775-5414-48C7-B4B0-370456E0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8B7DF-72FA-4AAE-8258-6AF3F3B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D9259-A11E-43DA-97F8-25139A36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2B2AD-A269-4A79-95AD-DA19DB83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8D1D1-07B6-48D0-9417-C675E6CA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F6968-8660-4A8C-98EB-B379B9C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8BFA4-8187-44CF-AB92-D780CC7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41B2D-7664-44D9-B75C-F15D2CC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ripple counter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76CA1-2A49-4B90-8EC9-BBABC939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 counter stage clocks the next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2CE42-A3AB-4808-B976-9BFDB09C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2F7E1-621C-41A4-97DD-2C1D511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propagation 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C3CBE-A31C-4A5A-978C-EE1F3337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time between a triggering event and its output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BCEC2-9168-4B49-A7C6-63C2698A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C49EC-4118-4202-AC0D-B57DE2F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transient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BBFA8-2E1F-47B0-A2BC-3F626B4C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temporary bit pattern before settling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0EB9D-679E-4AFB-ABB9-E8827B29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6876F-22E2-4468-8A0B-36F9D2A1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fundamental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339F8-0D77-4A17-AC0A-0516515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 external input change followed by settling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0127C-C20E-4E11-999E-F15B4CAB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417270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FBB5C-9E0A-458C-973B-22A3E8A42A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09c9fc1d6439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E5B0D-AF24-4F8B-9B2D-F2424252F5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86a10b73b466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D7235-1016-4C20-9497-183F96A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5A46-DDF7-4FF8-ADA6-DFC1B94C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96DF-683F-4589-80F3-505F76B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5E4CF-B2BE-4281-85D2-624B8462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CA011-59AD-4B16-9E8A-72DBA450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4C41-1AA9-42EB-8529-6DDB0A0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A236C-8AC3-48E4-B70C-4862BE5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2365-AD76-4C6B-B0BE-90E4103F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11E59-7D47-4F2B-B765-F761E28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2321C-F477-4E86-9655-98BB212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the triggering edge of every stage.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1DAF3-F5F5-4C9E-9A08-F33D9D3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8DC30-3F8B-4925-9A55-77C09DF5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the first stage change, then each induced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A335D-F119-4243-9C9F-D6806A78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77590-1C43-42A6-A832-08862759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Separate transient codes from the final settled count.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23B0F-FA8A-4689-9C63-60BA124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B7AEE-6C44-4E83-8462-C659F7B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What changes when state elements do not update on one shared edge?</a:t>
            </a:r>
          </a:p>
        </p:txBody>
      </p:sp>
    </p:spTree>
    <p:extLst>
      <p:ext uri="{BB962C8B-B14F-4D97-AF65-F5344CB8AC3E}">
        <p14:creationId xmlns:p14="http://schemas.microsoft.com/office/powerpoint/2010/main" val="1088922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5A73D-A5ED-4C9A-AC95-FBDF98C99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9aaeb9aa94d9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96D06-7856-449A-9F95-15485DB0B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351a7fa5a4ea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D0FD6-D908-4194-80A4-02E4C08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7129F-14EB-4DA5-9D13-8F30805D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7B28F-9B13-43CF-9FDB-762E0535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439CB-3D5B-473E-BDC8-14FED8ED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CD68D-F6ED-4F9A-875D-A9D68C6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D4671-488D-48D6-8686-5D5C1C1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7D3DD-6E80-490F-9F27-B803928C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58BE9-7CFE-43FE-AFF0-97C626CD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1309-974C-4D71-A904-32DA710F9727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30600"/>
                <a:gridCol w="3530600"/>
                <a:gridCol w="35306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Synchronous counter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Ripple counter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Clocking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Common clock to all stages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One stage clocks the next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Near one edge after logic delay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Cascaded propagation delays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Decode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Stable after settling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May see intermediate codes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75B8B-80CB-411A-AB43-C1333833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2229541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59307-7846-4300-9E2C-7C34D68FD3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2f1eacf57423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D9378-F567-4614-A1BD-0ADFA2908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55664335440e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36888-B89F-4420-AF1D-7E1BAA7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AF285-4BF5-4745-88FF-553FD4B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CCA78-A1A4-446B-9BD1-83DD496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76648-06ED-4944-BD34-83B3DDD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33870-0347-4647-82AB-6E6C3604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8139-D6AA-4CEC-B25B-7C729CD5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B932D-BBBE-4BE7-81FC-354F4EEF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5EDB3-9650-4D14-9779-2F5850EA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FA2D5-B889-4B01-AED0-D015301B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61780-00FB-4467-ACA0-A3D73E06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4F42A-5EC9-4C4C-8A05-14A0EF7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which clock edge triggers each stage and in which bit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1CC03-4A03-42A1-8F33-A78762F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84A46-4A73-43DD-875B-7F23BDE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1498D-16B5-45F5-A4D0-4031DAB2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every stage transition and include transient codes before the settled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D1560-B592-4985-BF3D-98B6266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8A2B6-9974-43ED-BB92-30E9F13C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D3DC9-6B2C-4D9D-9AE1-8CBBB1B1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For asynchronous feedback, list stable input/state combinations and check the one-input-change assumption.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0D118-0F4C-4823-A7C3-5A24243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40555-32A5-4CD1-B4FC-9D7BADB3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1309804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1F457-A6DC-49F9-8C0E-F8FA69447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a6bc779c8413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D7F38-053F-49AB-AEB4-ADDA2957A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e1cff1ee240b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385C9-6E20-4C3E-B17D-145100FD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280F2-B83B-4B2E-8636-1E036B6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Trace 011→100 in a ripple counter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A97DB-58C5-4E55-AA34-0CECA8F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C43CA-E256-4FCF-A7FA-B460B223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A865-86FD-4363-9399-34F3584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E85C7-89EC-4465-A107-7ECCD10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37D5E-5FB4-459D-BEE8-477CF49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805BD-9C10-4A2C-B5B7-EEB440F4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2D530-3068-4561-9767-D96FF72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9E1D1-F77B-45A0-B4DC-87B7674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three-bit falling-edge toggle chain starts at Q₂Q₁Q₀=011. Show the order after the next external clock event.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1E0AC-3FE9-4E20-86E3-8C7347D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43193-886D-4A0C-ACDD-C0692074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Q₀ toggles from 1 to 0: 011→010.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34969-A5BA-4AD6-B91E-9A0DFF0F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E4B55-9B2A-443D-9094-1D5306F0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That falling edge clocks Q₁, which toggles 1→0: 010→000.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0EE71-66B1-442C-A4A5-02C56946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FC8E2-CD3E-4266-82A8-A7FDB353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Q₁ falling clocks Q₂, which toggles 0→1: 000→100.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21F70-B12A-4C33-AB9C-7DAEB792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883A9-DA4D-42A8-B744-5234788A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Only 100 is the settled count. 010 and 000 are transient.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2F372-2917-4688-9E52-973A9D2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E7154-A9DA-4FD1-B7F9-1BF0C62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observed path is 011, 010, 000, 100.</a:t>
            </a:r>
          </a:p>
        </p:txBody>
      </p:sp>
    </p:spTree>
    <p:extLst>
      <p:ext uri="{BB962C8B-B14F-4D97-AF65-F5344CB8AC3E}">
        <p14:creationId xmlns:p14="http://schemas.microsoft.com/office/powerpoint/2010/main" val="627664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5B3C7-0791-4F50-9BE7-46DBF7CBB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0159d7374c6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3E7D5-3DBE-4FE6-AD62-2C15CE6BB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fdfc1a3eb4d98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33518-B914-48A8-A30E-BC06D481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04499-7908-4E9F-8371-D020FF7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AA58B-9B08-4252-9DA5-BB6C5827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3BE01-72BD-4B40-B255-4F390A55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E3AA9-7782-4516-BAAA-329B8B07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D36D0-8CA0-4C01-A93E-1BDBE3F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1D6CB-347A-4503-B709-A92403A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5310A-B962-4D2A-B7E9-DEF9240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678D3-6805-4E42-97E5-0AC2AD4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01D1-3718-4C60-8BF1-3F4B8B24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Synchronous counter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21102-A5B3-43BC-8C25-D071CAEB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All stages share the external clock.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8D459-21CF-4C0B-933F-478C036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bits update around one edge.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5A2D2-3C80-4E31-8A21-F1B44B8F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Ripple counter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94FA1-890E-4E1D-B507-68F3EF7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Each stage clocks the next.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FD695-B4E3-40DF-8062-9E4A8C8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Transitions occur in sequence after delay.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571B7-D76F-496F-A8D9-D141CD3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CCCDC-DF56-4E89-BFAF-FD658386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1139215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6DB12-AD40-4826-B35B-C14D37694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267d44a7a4fd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81A22-04F1-407D-806C-F62564CF2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0f3976c4f4dc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2AF4A-BC6B-42FD-82EA-372EEA2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491E0-03B8-49C8-9C84-21C7AC26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Propagation-delay microscope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C98B-558D-485E-B09F-417B6666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6DB95-7B79-4629-AB24-538A2AD3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3056-4565-4B08-BE25-A67EA08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721F2-0940-462F-9C0F-4014C49A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214F7-25D9-4E1E-99D5-F68DAA1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92261-232F-4509-BB88-8E78CE0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ECF74-D17C-454B-83E5-77013DF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19400"/>
            <a:ext cx="16287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52FED-5F6A-4C19-9532-EFD69B2B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9560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A2A68-8593-45BF-B785-C74A4C5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A8021-00BD-4E0A-A965-A27B83EC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16287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03D86-130F-4726-B20E-CAE8043F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9D384-F816-488C-B154-35DE7131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E825C-55C4-402A-B77B-C6B3AE1B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19400"/>
            <a:ext cx="16287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B48C6-E0E4-4F9D-8FDC-36CECF8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1419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6A66C-438F-4FA1-8189-B9280A9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62425"/>
            <a:ext cx="6010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011 → 010 → 000 →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D1727-BA65-4E1B-AD10-B402772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Step the counter and watch intermediate bit patterns. Slow motion makes the ripple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55B75-EF6A-4C43-B017-9609E8F5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lesson-04.html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5204669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33B90-FD4C-42AE-A42E-A06D0A81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7D154-A9B1-4537-A69B-AF6491C47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f95304eb34dc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173D9-4D2F-4A44-90E3-D438BE23EF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619169b6f477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93284-7BE9-4F14-96A3-7C260D76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44D7-1E09-4D86-B6C8-3AA2BB7A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L18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96D00-BFAF-4B56-BE69-676082A7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5A700-DE96-4837-9250-62969D19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Trace 011 to 100 in a three-stage falling-edge ripple counter. Identify each temporary code a decoder could see.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23B44-128A-4E21-A8F6-DA394FB9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which clock edge triggers each stage and in which bit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C2365-61AB-4487-BD85-D468B98E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21671-AC39-4739-87A9-D13AA6C1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0614E-06C5-47DF-80DE-892F9E4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An ordered transition trace and one possible decode hazard.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C6815-C967-4CB0-9085-6643684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7F786-739F-4D05-AB4E-1E2CAAE4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79964-E18C-4DC8-B6D8-90364068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L18  |  Week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BBB74-A4C5-4AB0-A56F-E328281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C634C-98F0-4532-8420-3F3315E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97DD2-4E4F-4A50-9AA9-0D59934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7113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26DC8-D7D5-4247-BF25-031D4EA84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362d52ef349ab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7392C-BFA5-4DAE-B952-38B87BA7B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e3ef1b544438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0006D-1AA6-4221-8727-0A237B1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0C77A-E271-4FC3-94B3-1431F52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1BA0A-121A-4528-99F4-E2AF721F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9F027-AD4F-487E-8246-458686A6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1E3A4-F988-4891-847F-D23CA940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B2F9-9431-42E0-A7FD-7C3312B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65189-8A2D-4F26-A4F2-5911D121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B524B-D5BD-41D0-9C3D-451158D9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774BB-5062-4465-8C94-42124F92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8916E-0E9C-4A2B-BD82-4031FC14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request S sets an indicator; clear R resets it. The events never assert together. Derive the next-state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8E5DE-E9C6-4AA7-A6CA-D504F79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F60EF-8C94-42EE-90E7-1BD3B42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the stable cases: 00 holds Q, 10 sets Q to 1, and 01 resets Q to 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9E818-30D1-43E3-8AFF-DCC8277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17710206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A49A0-49D8-4E77-8A60-D6FE698C1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b7f6f52b44cc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97251-847F-4361-8564-CA1D1D452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445e8f9ff413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731E7-795F-4E90-92C9-0D81687F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AE970-734F-4C86-A1D8-87A1F8F2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975A1-F4EC-4E7F-9CB7-C1DA3C2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FC8B-33E5-4C5A-850F-4092D78A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A7B66-9ECD-4935-8E5A-BE5B273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FD797-6029-4F97-9EE9-BD3307B4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066BD-B710-447B-8BA5-F2CAC1E1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AB3B6-FA25-4F6F-9B8A-AADB566B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D0105-EF90-4CCF-8E3D-963CC75B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57189-8769-4145-AE36-E08C1000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ED950-5F0A-422A-B314-D3AE9316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List the stable cases: 00 holds Q, 10 sets Q to 1, and 01 resets Q to 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6BCD5-41A1-4E65-BFE8-F5BE3A3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2BEDD-8141-463C-9ABC-8792009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A625B-C307-4431-81F3-73BB924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 a present-state column to cover Q=0 and Q=1 for each permitted input pair.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7830A-789F-4605-8835-CA64E46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46AF0-439C-4A03-9592-9ABC29D7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81C60-B384-458A-8EB7-4EC35FA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The set term S makes Q⁺=1 whenever S=1. The hold term QR′ preserves Q when R=0.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5A055-F7D7-41DF-9FB2-6CD3AFD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6B604-2514-4DBB-AB8F-77AFAA7E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CDA0C-7F77-49F6-9EF7-C2034096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Combine them as Q⁺=S+QR′, valid for the specified mutually exclusive inputs.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F69CD-45B5-40E3-B4DC-388A0856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FB29B-2BA3-4AE6-83C2-487B4B30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An active-high SR latch realizes the rule. Input 11 is outside the specification and must be prevented or resolved by design.</a:t>
            </a:r>
          </a:p>
        </p:txBody>
      </p:sp>
    </p:spTree>
    <p:extLst>
      <p:ext uri="{BB962C8B-B14F-4D97-AF65-F5344CB8AC3E}">
        <p14:creationId xmlns:p14="http://schemas.microsoft.com/office/powerpoint/2010/main" val="4358442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57DC5-D7CE-4989-99A3-25895B73C9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a233f12074e2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89F70-8A2B-4485-B42E-4D1457156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0f30ae6934eb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57BD-884C-4C40-8911-92907390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26659-A206-45E3-A43E-3BE185E4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A4B3F-447E-4B08-8715-0D5C926A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C3894-F6C4-47F0-AD60-1310EC4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1538-37ED-4162-9EED-09C68E92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E4E7D-B443-408E-9B4C-9A763D9A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6D12C-D26E-4ACD-A1E2-03631D14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FE0C4-043B-4755-B802-1BCF165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4F4D1-0288-4CA8-86D8-FD80DB0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7E7B4-C1D0-4DCF-9AD0-74DAFD7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418DB-3186-44F4-ACCB-EF4B9F8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All ripple-counter bits change at the same instant.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4194A-3269-4063-9AFF-EC7221EF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3B8CD-E971-4799-9C87-7F70B582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C2BEA-3BA9-4AE2-BDE3-6FD952DF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Each stage waits for the preceding stage’s triggering edge.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8C7AD-773B-4C60-B59A-2C449DE3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7B74A-1281-43F6-B767-F9CDCF63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DF800-6654-45A2-98A6-C3E8CBF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every intermediate code in time order.</a:t>
            </a:r>
          </a:p>
        </p:txBody>
      </p:sp>
    </p:spTree>
    <p:extLst>
      <p:ext uri="{BB962C8B-B14F-4D97-AF65-F5344CB8AC3E}">
        <p14:creationId xmlns:p14="http://schemas.microsoft.com/office/powerpoint/2010/main" val="4163301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CB03F-30F3-49CC-B19C-3F61DDEBE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8e2da8d81418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4CD7-9AE1-4393-9DB0-CEE3B238A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28d2899b0445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04F01-670F-4CC5-8C20-B0185CBE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E2FC-FD57-4856-94F4-B9C23E9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5AD02-4937-4146-81A1-6CBE00F5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ED82-0940-4C9B-BD90-22045A81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8C1D9-CA73-4E32-AA61-FEFA1D0A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D671-CB87-4129-8FFE-BE7D7111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B7277-A062-43A9-907B-809364D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1FA8E-EF6F-4A37-A1D9-ED27E566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C710B-CF78-4C4E-8C20-78E51FE9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18D6F-0F3D-4F78-B0C4-7886C4F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What intermediate codes can appear during ripple transition 001→010?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DA57C-B953-4B1D-88E2-463552D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A56FE-8034-466F-BDBC-5D60070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Why might a decoder connected to ripple outputs produce a narrow pulse?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C9CE5-A8E1-4537-AF8D-26BF5786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4662327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FE2D9-76CA-4B1D-A0D8-EE8406053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550cf970d4b6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8B41C-48D5-4620-AA72-0D77B8D1E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6632ebcdc4e9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35018-3A28-409D-A944-8A1E245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D3337-F3C4-4191-90EB-3EE1069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A1D3F-6544-4C94-8BA9-DD952344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031A8-335B-4252-8272-F81C437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EA039-1A9F-4F0C-94E9-CA5B004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DA6A-37C5-46EB-8C35-6718B1B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49A5A-9CD9-4FB9-B100-4F8686C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42610-CC9C-42E2-8EC1-A145B10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44859-A117-4276-9E11-C4AA1F8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995AF-CE97-4079-BF86-BD64881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5945D-4006-430A-BE26-9923B87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001→000→010.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9B5F7-8D6D-4277-81F7-96E47073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8C8D5-1083-47CC-8152-AB58AB7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8C2D7-3ABF-4E77-B028-37BDEEE1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Its Boolean condition can become true briefly for a transient state even when the starting and final states do not require that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7C280-52BF-4AF3-954E-209627A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1803853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B63F9-662A-43F0-9D00-7140DCC01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dc985e16c418c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94C9B-52C0-4B8E-B212-94B2ED69E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19fcd8e564cc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BF2EE-E5FF-46AC-A3A2-D081BC26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L18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3C03-0ABD-4FCF-A3BA-BC2D377A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A227A-5EFE-400C-AE65-5B13545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DCFAA-2C18-4CA7-B85A-38F81093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9625E-1803-4D8D-BE8A-BDBFBF55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7 §7.3, pp. 447–450; timing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07444-385D-4F40-95A0-2DAE017A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L18  |  Week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C7031-074F-40E1-83BD-EC52345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8D72B-917D-4FD2-9A0C-455F0197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29BAB-7EEA-4EAB-8EA0-71DBC20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69CF1-A5B7-4027-976F-C00773E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Trace a ripple counter through transient codes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DAD7C-4A4D-4FDF-8768-858E3010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00C90-4E1A-4B61-94F7-D7B3ADDD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Explain propagation delay and decode glitches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EE00C-73AD-441A-A49A-90986AA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43366-0675-450B-8291-D786E46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Recognize a fundamental-mode asynchronous state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4C8F7-BDAA-43BB-8DD6-54B692C4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CA2E8-5483-41BF-8D9B-27CA7E8B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60F15-8359-450A-AD7E-6413DF2D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Registers and counter families. Use lesson-05.html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380252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2026-10-13T11:24:34.2730000Z</dcterms:created>
  <dcterms:modified xsi:type="dcterms:W3CDTF">2026-10-13T11:24:34.2730000Z</dcterms:modified>
</coreProperties>
</file>