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2e8ffd4d9334849" /><Relationship Type="http://schemas.openxmlformats.org/officeDocument/2006/relationships/extended-properties" Target="/docProps/app.xml" Id="R10abb5ff4a3a4b96" /><Relationship Type="http://schemas.openxmlformats.org/officeDocument/2006/relationships/officeDocument" Target="/ppt/presentation.xml" Id="Racd3f6cf839e485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3cacd4d9e3845c7"/>
  </p:sldMasterIdLst>
  <p:notesMasterIdLst>
    <p:notesMasterId xmlns:r="http://schemas.openxmlformats.org/officeDocument/2006/relationships" r:id="R5b91796e0fbe4bbb"/>
  </p:notesMasterIdLst>
  <p:sldIdLst>
    <p:sldId xmlns:r="http://schemas.openxmlformats.org/officeDocument/2006/relationships" id="256" r:id="R580d215fd6dc4bc5"/>
    <p:sldId xmlns:r="http://schemas.openxmlformats.org/officeDocument/2006/relationships" id="257" r:id="R4a5ebc2ea65846a1"/>
    <p:sldId xmlns:r="http://schemas.openxmlformats.org/officeDocument/2006/relationships" id="258" r:id="R0b9b62d74efa4d31"/>
    <p:sldId xmlns:r="http://schemas.openxmlformats.org/officeDocument/2006/relationships" id="259" r:id="Re7b403386bcd44d1"/>
    <p:sldId xmlns:r="http://schemas.openxmlformats.org/officeDocument/2006/relationships" id="260" r:id="Ra167297644824c8d"/>
    <p:sldId xmlns:r="http://schemas.openxmlformats.org/officeDocument/2006/relationships" id="261" r:id="R1c6d63c5e9b04402"/>
    <p:sldId xmlns:r="http://schemas.openxmlformats.org/officeDocument/2006/relationships" id="262" r:id="Rc55a55724571402e"/>
    <p:sldId xmlns:r="http://schemas.openxmlformats.org/officeDocument/2006/relationships" id="263" r:id="Re3f3bac052864e1d"/>
    <p:sldId xmlns:r="http://schemas.openxmlformats.org/officeDocument/2006/relationships" id="264" r:id="Rd27748a560194d78"/>
    <p:sldId xmlns:r="http://schemas.openxmlformats.org/officeDocument/2006/relationships" id="265" r:id="Rbe7b445d03b144fd"/>
    <p:sldId xmlns:r="http://schemas.openxmlformats.org/officeDocument/2006/relationships" id="266" r:id="R5be71223d8794825"/>
    <p:sldId xmlns:r="http://schemas.openxmlformats.org/officeDocument/2006/relationships" id="267" r:id="R4cc1f358dd204bbb"/>
    <p:sldId xmlns:r="http://schemas.openxmlformats.org/officeDocument/2006/relationships" id="268" r:id="R2312326a43f542f0"/>
    <p:sldId xmlns:r="http://schemas.openxmlformats.org/officeDocument/2006/relationships" id="269" r:id="R80aa25261f5d4cbe"/>
    <p:sldId xmlns:r="http://schemas.openxmlformats.org/officeDocument/2006/relationships" id="270" r:id="R61a068ad374b461d"/>
    <p:sldId xmlns:r="http://schemas.openxmlformats.org/officeDocument/2006/relationships" id="271" r:id="R2366d2e0b7714067"/>
    <p:sldId xmlns:r="http://schemas.openxmlformats.org/officeDocument/2006/relationships" id="272" r:id="R2cb02f8d67b64101"/>
    <p:sldId xmlns:r="http://schemas.openxmlformats.org/officeDocument/2006/relationships" id="273" r:id="R44ed3f2caa09403e"/>
    <p:sldId xmlns:r="http://schemas.openxmlformats.org/officeDocument/2006/relationships" id="274" r:id="Rad31b2a012b443d4"/>
    <p:sldId xmlns:r="http://schemas.openxmlformats.org/officeDocument/2006/relationships" id="275" r:id="R8d9492ae5329436d"/>
    <p:sldId xmlns:r="http://schemas.openxmlformats.org/officeDocument/2006/relationships" id="276" r:id="Rf9f890d230f345b7"/>
    <p:sldId xmlns:r="http://schemas.openxmlformats.org/officeDocument/2006/relationships" id="277" r:id="R6aa5da82d4994639"/>
    <p:sldId xmlns:r="http://schemas.openxmlformats.org/officeDocument/2006/relationships" id="278" r:id="R24555ca860fa4014"/>
    <p:sldId xmlns:r="http://schemas.openxmlformats.org/officeDocument/2006/relationships" id="279" r:id="Rd7e377d19c944ef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3579b99469943b7" /><Relationship Type="http://schemas.openxmlformats.org/officeDocument/2006/relationships/slideMaster" Target="/ppt/slideMasters/slideMaster1.xml" Id="R93cacd4d9e3845c7" /><Relationship Type="http://schemas.openxmlformats.org/officeDocument/2006/relationships/notesMaster" Target="/ppt/notesMasters/notesMaster1.xml" Id="R5b91796e0fbe4bbb" /><Relationship Type="http://schemas.openxmlformats.org/officeDocument/2006/relationships/presProps" Target="/ppt/presProps.xml" Id="Rd9600d952a354295" /><Relationship Type="http://schemas.openxmlformats.org/officeDocument/2006/relationships/tableStyles" Target="/ppt/tableStyles.xml" Id="R65df56b970864837" /><Relationship Type="http://schemas.openxmlformats.org/officeDocument/2006/relationships/slide" Target="/ppt/slides/slide1.xml" Id="R580d215fd6dc4bc5" /><Relationship Type="http://schemas.openxmlformats.org/officeDocument/2006/relationships/slide" Target="/ppt/slides/slide2.xml" Id="R4a5ebc2ea65846a1" /><Relationship Type="http://schemas.openxmlformats.org/officeDocument/2006/relationships/slide" Target="/ppt/slides/slide3.xml" Id="R0b9b62d74efa4d31" /><Relationship Type="http://schemas.openxmlformats.org/officeDocument/2006/relationships/slide" Target="/ppt/slides/slide4.xml" Id="Re7b403386bcd44d1" /><Relationship Type="http://schemas.openxmlformats.org/officeDocument/2006/relationships/slide" Target="/ppt/slides/slide5.xml" Id="Ra167297644824c8d" /><Relationship Type="http://schemas.openxmlformats.org/officeDocument/2006/relationships/slide" Target="/ppt/slides/slide6.xml" Id="R1c6d63c5e9b04402" /><Relationship Type="http://schemas.openxmlformats.org/officeDocument/2006/relationships/slide" Target="/ppt/slides/slide7.xml" Id="Rc55a55724571402e" /><Relationship Type="http://schemas.openxmlformats.org/officeDocument/2006/relationships/slide" Target="/ppt/slides/slide8.xml" Id="Re3f3bac052864e1d" /><Relationship Type="http://schemas.openxmlformats.org/officeDocument/2006/relationships/slide" Target="/ppt/slides/slide9.xml" Id="Rd27748a560194d78" /><Relationship Type="http://schemas.openxmlformats.org/officeDocument/2006/relationships/slide" Target="/ppt/slides/slide10.xml" Id="Rbe7b445d03b144fd" /><Relationship Type="http://schemas.openxmlformats.org/officeDocument/2006/relationships/slide" Target="/ppt/slides/slide11.xml" Id="R5be71223d8794825" /><Relationship Type="http://schemas.openxmlformats.org/officeDocument/2006/relationships/slide" Target="/ppt/slides/slide12.xml" Id="R4cc1f358dd204bbb" /><Relationship Type="http://schemas.openxmlformats.org/officeDocument/2006/relationships/slide" Target="/ppt/slides/slide13.xml" Id="R2312326a43f542f0" /><Relationship Type="http://schemas.openxmlformats.org/officeDocument/2006/relationships/slide" Target="/ppt/slides/slide14.xml" Id="R80aa25261f5d4cbe" /><Relationship Type="http://schemas.openxmlformats.org/officeDocument/2006/relationships/slide" Target="/ppt/slides/slide15.xml" Id="R61a068ad374b461d" /><Relationship Type="http://schemas.openxmlformats.org/officeDocument/2006/relationships/slide" Target="/ppt/slides/slide16.xml" Id="R2366d2e0b7714067" /><Relationship Type="http://schemas.openxmlformats.org/officeDocument/2006/relationships/slide" Target="/ppt/slides/slide17.xml" Id="R2cb02f8d67b64101" /><Relationship Type="http://schemas.openxmlformats.org/officeDocument/2006/relationships/slide" Target="/ppt/slides/slide18.xml" Id="R44ed3f2caa09403e" /><Relationship Type="http://schemas.openxmlformats.org/officeDocument/2006/relationships/slide" Target="/ppt/slides/slide19.xml" Id="Rad31b2a012b443d4" /><Relationship Type="http://schemas.openxmlformats.org/officeDocument/2006/relationships/slide" Target="/ppt/slides/slide20.xml" Id="R8d9492ae5329436d" /><Relationship Type="http://schemas.openxmlformats.org/officeDocument/2006/relationships/slide" Target="/ppt/slides/slide21.xml" Id="Rf9f890d230f345b7" /><Relationship Type="http://schemas.openxmlformats.org/officeDocument/2006/relationships/slide" Target="/ppt/slides/slide22.xml" Id="R6aa5da82d4994639" /><Relationship Type="http://schemas.openxmlformats.org/officeDocument/2006/relationships/slide" Target="/ppt/slides/slide23.xml" Id="R24555ca860fa4014" /><Relationship Type="http://schemas.openxmlformats.org/officeDocument/2006/relationships/slide" Target="/ppt/slides/slide24.xml" Id="Rd7e377d19c944ef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76aaddb92d74bd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e57a15901244664" /><Relationship Type="http://schemas.openxmlformats.org/officeDocument/2006/relationships/notesMaster" Target="/ppt/notesMasters/notesMaster1.xml" Id="R2c3cbbd5e6a946f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6e6f19de7864062" /><Relationship Type="http://schemas.openxmlformats.org/officeDocument/2006/relationships/notesMaster" Target="/ppt/notesMasters/notesMaster1.xml" Id="R3419af9a89494e6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a6d1e0b171c4312" /><Relationship Type="http://schemas.openxmlformats.org/officeDocument/2006/relationships/notesMaster" Target="/ppt/notesMasters/notesMaster1.xml" Id="R45a2b3bd7b6c46a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87c51cc9b804cfb" /><Relationship Type="http://schemas.openxmlformats.org/officeDocument/2006/relationships/notesMaster" Target="/ppt/notesMasters/notesMaster1.xml" Id="R1a5eac2abec4430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1db74ba01944544" /><Relationship Type="http://schemas.openxmlformats.org/officeDocument/2006/relationships/notesMaster" Target="/ppt/notesMasters/notesMaster1.xml" Id="R8165548a048f4a1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b92131f035e4ba1" /><Relationship Type="http://schemas.openxmlformats.org/officeDocument/2006/relationships/notesMaster" Target="/ppt/notesMasters/notesMaster1.xml" Id="Rac46b84219db4d8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e64c7c38b4b48a9" /><Relationship Type="http://schemas.openxmlformats.org/officeDocument/2006/relationships/notesMaster" Target="/ppt/notesMasters/notesMaster1.xml" Id="R8262da12bffb406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571024b2f914b3e" /><Relationship Type="http://schemas.openxmlformats.org/officeDocument/2006/relationships/notesMaster" Target="/ppt/notesMasters/notesMaster1.xml" Id="R725c6f190bcc429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fc83f51dfb84bdf" /><Relationship Type="http://schemas.openxmlformats.org/officeDocument/2006/relationships/notesMaster" Target="/ppt/notesMasters/notesMaster1.xml" Id="R639341775ed4437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134a69fd084433d" /><Relationship Type="http://schemas.openxmlformats.org/officeDocument/2006/relationships/notesMaster" Target="/ppt/notesMasters/notesMaster1.xml" Id="Rf69ee859112741d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e51cc1bb06b4c70" /><Relationship Type="http://schemas.openxmlformats.org/officeDocument/2006/relationships/notesMaster" Target="/ppt/notesMasters/notesMaster1.xml" Id="R95e2d9a0266c4d4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312ffe723e34089" /><Relationship Type="http://schemas.openxmlformats.org/officeDocument/2006/relationships/notesMaster" Target="/ppt/notesMasters/notesMaster1.xml" Id="Rd2b58fa9b2a9422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4f151cd50764246" /><Relationship Type="http://schemas.openxmlformats.org/officeDocument/2006/relationships/notesMaster" Target="/ppt/notesMasters/notesMaster1.xml" Id="R9731fcc23a42443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d16552a74144dfc" /><Relationship Type="http://schemas.openxmlformats.org/officeDocument/2006/relationships/notesMaster" Target="/ppt/notesMasters/notesMaster1.xml" Id="R7f1657549889483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721a2fe7cb841c3" /><Relationship Type="http://schemas.openxmlformats.org/officeDocument/2006/relationships/notesMaster" Target="/ppt/notesMasters/notesMaster1.xml" Id="R2725d73b5ded49f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6127ea066024ec6" /><Relationship Type="http://schemas.openxmlformats.org/officeDocument/2006/relationships/notesMaster" Target="/ppt/notesMasters/notesMaster1.xml" Id="R092f617dbaa8437f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613f2e85ad9a4072" /><Relationship Type="http://schemas.openxmlformats.org/officeDocument/2006/relationships/notesMaster" Target="/ppt/notesMasters/notesMaster1.xml" Id="R657b7560a2e443a4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0297443c799f425d" /><Relationship Type="http://schemas.openxmlformats.org/officeDocument/2006/relationships/notesMaster" Target="/ppt/notesMasters/notesMaster1.xml" Id="R2f69201ea9c0471f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3ea901c6e1d34504" /><Relationship Type="http://schemas.openxmlformats.org/officeDocument/2006/relationships/notesMaster" Target="/ppt/notesMasters/notesMaster1.xml" Id="Rbf070a8ef5c54f73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9c3c7d1eaa534d41" /><Relationship Type="http://schemas.openxmlformats.org/officeDocument/2006/relationships/notesMaster" Target="/ppt/notesMasters/notesMaster1.xml" Id="R5f4a2ac3befa4c48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33f7966ee7724d7e" /><Relationship Type="http://schemas.openxmlformats.org/officeDocument/2006/relationships/notesMaster" Target="/ppt/notesMasters/notesMaster1.xml" Id="Rd5c25adcb4764d61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1c0156f8d7e644db" /><Relationship Type="http://schemas.openxmlformats.org/officeDocument/2006/relationships/notesMaster" Target="/ppt/notesMasters/notesMaster1.xml" Id="Rdd046855c96647d3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e422a8e908084612" /><Relationship Type="http://schemas.openxmlformats.org/officeDocument/2006/relationships/notesMaster" Target="/ppt/notesMasters/notesMaster1.xml" Id="R449e143345c147ce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8f377334775f48b3" /><Relationship Type="http://schemas.openxmlformats.org/officeDocument/2006/relationships/notesMaster" Target="/ppt/notesMasters/notesMaster1.xml" Id="Rbbda3ca18a4c432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ELEC 335 | Lecture 18 | Week 10</a:t>
            </a:r>
          </a:p>
          <a:p xmlns:a="http://schemas.openxmlformats.org/drawingml/2006/main">
            <a:r>
              <a:t>Opening</a:t>
            </a:r>
          </a:p>
          <a:p xmlns:a="http://schemas.openxmlformats.org/drawingml/2006/main">
            <a:r>
              <a:t>Reading: Alan B. Marcovitz, Introduction to Logic Design, 3rd ed., Ch. 7 §7.3, pp. 447–450.</a:t>
            </a:r>
          </a:p>
          <a:p xmlns:a="http://schemas.openxmlformats.org/drawingml/2006/main">
            <a:r>
              <a:t>Companion animation: lesson-04.html</a:t>
            </a:r>
          </a:p>
          <a:p xmlns:a="http://schemas.openxmlformats.org/drawingml/2006/main">
            <a:r>
              <a:t>Begin by displaying the seven-step synchronous MOD-6 whiteboard. Then introduce JK before the ripple design.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ELEC 335 | Lecture 18 | Week 10</a:t>
            </a:r>
          </a:p>
          <a:p xmlns:a="http://schemas.openxmlformats.org/drawingml/2006/main">
            <a:r>
              <a:t>Learning outcomes</a:t>
            </a:r>
          </a:p>
          <a:p xmlns:a="http://schemas.openxmlformats.org/drawingml/2006/main">
            <a:r>
              <a:t>Reading: Alan B. Marcovitz, Introduction to Logic Design, 3rd ed., Ch. 7 §7.3, pp. 447–450.</a:t>
            </a:r>
          </a:p>
          <a:p xmlns:a="http://schemas.openxmlformats.org/drawingml/2006/main">
            <a:r>
              <a:t>Companion animation: lesson-04.html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ELEC 335 | Lecture 18 | Week 10</a:t>
            </a:r>
          </a:p>
          <a:p xmlns:a="http://schemas.openxmlformats.org/drawingml/2006/main">
            <a:r>
              <a:t>Class whiteboard</a:t>
            </a:r>
          </a:p>
          <a:p xmlns:a="http://schemas.openxmlformats.org/drawingml/2006/main">
            <a:r>
              <a:t>Reading: Alan B. Marcovitz, Introduction to Logic Design, 3rd ed., Ch. 7 §7.3, pp. 447–450.</a:t>
            </a:r>
          </a:p>
          <a:p xmlns:a="http://schemas.openxmlformats.org/drawingml/2006/main">
            <a:r>
              <a:t>Companion animation: lesson-04.html</a:t>
            </a:r>
          </a:p>
          <a:p xmlns:a="http://schemas.openxmlformats.org/drawingml/2006/main">
            <a:r>
              <a:t>The image is the original class whiteboard. The following slides reproduce all seven steps legibly.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ELEC 335 | Lecture 18 | Week 10</a:t>
            </a:r>
          </a:p>
          <a:p xmlns:a="http://schemas.openxmlformats.org/drawingml/2006/main">
            <a:r>
              <a:t>Synchronous design steps 1 to 4</a:t>
            </a:r>
          </a:p>
          <a:p xmlns:a="http://schemas.openxmlformats.org/drawingml/2006/main">
            <a:r>
              <a:t>Reading: Alan B. Marcovitz, Introduction to Logic Design, 3rd ed., Ch. 7 §7.3, pp. 447–450.</a:t>
            </a:r>
          </a:p>
          <a:p xmlns:a="http://schemas.openxmlformats.org/drawingml/2006/main">
            <a:r>
              <a:t>Companion animation: lesson-04.html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ELEC 335 | Lecture 18 | Week 10</a:t>
            </a:r>
          </a:p>
          <a:p xmlns:a="http://schemas.openxmlformats.org/drawingml/2006/main">
            <a:r>
              <a:t>Synchronous design steps 5 to 7</a:t>
            </a:r>
          </a:p>
          <a:p xmlns:a="http://schemas.openxmlformats.org/drawingml/2006/main">
            <a:r>
              <a:t>Reading: Alan B. Marcovitz, Introduction to Logic Design, 3rd ed., Ch. 7 §7.3, pp. 447–450.</a:t>
            </a:r>
          </a:p>
          <a:p xmlns:a="http://schemas.openxmlformats.org/drawingml/2006/main">
            <a:r>
              <a:t>Companion animation: lesson-04.html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ELEC 335 | Lecture 18 | Week 10</a:t>
            </a:r>
          </a:p>
          <a:p xmlns:a="http://schemas.openxmlformats.org/drawingml/2006/main">
            <a:r>
              <a:t>Synchronous transition and excitation table</a:t>
            </a:r>
          </a:p>
          <a:p xmlns:a="http://schemas.openxmlformats.org/drawingml/2006/main">
            <a:r>
              <a:t>Reading: Alan B. Marcovitz, Introduction to Logic Design, 3rd ed., Ch. 7 §7.3, pp. 447–450.</a:t>
            </a:r>
          </a:p>
          <a:p xmlns:a="http://schemas.openxmlformats.org/drawingml/2006/main">
            <a:r>
              <a:t>Companion animation: lesson-04.html</a:t>
            </a:r>
          </a:p>
          <a:p xmlns:a="http://schemas.openxmlformats.org/drawingml/2006/main">
            <a:r>
              <a:t>Unused states 110 and 111 recover to 000 on the next shared clock edge.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ELEC 335 | Lecture 18 | Week 10</a:t>
            </a:r>
          </a:p>
          <a:p xmlns:a="http://schemas.openxmlformats.org/drawingml/2006/main">
            <a:r>
              <a:t>Synchronous Boolean expressions</a:t>
            </a:r>
          </a:p>
          <a:p xmlns:a="http://schemas.openxmlformats.org/drawingml/2006/main">
            <a:r>
              <a:t>Reading: Alan B. Marcovitz, Introduction to Logic Design, 3rd ed., Ch. 7 §7.3, pp. 447–450.</a:t>
            </a:r>
          </a:p>
          <a:p xmlns:a="http://schemas.openxmlformats.org/drawingml/2006/main">
            <a:r>
              <a:t>Companion animation: lesson-04.html</a:t>
            </a:r>
          </a:p>
          <a:p xmlns:a="http://schemas.openxmlformats.org/drawingml/2006/main">
            <a:r>
              <a:t>These expressions reproduce the whiteboard’s eight-row table, including 110 and 111 recovery.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ELEC 335 | Lecture 18 | Week 10</a:t>
            </a:r>
          </a:p>
          <a:p xmlns:a="http://schemas.openxmlformats.org/drawingml/2006/main">
            <a:r>
              <a:t>Compare synchronous and ripple counters</a:t>
            </a:r>
          </a:p>
          <a:p xmlns:a="http://schemas.openxmlformats.org/drawingml/2006/main">
            <a:r>
              <a:t>Reading: Alan B. Marcovitz, Introduction to Logic Design, 3rd ed., Ch. 7 §7.3, pp. 447–450.</a:t>
            </a:r>
          </a:p>
          <a:p xmlns:a="http://schemas.openxmlformats.org/drawingml/2006/main">
            <a:r>
              <a:t>Companion animation: lesson-04.html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ELEC 335 | Lecture 18 | Week 10</a:t>
            </a:r>
          </a:p>
          <a:p xmlns:a="http://schemas.openxmlformats.org/drawingml/2006/main">
            <a:r>
              <a:t>JK inputs and symbol</a:t>
            </a:r>
          </a:p>
          <a:p xmlns:a="http://schemas.openxmlformats.org/drawingml/2006/main">
            <a:r>
              <a:t>Reading: Alan B. Marcovitz, Introduction to Logic Design, 3rd ed., Ch. 7 §7.3, pp. 447–450.</a:t>
            </a:r>
          </a:p>
          <a:p xmlns:a="http://schemas.openxmlformats.org/drawingml/2006/main">
            <a:r>
              <a:t>Companion animation: lesson-04.html</a:t>
            </a:r>
          </a:p>
          <a:p xmlns:a="http://schemas.openxmlformats.org/drawingml/2006/main">
            <a:r>
              <a:t>The clock edge is a device choice. This lecture uses falling-edge JK flip-flops for the ripple design.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ELEC 335 | Lecture 18 | Week 10</a:t>
            </a:r>
          </a:p>
          <a:p xmlns:a="http://schemas.openxmlformats.org/drawingml/2006/main">
            <a:r>
              <a:t>JK gate realization</a:t>
            </a:r>
          </a:p>
          <a:p xmlns:a="http://schemas.openxmlformats.org/drawingml/2006/main">
            <a:r>
              <a:t>Reading: Alan B. Marcovitz, Introduction to Logic Design, 3rd ed., Ch. 7 §7.3, pp. 447–450.</a:t>
            </a:r>
          </a:p>
          <a:p xmlns:a="http://schemas.openxmlformats.org/drawingml/2006/main">
            <a:r>
              <a:t>Companion animation: lesson-04.html</a:t>
            </a:r>
          </a:p>
          <a:p xmlns:a="http://schemas.openxmlformats.org/drawingml/2006/main">
            <a:r>
              <a:t>Use a D storage element conceptually: D=JQ̅+K̅Q. If J=K=1, D=Q̅. If J=K=0, D=Q.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ELEC 335 | Lecture 18 | Week 10</a:t>
            </a:r>
          </a:p>
          <a:p xmlns:a="http://schemas.openxmlformats.org/drawingml/2006/main">
            <a:r>
              <a:t>JK truth table</a:t>
            </a:r>
          </a:p>
          <a:p xmlns:a="http://schemas.openxmlformats.org/drawingml/2006/main">
            <a:r>
              <a:t>Reading: Alan B. Marcovitz, Introduction to Logic Design, 3rd ed., Ch. 7 §7.3, pp. 447–450.</a:t>
            </a:r>
          </a:p>
          <a:p xmlns:a="http://schemas.openxmlformats.org/drawingml/2006/main">
            <a:r>
              <a:t>Companion animation: lesson-04.html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ELEC 335 | Lecture 18 | Week 10</a:t>
            </a:r>
          </a:p>
          <a:p xmlns:a="http://schemas.openxmlformats.org/drawingml/2006/main">
            <a:r>
              <a:t>JK timing</a:t>
            </a:r>
          </a:p>
          <a:p xmlns:a="http://schemas.openxmlformats.org/drawingml/2006/main">
            <a:r>
              <a:t>Reading: Alan B. Marcovitz, Introduction to Logic Design, 3rd ed., Ch. 7 §7.3, pp. 447–450.</a:t>
            </a:r>
          </a:p>
          <a:p xmlns:a="http://schemas.openxmlformats.org/drawingml/2006/main">
            <a:r>
              <a:t>Companion animation: lesson-04.html</a:t>
            </a:r>
          </a:p>
          <a:p xmlns:a="http://schemas.openxmlformats.org/drawingml/2006/main">
            <a:r>
              <a:t>Illustrative values are post-edge for each labeled event. Ask students to predict Q before showing the row.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ELEC 335 | Lecture 18 | Week 10</a:t>
            </a:r>
          </a:p>
          <a:p xmlns:a="http://schemas.openxmlformats.org/drawingml/2006/main">
            <a:r>
              <a:t>JK state diagram</a:t>
            </a:r>
          </a:p>
          <a:p xmlns:a="http://schemas.openxmlformats.org/drawingml/2006/main">
            <a:r>
              <a:t>Reading: Alan B. Marcovitz, Introduction to Logic Design, 3rd ed., Ch. 7 §7.3, pp. 447–450.</a:t>
            </a:r>
          </a:p>
          <a:p xmlns:a="http://schemas.openxmlformats.org/drawingml/2006/main">
            <a:r>
              <a:t>Companion animation: lesson-04.html</a:t>
            </a:r>
          </a:p>
          <a:p xmlns:a="http://schemas.openxmlformats.org/drawingml/2006/main">
            <a:r>
              <a:t>For a toggle request, both directions connect the two states. The 00 command is a self-loop at both states.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ELEC 335 | Lecture 18 | Week 10</a:t>
            </a:r>
          </a:p>
          <a:p xmlns:a="http://schemas.openxmlformats.org/drawingml/2006/main">
            <a:r>
              <a:t>JK excitation table</a:t>
            </a:r>
          </a:p>
          <a:p xmlns:a="http://schemas.openxmlformats.org/drawingml/2006/main">
            <a:r>
              <a:t>Reading: Alan B. Marcovitz, Introduction to Logic Design, 3rd ed., Ch. 7 §7.3, pp. 447–450.</a:t>
            </a:r>
          </a:p>
          <a:p xmlns:a="http://schemas.openxmlformats.org/drawingml/2006/main">
            <a:r>
              <a:t>Companion animation: lesson-04.html</a:t>
            </a:r>
          </a:p>
          <a:p xmlns:a="http://schemas.openxmlformats.org/drawingml/2006/main">
            <a:r>
              <a:t>Read the table from present state to desired next state. This reverses the direction of the characteristic table.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ELEC 335 | Lecture 18 | Week 10</a:t>
            </a:r>
          </a:p>
          <a:p xmlns:a="http://schemas.openxmlformats.org/drawingml/2006/main">
            <a:r>
              <a:t>Ripple design steps 1 to 4</a:t>
            </a:r>
          </a:p>
          <a:p xmlns:a="http://schemas.openxmlformats.org/drawingml/2006/main">
            <a:r>
              <a:t>Reading: Alan B. Marcovitz, Introduction to Logic Design, 3rd ed., Ch. 7 §7.3, pp. 447–450.</a:t>
            </a:r>
          </a:p>
          <a:p xmlns:a="http://schemas.openxmlformats.org/drawingml/2006/main">
            <a:r>
              <a:t>Companion animation: lesson-04.html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ELEC 335 | Lecture 18 | Week 10</a:t>
            </a:r>
          </a:p>
          <a:p xmlns:a="http://schemas.openxmlformats.org/drawingml/2006/main">
            <a:r>
              <a:t>Ripple design steps 5 to 8</a:t>
            </a:r>
          </a:p>
          <a:p xmlns:a="http://schemas.openxmlformats.org/drawingml/2006/main">
            <a:r>
              <a:t>Reading: Alan B. Marcovitz, Introduction to Logic Design, 3rd ed., Ch. 7 §7.3, pp. 447–450.</a:t>
            </a:r>
          </a:p>
          <a:p xmlns:a="http://schemas.openxmlformats.org/drawingml/2006/main">
            <a:r>
              <a:t>Companion animation: lesson-04.html</a:t>
            </a:r>
          </a:p>
          <a:p xmlns:a="http://schemas.openxmlformats.org/drawingml/2006/main">
            <a:r>
              <a:t>The NAND clear pulse is self-terminating; it ends when Q₂ or Q₁ falls. Its minimum width must satisfy the selected JK flip-flop.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ELEC 335 | Lecture 18 | Week 10</a:t>
            </a:r>
          </a:p>
          <a:p xmlns:a="http://schemas.openxmlformats.org/drawingml/2006/main">
            <a:r>
              <a:t>Ripple MOD-6 schematic</a:t>
            </a:r>
          </a:p>
          <a:p xmlns:a="http://schemas.openxmlformats.org/drawingml/2006/main">
            <a:r>
              <a:t>Reading: Alan B. Marcovitz, Introduction to Logic Design, 3rd ed., Ch. 7 §7.3, pp. 447–450.</a:t>
            </a:r>
          </a:p>
          <a:p xmlns:a="http://schemas.openxmlformats.org/drawingml/2006/main">
            <a:r>
              <a:t>Companion animation: lesson-04.html</a:t>
            </a:r>
          </a:p>
          <a:p xmlns:a="http://schemas.openxmlformats.org/drawingml/2006/main">
            <a:r>
              <a:t>The gate is active-low. Both Q₂ and Q₁ are high at code 110, so the NAND output asserts clear. The clear net connects to all three flip-flops.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ELEC 335 | Lecture 18 | Week 10</a:t>
            </a:r>
          </a:p>
          <a:p xmlns:a="http://schemas.openxmlformats.org/drawingml/2006/main">
            <a:r>
              <a:t>Stable and transient states</a:t>
            </a:r>
          </a:p>
          <a:p xmlns:a="http://schemas.openxmlformats.org/drawingml/2006/main">
            <a:r>
              <a:t>Reading: Alan B. Marcovitz, Introduction to Logic Design, 3rd ed., Ch. 7 §7.3, pp. 447–450.</a:t>
            </a:r>
          </a:p>
          <a:p xmlns:a="http://schemas.openxmlformats.org/drawingml/2006/main">
            <a:r>
              <a:t>Companion animation: lesson-04.html</a:t>
            </a:r>
          </a:p>
          <a:p xmlns:a="http://schemas.openxmlformats.org/drawingml/2006/main">
            <a:r>
              <a:t>The six settled codes are 000 to 101. The natural count 110 triggers asynchronous clear; it is not held as a valid stable count.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ELEC 335 | Lecture 18 | Week 10</a:t>
            </a:r>
          </a:p>
          <a:p xmlns:a="http://schemas.openxmlformats.org/drawingml/2006/main">
            <a:r>
              <a:t>Worked timing 011 to 100</a:t>
            </a:r>
          </a:p>
          <a:p xmlns:a="http://schemas.openxmlformats.org/drawingml/2006/main">
            <a:r>
              <a:t>Reading: Alan B. Marcovitz, Introduction to Logic Design, 3rd ed., Ch. 7 §7.3, pp. 447–450.</a:t>
            </a:r>
          </a:p>
          <a:p xmlns:a="http://schemas.openxmlformats.org/drawingml/2006/main">
            <a:r>
              <a:t>Companion animation: lesson-04.html</a:t>
            </a:r>
          </a:p>
          <a:p xmlns:a="http://schemas.openxmlformats.org/drawingml/2006/main">
            <a:r>
              <a:t>Q₀ falls first, then Q₁, then Q₂ rises. The gate decoder sees temporary 010 and 000. Its clear input remains inactive.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ELEC 335 | Lecture 18 | Week 10</a:t>
            </a:r>
          </a:p>
          <a:p xmlns:a="http://schemas.openxmlformats.org/drawingml/2006/main">
            <a:r>
              <a:t>Worked timing 101 to 000</a:t>
            </a:r>
          </a:p>
          <a:p xmlns:a="http://schemas.openxmlformats.org/drawingml/2006/main">
            <a:r>
              <a:t>Reading: Alan B. Marcovitz, Introduction to Logic Design, 3rd ed., Ch. 7 §7.3, pp. 447–450.</a:t>
            </a:r>
          </a:p>
          <a:p xmlns:a="http://schemas.openxmlformats.org/drawingml/2006/main">
            <a:r>
              <a:t>Companion animation: lesson-04.html</a:t>
            </a:r>
          </a:p>
          <a:p xmlns:a="http://schemas.openxmlformats.org/drawingml/2006/main">
            <a:r>
              <a:t>The 110 code pulls CLR_n low. Clearing Q₂ and Q₁ releases the NAND clear. This pulse can be narrow.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ELEC 335 | Lecture 18 | Week 10</a:t>
            </a:r>
          </a:p>
          <a:p xmlns:a="http://schemas.openxmlformats.org/drawingml/2006/main">
            <a:r>
              <a:t>Timing caution</a:t>
            </a:r>
          </a:p>
          <a:p xmlns:a="http://schemas.openxmlformats.org/drawingml/2006/main">
            <a:r>
              <a:t>Reading: Alan B. Marcovitz, Introduction to Logic Design, 3rd ed., Ch. 7 §7.3, pp. 447–450.</a:t>
            </a:r>
          </a:p>
          <a:p xmlns:a="http://schemas.openxmlformats.org/drawingml/2006/main">
            <a:r>
              <a:t>Companion animation: lesson-04.html</a:t>
            </a:r>
          </a:p>
          <a:p xmlns:a="http://schemas.openxmlformats.org/drawingml/2006/main">
            <a:r>
              <a:t>The conceptual waveform is deliberately spaced. Real delays and reset width must come from the selected part’s data sheet.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ELEC 335 | Lecture 18 | Week 10</a:t>
            </a:r>
          </a:p>
          <a:p xmlns:a="http://schemas.openxmlformats.org/drawingml/2006/main">
            <a:r>
              <a:t>Practice questions</a:t>
            </a:r>
          </a:p>
          <a:p xmlns:a="http://schemas.openxmlformats.org/drawingml/2006/main">
            <a:r>
              <a:t>Reading: Alan B. Marcovitz, Introduction to Logic Design, 3rd ed., Ch. 7 §7.3, pp. 447–450.</a:t>
            </a:r>
          </a:p>
          <a:p xmlns:a="http://schemas.openxmlformats.org/drawingml/2006/main">
            <a:r>
              <a:t>Companion animation: lesson-04.html</a:t>
            </a:r>
          </a:p>
          <a:p xmlns:a="http://schemas.openxmlformats.org/drawingml/2006/main">
            <a:r>
              <a:t>Pause for student responses. Answers are on the following slide.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ELEC 335 | Lecture 18 | Week 10</a:t>
            </a:r>
          </a:p>
          <a:p xmlns:a="http://schemas.openxmlformats.org/drawingml/2006/main">
            <a:r>
              <a:t>Practice solutions</a:t>
            </a:r>
          </a:p>
          <a:p xmlns:a="http://schemas.openxmlformats.org/drawingml/2006/main">
            <a:r>
              <a:t>Reading: Alan B. Marcovitz, Introduction to Logic Design, 3rd ed., Ch. 7 §7.3, pp. 447–450.</a:t>
            </a:r>
          </a:p>
          <a:p xmlns:a="http://schemas.openxmlformats.org/drawingml/2006/main">
            <a:r>
              <a:t>Companion animation: lesson-04.html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ELEC 335 | Lecture 18 | Week 10</a:t>
            </a:r>
          </a:p>
          <a:p xmlns:a="http://schemas.openxmlformats.org/drawingml/2006/main">
            <a:r>
              <a:t>What should stay with you</a:t>
            </a:r>
          </a:p>
          <a:p xmlns:a="http://schemas.openxmlformats.org/drawingml/2006/main">
            <a:r>
              <a:t>Reading: Alan B. Marcovitz, Introduction to Logic Design, 3rd ed., Ch. 7 §7.3, pp. 447–450.</a:t>
            </a:r>
          </a:p>
          <a:p xmlns:a="http://schemas.openxmlformats.org/drawingml/2006/main">
            <a:r>
              <a:t>Companion animation: lesson-04.html</a:t>
            </a:r>
          </a:p>
          <a:p xmlns:a="http://schemas.openxmlformats.org/drawingml/2006/main">
            <a:r>
              <a:t>These statements reiterate the learning outcomes of Lecture 18.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ab8b862533409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92a2bcb297b420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1ccb32f69b945b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0eccb606be4a0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d1058214f8b4bc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553ff15d60d42c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340F852-3450-47AF-A53A-2C54CEAC76C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DB97DCD6-A7C3-4210-8D06-26B61945800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95DC6AB7-27E5-4D40-9948-CA355014D12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82654DE-9846-4701-A813-67FCC8E9096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63762F95-DA1B-497C-9BAB-47A17C9D216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08A78A3D-98E0-40E5-AAD5-E56FF0DAB6B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5F84E2A-8D16-4B0F-B744-66CA7227F6A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15D1E0C1-0A01-4A3B-909F-71C60DF4EE5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A86669F-7D48-41D6-9E3B-D6349EA3890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D9B845D-A3CB-4B94-A04E-B3FF2748BA4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e25e9007977464f" /><Relationship Type="http://schemas.openxmlformats.org/officeDocument/2006/relationships/slideLayout" Target="/ppt/slideLayouts/slideLayout1.xml" Id="R17a800ef7c214b19" /><Relationship Type="http://schemas.openxmlformats.org/officeDocument/2006/relationships/slideLayout" Target="/ppt/slideLayouts/slideLayout2.xml" Id="R8803775c3e414e1b" /><Relationship Type="http://schemas.openxmlformats.org/officeDocument/2006/relationships/slideLayout" Target="/ppt/slideLayouts/slideLayout3.xml" Id="R3ae6559db4d34dbc" /><Relationship Type="http://schemas.openxmlformats.org/officeDocument/2006/relationships/slideLayout" Target="/ppt/slideLayouts/slideLayout4.xml" Id="R23cede3acc49478b" /><Relationship Type="http://schemas.openxmlformats.org/officeDocument/2006/relationships/slideLayout" Target="/ppt/slideLayouts/slideLayout5.xml" Id="R0ad7ee3b6efa4a78" /><Relationship Type="http://schemas.openxmlformats.org/officeDocument/2006/relationships/slideLayout" Target="/ppt/slideLayouts/slideLayout6.xml" Id="R7f4538b202c1419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7a800ef7c214b19"/>
    <p:sldLayoutId xmlns:r="http://schemas.openxmlformats.org/officeDocument/2006/relationships" id="2147483650" r:id="R8803775c3e414e1b"/>
    <p:sldLayoutId xmlns:r="http://schemas.openxmlformats.org/officeDocument/2006/relationships" id="2147483651" r:id="R3ae6559db4d34dbc"/>
    <p:sldLayoutId xmlns:r="http://schemas.openxmlformats.org/officeDocument/2006/relationships" id="2147483652" r:id="R23cede3acc49478b"/>
    <p:sldLayoutId xmlns:r="http://schemas.openxmlformats.org/officeDocument/2006/relationships" id="2147483653" r:id="R0ad7ee3b6efa4a78"/>
    <p:sldLayoutId xmlns:r="http://schemas.openxmlformats.org/officeDocument/2006/relationships" id="2147483654" r:id="R7f4538b202c1419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32cbe7b303140c8" /><Relationship Type="http://schemas.openxmlformats.org/officeDocument/2006/relationships/image" Target="/ppt/media/image.png" Id="R769adb1eae454ad4" /><Relationship Type="http://schemas.openxmlformats.org/officeDocument/2006/relationships/image" Target="/ppt/media/image2.png" Id="R4227e8e3720d4cb4" /><Relationship Type="http://schemas.openxmlformats.org/officeDocument/2006/relationships/notesSlide" Target="/ppt/notesSlides/notesSlide1.xml" Id="R59f239d56f91468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337fa45a2d24245" /><Relationship Type="http://schemas.openxmlformats.org/officeDocument/2006/relationships/image" Target="/ppt/media/image3.png" Id="Rb695a8d2cd704810" /><Relationship Type="http://schemas.openxmlformats.org/officeDocument/2006/relationships/image" Target="/ppt/media/image4.png" Id="Re299638af67f434b" /><Relationship Type="http://schemas.openxmlformats.org/officeDocument/2006/relationships/notesSlide" Target="/ppt/notesSlides/notesSlide2.xml" Id="R0a6220fa5adf45d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158c2a3698f414e" /><Relationship Type="http://schemas.openxmlformats.org/officeDocument/2006/relationships/image" Target="/ppt/media/image5.png" Id="R51fb385765784874" /><Relationship Type="http://schemas.openxmlformats.org/officeDocument/2006/relationships/image" Target="/ppt/media/image6.png" Id="R3dc75ad67c714e6c" /><Relationship Type="http://schemas.openxmlformats.org/officeDocument/2006/relationships/image" Target="/ppt/media/image7.png" Id="R3dd57d6461764384" /><Relationship Type="http://schemas.openxmlformats.org/officeDocument/2006/relationships/notesSlide" Target="/ppt/notesSlides/notesSlide3.xml" Id="R83f408268d0648a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ea4989e3f7f41a1" /><Relationship Type="http://schemas.openxmlformats.org/officeDocument/2006/relationships/image" Target="/ppt/media/image8.png" Id="Rd7fa1a816a9f42cf" /><Relationship Type="http://schemas.openxmlformats.org/officeDocument/2006/relationships/image" Target="/ppt/media/image9.png" Id="R44cff580796c4690" /><Relationship Type="http://schemas.openxmlformats.org/officeDocument/2006/relationships/notesSlide" Target="/ppt/notesSlides/notesSlide4.xml" Id="R65e12580b8ab427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bbc54dc20b14831" /><Relationship Type="http://schemas.openxmlformats.org/officeDocument/2006/relationships/image" Target="/ppt/media/image10.png" Id="R433f965fe4654926" /><Relationship Type="http://schemas.openxmlformats.org/officeDocument/2006/relationships/image" Target="/ppt/media/image11.png" Id="R532769f27fd74988" /><Relationship Type="http://schemas.openxmlformats.org/officeDocument/2006/relationships/notesSlide" Target="/ppt/notesSlides/notesSlide5.xml" Id="R5de5691d7e1d435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54c94aa0c9f4a48" /><Relationship Type="http://schemas.openxmlformats.org/officeDocument/2006/relationships/image" Target="/ppt/media/image12.png" Id="R8978127b2e1e4806" /><Relationship Type="http://schemas.openxmlformats.org/officeDocument/2006/relationships/image" Target="/ppt/media/image13.png" Id="R5056cf66edf94f46" /><Relationship Type="http://schemas.openxmlformats.org/officeDocument/2006/relationships/notesSlide" Target="/ppt/notesSlides/notesSlide6.xml" Id="R97f612c3beb7411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2c6de7b92804a09" /><Relationship Type="http://schemas.openxmlformats.org/officeDocument/2006/relationships/image" Target="/ppt/media/image14.png" Id="R2afb1d65a1174b2e" /><Relationship Type="http://schemas.openxmlformats.org/officeDocument/2006/relationships/image" Target="/ppt/media/image15.png" Id="R03c83843a4454634" /><Relationship Type="http://schemas.openxmlformats.org/officeDocument/2006/relationships/notesSlide" Target="/ppt/notesSlides/notesSlide7.xml" Id="R0daded4db1ad4c7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98610e6988a4dfe" /><Relationship Type="http://schemas.openxmlformats.org/officeDocument/2006/relationships/image" Target="/ppt/media/image16.png" Id="Rf59eb5c0fbf54916" /><Relationship Type="http://schemas.openxmlformats.org/officeDocument/2006/relationships/image" Target="/ppt/media/image17.png" Id="R496870938ef44145" /><Relationship Type="http://schemas.openxmlformats.org/officeDocument/2006/relationships/notesSlide" Target="/ppt/notesSlides/notesSlide8.xml" Id="R02fdd3a5c61d4e4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f6398c8fdc34dc6" /><Relationship Type="http://schemas.openxmlformats.org/officeDocument/2006/relationships/image" Target="/ppt/media/image18.png" Id="Rb23c90bf93a84c24" /><Relationship Type="http://schemas.openxmlformats.org/officeDocument/2006/relationships/image" Target="/ppt/media/image19.png" Id="Re659ce1b184d4d98" /><Relationship Type="http://schemas.openxmlformats.org/officeDocument/2006/relationships/notesSlide" Target="/ppt/notesSlides/notesSlide9.xml" Id="R64599ee3547c4b2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548903bbae44132" /><Relationship Type="http://schemas.openxmlformats.org/officeDocument/2006/relationships/image" Target="/ppt/media/image20.png" Id="R942f202d14af4b58" /><Relationship Type="http://schemas.openxmlformats.org/officeDocument/2006/relationships/image" Target="/ppt/media/image21.png" Id="R498198ae12cd4887" /><Relationship Type="http://schemas.openxmlformats.org/officeDocument/2006/relationships/notesSlide" Target="/ppt/notesSlides/notesSlide10.xml" Id="R78192af572704e8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643bf8525c64d9b" /><Relationship Type="http://schemas.openxmlformats.org/officeDocument/2006/relationships/image" Target="/ppt/media/image22.png" Id="R850b7a797f304b8a" /><Relationship Type="http://schemas.openxmlformats.org/officeDocument/2006/relationships/image" Target="/ppt/media/image23.png" Id="R1db6278b20d74523" /><Relationship Type="http://schemas.openxmlformats.org/officeDocument/2006/relationships/notesSlide" Target="/ppt/notesSlides/notesSlide11.xml" Id="R9570476cd205429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fb3e3cc06824033" /><Relationship Type="http://schemas.openxmlformats.org/officeDocument/2006/relationships/image" Target="/ppt/media/image24.png" Id="R17d41416f79c45c5" /><Relationship Type="http://schemas.openxmlformats.org/officeDocument/2006/relationships/image" Target="/ppt/media/image25.png" Id="R19c13bc4ee3d4e2b" /><Relationship Type="http://schemas.openxmlformats.org/officeDocument/2006/relationships/notesSlide" Target="/ppt/notesSlides/notesSlide12.xml" Id="R3233e02e04114c5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055d7cbc8ea4052" /><Relationship Type="http://schemas.openxmlformats.org/officeDocument/2006/relationships/image" Target="/ppt/media/image26.png" Id="Rdd0c780bb73b431b" /><Relationship Type="http://schemas.openxmlformats.org/officeDocument/2006/relationships/image" Target="/ppt/media/image27.png" Id="R4e46b27895304c59" /><Relationship Type="http://schemas.openxmlformats.org/officeDocument/2006/relationships/notesSlide" Target="/ppt/notesSlides/notesSlide13.xml" Id="Rf5a79e3f1fb94fc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2fb2171ceb64653" /><Relationship Type="http://schemas.openxmlformats.org/officeDocument/2006/relationships/image" Target="/ppt/media/image28.png" Id="R43a30928ce27469f" /><Relationship Type="http://schemas.openxmlformats.org/officeDocument/2006/relationships/image" Target="/ppt/media/image29.png" Id="R6d1af4a087884369" /><Relationship Type="http://schemas.openxmlformats.org/officeDocument/2006/relationships/notesSlide" Target="/ppt/notesSlides/notesSlide14.xml" Id="R1617ba1a2dde433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9babe4c98ab4d7e" /><Relationship Type="http://schemas.openxmlformats.org/officeDocument/2006/relationships/image" Target="/ppt/media/image30.png" Id="Rf2f07d84a5514f75" /><Relationship Type="http://schemas.openxmlformats.org/officeDocument/2006/relationships/image" Target="/ppt/media/image31.png" Id="R0ed3cb035bed4e11" /><Relationship Type="http://schemas.openxmlformats.org/officeDocument/2006/relationships/notesSlide" Target="/ppt/notesSlides/notesSlide15.xml" Id="Reff237cb19ed4fd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f93288982d5482b" /><Relationship Type="http://schemas.openxmlformats.org/officeDocument/2006/relationships/image" Target="/ppt/media/image32.png" Id="R2ba2f1f5f1fc4edd" /><Relationship Type="http://schemas.openxmlformats.org/officeDocument/2006/relationships/image" Target="/ppt/media/image33.png" Id="Rc7adffd1e8d346b1" /><Relationship Type="http://schemas.openxmlformats.org/officeDocument/2006/relationships/notesSlide" Target="/ppt/notesSlides/notesSlide16.xml" Id="R454671ceafb34fe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2ea9237cb6a4979" /><Relationship Type="http://schemas.openxmlformats.org/officeDocument/2006/relationships/image" Target="/ppt/media/image34.png" Id="R14f84911742348f4" /><Relationship Type="http://schemas.openxmlformats.org/officeDocument/2006/relationships/image" Target="/ppt/media/image35.png" Id="R41a6cca062dd4cd7" /><Relationship Type="http://schemas.openxmlformats.org/officeDocument/2006/relationships/notesSlide" Target="/ppt/notesSlides/notesSlide17.xml" Id="R735a6fdaa55e49e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6089fedf245452c" /><Relationship Type="http://schemas.openxmlformats.org/officeDocument/2006/relationships/image" Target="/ppt/media/image36.png" Id="R5602deb62ed5484e" /><Relationship Type="http://schemas.openxmlformats.org/officeDocument/2006/relationships/image" Target="/ppt/media/image37.png" Id="R452e97c32638484a" /><Relationship Type="http://schemas.openxmlformats.org/officeDocument/2006/relationships/notesSlide" Target="/ppt/notesSlides/notesSlide18.xml" Id="Ra9ee38b1f78646d2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05460504ff44ac4" /><Relationship Type="http://schemas.openxmlformats.org/officeDocument/2006/relationships/image" Target="/ppt/media/image38.png" Id="R14a862aaed7540d5" /><Relationship Type="http://schemas.openxmlformats.org/officeDocument/2006/relationships/image" Target="/ppt/media/image39.png" Id="R6c287a6a8e244f15" /><Relationship Type="http://schemas.openxmlformats.org/officeDocument/2006/relationships/notesSlide" Target="/ppt/notesSlides/notesSlide19.xml" Id="R356e559ce29b4858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ad67bfee95d44bd" /><Relationship Type="http://schemas.openxmlformats.org/officeDocument/2006/relationships/image" Target="/ppt/media/image40.png" Id="R163ebd95da114e49" /><Relationship Type="http://schemas.openxmlformats.org/officeDocument/2006/relationships/image" Target="/ppt/media/image41.png" Id="R587abef41fdc4898" /><Relationship Type="http://schemas.openxmlformats.org/officeDocument/2006/relationships/notesSlide" Target="/ppt/notesSlides/notesSlide20.xml" Id="Rf594a97ed3de4936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f860d949ee24aaa" /><Relationship Type="http://schemas.openxmlformats.org/officeDocument/2006/relationships/image" Target="/ppt/media/image42.png" Id="R5f34d2421c774d36" /><Relationship Type="http://schemas.openxmlformats.org/officeDocument/2006/relationships/image" Target="/ppt/media/image43.png" Id="R5b0ff223d7964a49" /><Relationship Type="http://schemas.openxmlformats.org/officeDocument/2006/relationships/notesSlide" Target="/ppt/notesSlides/notesSlide21.xml" Id="R55726d7e9c4b402f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53fa878b14c46c4" /><Relationship Type="http://schemas.openxmlformats.org/officeDocument/2006/relationships/image" Target="/ppt/media/image44.png" Id="R7e4d6b9fb3914bf9" /><Relationship Type="http://schemas.openxmlformats.org/officeDocument/2006/relationships/image" Target="/ppt/media/image45.png" Id="Rca3580ffcec041e0" /><Relationship Type="http://schemas.openxmlformats.org/officeDocument/2006/relationships/notesSlide" Target="/ppt/notesSlides/notesSlide22.xml" Id="Ra5860563f20843e5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ef94d025b60492e" /><Relationship Type="http://schemas.openxmlformats.org/officeDocument/2006/relationships/image" Target="/ppt/media/image46.png" Id="R736c3be9798f4b38" /><Relationship Type="http://schemas.openxmlformats.org/officeDocument/2006/relationships/image" Target="/ppt/media/image47.png" Id="R4603986318754c46" /><Relationship Type="http://schemas.openxmlformats.org/officeDocument/2006/relationships/notesSlide" Target="/ppt/notesSlides/notesSlide23.xml" Id="R47f4450c00df42e0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302f7f354c040d1" /><Relationship Type="http://schemas.openxmlformats.org/officeDocument/2006/relationships/image" Target="/ppt/media/image48.png" Id="R05a856d6b2034077" /><Relationship Type="http://schemas.openxmlformats.org/officeDocument/2006/relationships/image" Target="/ppt/media/image49.png" Id="Rb009d9d7540a444e" /><Relationship Type="http://schemas.openxmlformats.org/officeDocument/2006/relationships/notesSlide" Target="/ppt/notesSlides/notesSlide24.xml" Id="R177f88c0bbd3451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EE034D-3C60-40D5-B709-D9CB583420A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9adb1eae454ad4"/>
          <a:srcRect xmlns:a="http://schemas.openxmlformats.org/drawingml/2006/main" l="28940" t="0" r="2894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763000" y="0"/>
            <a:ext cx="3429000" cy="6858000"/>
          </a:xfrm>
          <a:prstGeom xmlns:a="http://schemas.openxmlformats.org/drawingml/2006/main" prst="rect">
            <a:avLst/>
          </a:prstGeom>
        </p:spPr>
      </p:pic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0E57C2-0E97-4639-A38D-9B95ABB5D0E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27e8e3720d4cb4"/>
          <a:stretch xmlns:a="http://schemas.openxmlformats.org/drawingml/2006/main"/>
        </p:blipFill>
        <p:spPr>
          <a:xfrm xmlns:a="http://schemas.openxmlformats.org/drawingml/2006/main">
            <a:off x="610120" y="457200"/>
            <a:ext cx="6275934" cy="10287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D58D1F-6B5E-4AD5-BB0C-57ACECB91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90700"/>
            <a:ext cx="7239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l">
              <a:defRPr sz="1575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l">
              <a:defRPr sz="1575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l">
              <a:defRPr sz="1575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l">
              <a:defRPr sz="1575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l">
              <a:defRPr sz="1575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l">
              <a:defRPr sz="1575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l">
              <a:defRPr sz="1575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l">
              <a:defRPr sz="1575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l">
              <a:defRPr sz="1575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ELEC 335  |  Fall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22FCAE-B78D-4252-B448-D984C4C4B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238375"/>
            <a:ext cx="7781925" cy="2228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41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defPPr>
            <a:lvl1pPr algn="l">
              <a:defRPr sz="41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1pPr>
            <a:lvl2pPr algn="l">
              <a:defRPr sz="41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2pPr>
            <a:lvl3pPr algn="l">
              <a:defRPr sz="41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3pPr>
            <a:lvl4pPr algn="l">
              <a:defRPr sz="41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4pPr>
            <a:lvl5pPr algn="l">
              <a:defRPr sz="41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5pPr>
            <a:lvl6pPr algn="l">
              <a:defRPr sz="41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6pPr>
            <a:lvl7pPr algn="l">
              <a:defRPr sz="41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7pPr>
            <a:lvl8pPr algn="l">
              <a:defRPr sz="41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8pPr>
            <a:lvl9pPr algn="l">
              <a:defRPr sz="41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41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pPr>
            <a:r>
              <a:rPr sz="4125" b="1">
                <a:solidFill>
                  <a:srgbClr val="00263E"/>
                </a:solidFill>
                <a:latin typeface="Tahoma"/>
                <a:ea typeface="Tahoma"/>
                <a:cs typeface="Tahoma"/>
              </a:rPr>
              <a:t>Ripple counters and</a:t>
            </a:r>
          </a:p>
          <a:p xmlns:a="http://schemas.openxmlformats.org/drawingml/2006/main">
            <a:pPr algn="l">
              <a:defRPr sz="41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pPr>
            <a:r>
              <a:rPr sz="4125" b="1">
                <a:solidFill>
                  <a:srgbClr val="00263E"/>
                </a:solidFill>
                <a:latin typeface="Tahoma"/>
                <a:ea typeface="Tahoma"/>
                <a:cs typeface="Tahoma"/>
              </a:rPr>
              <a:t>asynchronous behavior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5DA461-5A88-4E7E-8ABE-3D91F0849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591050"/>
            <a:ext cx="7239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00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defPPr>
            <a:lvl1pPr algn="l">
              <a:defRPr sz="1800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1pPr>
            <a:lvl2pPr algn="l">
              <a:defRPr sz="1800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2pPr>
            <a:lvl3pPr algn="l">
              <a:defRPr sz="1800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3pPr>
            <a:lvl4pPr algn="l">
              <a:defRPr sz="1800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4pPr>
            <a:lvl5pPr algn="l">
              <a:defRPr sz="1800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5pPr>
            <a:lvl6pPr algn="l">
              <a:defRPr sz="1800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6pPr>
            <a:lvl7pPr algn="l">
              <a:defRPr sz="1800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7pPr>
            <a:lvl8pPr algn="l">
              <a:defRPr sz="1800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8pPr>
            <a:lvl9pPr algn="l">
              <a:defRPr sz="1800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484342"/>
                </a:solidFill>
                <a:latin typeface="Tahoma"/>
                <a:ea typeface="Tahoma"/>
                <a:cs typeface="Tahoma"/>
              </a:rPr>
              <a:t>Week 10 · Lecture 18</a:t>
            </a:r>
          </a:p>
          <a:p xmlns:a="http://schemas.openxmlformats.org/drawingml/2006/main">
            <a:pPr algn="l">
              <a:defRPr sz="1800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484342"/>
                </a:solidFill>
                <a:latin typeface="Tahoma"/>
                <a:ea typeface="Tahoma"/>
                <a:cs typeface="Tahoma"/>
              </a:rPr>
              <a:t>Chapter 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F7A246-78A6-4AA0-9C7B-4AC8642FF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829300"/>
            <a:ext cx="87630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20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0FD876-D564-45EF-86B0-DFAABE6DC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000750"/>
            <a:ext cx="4238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defPPr>
            <a:lvl1pPr algn="l">
              <a:defRPr sz="18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lvl1pPr>
            <a:lvl2pPr algn="l">
              <a:defRPr sz="18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lvl2pPr>
            <a:lvl3pPr algn="l">
              <a:defRPr sz="18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lvl3pPr>
            <a:lvl4pPr algn="l">
              <a:defRPr sz="18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lvl4pPr>
            <a:lvl5pPr algn="l">
              <a:defRPr sz="18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lvl5pPr>
            <a:lvl6pPr algn="l">
              <a:defRPr sz="18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lvl6pPr>
            <a:lvl7pPr algn="l">
              <a:defRPr sz="18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lvl7pPr>
            <a:lvl8pPr algn="l">
              <a:defRPr sz="18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lvl8pPr>
            <a:lvl9pPr algn="l">
              <a:defRPr sz="18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Digital Logic Design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912D17-8928-4B20-BD22-605A76333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6019800"/>
            <a:ext cx="3571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defPPr>
            <a:lvl1pPr algn="l">
              <a:defRPr sz="13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lvl1pPr>
            <a:lvl2pPr algn="l">
              <a:defRPr sz="13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lvl2pPr>
            <a:lvl3pPr algn="l">
              <a:defRPr sz="13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lvl3pPr>
            <a:lvl4pPr algn="l">
              <a:defRPr sz="13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lvl4pPr>
            <a:lvl5pPr algn="l">
              <a:defRPr sz="13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lvl5pPr>
            <a:lvl6pPr algn="l">
              <a:defRPr sz="13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lvl6pPr>
            <a:lvl7pPr algn="l">
              <a:defRPr sz="13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lvl7pPr>
            <a:lvl8pPr algn="l">
              <a:defRPr sz="13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lvl8pPr>
            <a:lvl9pPr algn="l">
              <a:defRPr sz="13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MOD-6 design with JK flip-flops</a:t>
            </a:r>
          </a:p>
        </p:txBody>
      </p:sp>
    </p:spTree>
    <p:extLst>
      <p:ext uri="{BB962C8B-B14F-4D97-AF65-F5344CB8AC3E}">
        <p14:creationId xmlns:p14="http://schemas.microsoft.com/office/powerpoint/2010/main" val="144825633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3E6D8B4-8B3D-4492-924B-5450BF990EF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95a8d2cd704810"/>
          <a:srcRect xmlns:a="http://schemas.openxmlformats.org/drawingml/2006/main" l="0" t="23428" r="0" b="2342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915525" y="0"/>
            <a:ext cx="2276475" cy="1019175"/>
          </a:xfrm>
          <a:prstGeom xmlns:a="http://schemas.openxmlformats.org/drawingml/2006/main" prst="rect">
            <a:avLst/>
          </a:prstGeom>
        </p:spPr>
      </p:pic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640BA2-BD3D-4A7C-984F-13F1802C187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99638af67f434b"/>
          <a:stretch xmlns:a="http://schemas.openxmlformats.org/drawingml/2006/main"/>
        </p:blipFill>
        <p:spPr>
          <a:xfrm xmlns:a="http://schemas.openxmlformats.org/drawingml/2006/main">
            <a:off x="8422741" y="228600"/>
            <a:ext cx="3137967" cy="5143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B1673C-F3A2-41E0-B9D7-024279C41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76225"/>
            <a:ext cx="7239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L18 · LEARNING OUTCOMES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A0CB5A-A83C-43A2-8F07-D4E2F25D2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47700"/>
            <a:ext cx="101917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defPPr>
            <a:lvl1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1pPr>
            <a:lvl2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2pPr>
            <a:lvl3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3pPr>
            <a:lvl4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4pPr>
            <a:lvl5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5pPr>
            <a:lvl6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6pPr>
            <a:lvl7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7pPr>
            <a:lvl8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8pPr>
            <a:lvl9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pPr>
            <a:r>
              <a:rPr sz="3225" b="1">
                <a:solidFill>
                  <a:srgbClr val="00263E"/>
                </a:solidFill>
                <a:latin typeface="Tahoma"/>
                <a:ea typeface="Tahoma"/>
                <a:cs typeface="Tahoma"/>
              </a:rPr>
              <a:t>Today’s destination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D159AF-5D1B-43FC-B013-E3760CF58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14859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20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8FBA0D-67E5-4F89-A69C-37B570244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15050"/>
            <a:ext cx="1219200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1017C6-EDC1-496E-AE1F-4900A3651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43625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defPPr>
            <a:lvl1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1pPr>
            <a:lvl2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2pPr>
            <a:lvl3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3pPr>
            <a:lvl4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4pPr>
            <a:lvl5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5pPr>
            <a:lvl6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6pPr>
            <a:lvl7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7pPr>
            <a:lvl8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8pPr>
            <a:lvl9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A90F1C"/>
                </a:solidFill>
                <a:latin typeface="Tahoma"/>
                <a:ea typeface="Tahoma"/>
                <a:cs typeface="Tahoma"/>
              </a:rPr>
              <a:t>Textbook: Ch. 7 §7.3, pp. 447–450  |  Companion: lesson-04.html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143445-6FB0-4088-A2A8-35A959D0B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6429375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defPPr>
            <a:lvl1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1pPr>
            <a:lvl2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2pPr>
            <a:lvl3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3pPr>
            <a:lvl4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4pPr>
            <a:lvl5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5pPr>
            <a:lvl6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6pPr>
            <a:lvl7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7pPr>
            <a:lvl8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8pPr>
            <a:lvl9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484342"/>
                </a:solidFill>
                <a:latin typeface="Tahoma"/>
                <a:ea typeface="Tahoma"/>
                <a:cs typeface="Tahoma"/>
              </a:rPr>
              <a:t>ELEC 335  |  L18  |  Week 10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2C8ECF-A113-4FC8-8706-9936F037E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defPPr>
            <a:lvl1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1pPr>
            <a:lvl2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2pPr>
            <a:lvl3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3pPr>
            <a:lvl4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4pPr>
            <a:lvl5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5pPr>
            <a:lvl6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6pPr>
            <a:lvl7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7pPr>
            <a:lvl8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8pPr>
            <a:lvl9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484342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F81A36-682E-4C64-8ECB-60949A1E7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67500"/>
            <a:ext cx="1219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20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BF042A-A757-4265-AE0E-1D7B4FF0F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847850"/>
            <a:ext cx="7048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00CFE9-7D02-4F95-A468-7B7506067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1809750"/>
            <a:ext cx="9048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defPPr>
            <a:lvl1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1pPr>
            <a:lvl2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2pPr>
            <a:lvl3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3pPr>
            <a:lvl4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4pPr>
            <a:lvl5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5pPr>
            <a:lvl6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6pPr>
            <a:lvl7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7pPr>
            <a:lvl8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8pPr>
            <a:lvl9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pPr>
            <a:r>
              <a:rPr sz="2025" b="0">
                <a:solidFill>
                  <a:srgbClr val="1E252B"/>
                </a:solidFill>
                <a:latin typeface="Tahoma"/>
                <a:ea typeface="Tahoma"/>
                <a:cs typeface="Tahoma"/>
              </a:rPr>
              <a:t>Recall the seven-step synchronous MOD-6 design using D flip-flops.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A4D7A9-F809-4243-BF89-A8712D39F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838450"/>
            <a:ext cx="7048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029B60-B02F-4B8B-B186-C58A9723B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2800350"/>
            <a:ext cx="9048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defPPr>
            <a:lvl1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1pPr>
            <a:lvl2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2pPr>
            <a:lvl3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3pPr>
            <a:lvl4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4pPr>
            <a:lvl5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5pPr>
            <a:lvl6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6pPr>
            <a:lvl7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7pPr>
            <a:lvl8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8pPr>
            <a:lvl9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pPr>
            <a:r>
              <a:rPr sz="2025" b="0">
                <a:solidFill>
                  <a:srgbClr val="1E252B"/>
                </a:solidFill>
                <a:latin typeface="Tahoma"/>
                <a:ea typeface="Tahoma"/>
                <a:cs typeface="Tahoma"/>
              </a:rPr>
              <a:t>Use the JK truth table, characteristic equation, excitation table and state diagram.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23445A-77C0-41EB-8C19-255AC1482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829050"/>
            <a:ext cx="7048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DBA9B1-EC12-40E1-B9F5-C0FE8E21E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3790950"/>
            <a:ext cx="9048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defPPr>
            <a:lvl1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1pPr>
            <a:lvl2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2pPr>
            <a:lvl3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3pPr>
            <a:lvl4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4pPr>
            <a:lvl5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5pPr>
            <a:lvl6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6pPr>
            <a:lvl7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7pPr>
            <a:lvl8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8pPr>
            <a:lvl9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pPr>
            <a:r>
              <a:rPr sz="2025" b="0">
                <a:solidFill>
                  <a:srgbClr val="1E252B"/>
                </a:solidFill>
                <a:latin typeface="Tahoma"/>
                <a:ea typeface="Tahoma"/>
                <a:cs typeface="Tahoma"/>
              </a:rPr>
              <a:t>Design a MOD-6 ripple counter in eight steps, including asynchronous clear.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4B68467-1DEB-4861-B16E-C88966C29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19650"/>
            <a:ext cx="7048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C7EF72F-0210-42D7-9C24-6A75E7E00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4781550"/>
            <a:ext cx="9048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defPPr>
            <a:lvl1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1pPr>
            <a:lvl2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2pPr>
            <a:lvl3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3pPr>
            <a:lvl4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4pPr>
            <a:lvl5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5pPr>
            <a:lvl6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6pPr>
            <a:lvl7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7pPr>
            <a:lvl8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8pPr>
            <a:lvl9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pPr>
            <a:r>
              <a:rPr sz="2025" b="0">
                <a:solidFill>
                  <a:srgbClr val="1E252B"/>
                </a:solidFill>
                <a:latin typeface="Tahoma"/>
                <a:ea typeface="Tahoma"/>
                <a:cs typeface="Tahoma"/>
              </a:rPr>
              <a:t>Trace intermediate codes and explain the reset pulse.</a:t>
            </a:r>
          </a:p>
        </p:txBody>
      </p:sp>
    </p:spTree>
    <p:extLst>
      <p:ext uri="{BB962C8B-B14F-4D97-AF65-F5344CB8AC3E}">
        <p14:creationId xmlns:p14="http://schemas.microsoft.com/office/powerpoint/2010/main" val="66507646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761D9D-F529-4B45-8F9A-86449AC9845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fb385765784874"/>
          <a:srcRect xmlns:a="http://schemas.openxmlformats.org/drawingml/2006/main" l="0" t="23428" r="0" b="2342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915525" y="0"/>
            <a:ext cx="2276475" cy="1019175"/>
          </a:xfrm>
          <a:prstGeom xmlns:a="http://schemas.openxmlformats.org/drawingml/2006/main" prst="rect">
            <a:avLst/>
          </a:prstGeom>
        </p:spPr>
      </p:pic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1753D9-4BAE-4FFB-82A1-384635B999B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c75ad67c714e6c"/>
          <a:stretch xmlns:a="http://schemas.openxmlformats.org/drawingml/2006/main"/>
        </p:blipFill>
        <p:spPr>
          <a:xfrm xmlns:a="http://schemas.openxmlformats.org/drawingml/2006/main">
            <a:off x="8422741" y="228600"/>
            <a:ext cx="3137967" cy="5143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805B18-EF49-45DE-A89B-607AB6EB2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76225"/>
            <a:ext cx="7239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L18 · RECAP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C901CB-A91C-4D22-85ED-E160DB60D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47700"/>
            <a:ext cx="101917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defPPr>
            <a:lvl1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1pPr>
            <a:lvl2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2pPr>
            <a:lvl3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3pPr>
            <a:lvl4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4pPr>
            <a:lvl5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5pPr>
            <a:lvl6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6pPr>
            <a:lvl7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7pPr>
            <a:lvl8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8pPr>
            <a:lvl9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pPr>
            <a:r>
              <a:rPr sz="3225" b="1">
                <a:solidFill>
                  <a:srgbClr val="00263E"/>
                </a:solidFill>
                <a:latin typeface="Tahoma"/>
                <a:ea typeface="Tahoma"/>
                <a:cs typeface="Tahoma"/>
              </a:rPr>
              <a:t>The synchronous design from our whiteboard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B76152-5FB6-459D-8F6D-275B87017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14859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20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9E856D-65B6-4AFD-A0FD-F551102DA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15050"/>
            <a:ext cx="1219200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5C8374-CA4B-4085-B314-2ED6FF19D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43625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defPPr>
            <a:lvl1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1pPr>
            <a:lvl2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2pPr>
            <a:lvl3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3pPr>
            <a:lvl4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4pPr>
            <a:lvl5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5pPr>
            <a:lvl6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6pPr>
            <a:lvl7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7pPr>
            <a:lvl8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8pPr>
            <a:lvl9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A90F1C"/>
                </a:solidFill>
                <a:latin typeface="Tahoma"/>
                <a:ea typeface="Tahoma"/>
                <a:cs typeface="Tahoma"/>
              </a:rPr>
              <a:t>Textbook: Ch. 7 §7.3, pp. 447–450  |  Companion: lesson-04.html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CAF872-DF34-4CB1-9C44-9386753B4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6429375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defPPr>
            <a:lvl1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1pPr>
            <a:lvl2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2pPr>
            <a:lvl3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3pPr>
            <a:lvl4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4pPr>
            <a:lvl5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5pPr>
            <a:lvl6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6pPr>
            <a:lvl7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7pPr>
            <a:lvl8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8pPr>
            <a:lvl9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484342"/>
                </a:solidFill>
                <a:latin typeface="Tahoma"/>
                <a:ea typeface="Tahoma"/>
                <a:cs typeface="Tahoma"/>
              </a:rPr>
              <a:t>ELEC 335  |  L18  |  Week 10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34CD0E-0E63-4457-BAA7-A04B07D61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defPPr>
            <a:lvl1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1pPr>
            <a:lvl2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2pPr>
            <a:lvl3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3pPr>
            <a:lvl4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4pPr>
            <a:lvl5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5pPr>
            <a:lvl6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6pPr>
            <a:lvl7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7pPr>
            <a:lvl8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8pPr>
            <a:lvl9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484342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7EF142-D961-4E3B-BC88-125CCAC7B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67500"/>
            <a:ext cx="1219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202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C81740-9C9A-4A77-A5FB-4FAB7C78317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d57d6461764384"/>
          <a:stretch xmlns:a="http://schemas.openxmlformats.org/drawingml/2006/main"/>
        </p:blipFill>
        <p:spPr>
          <a:xfrm xmlns:a="http://schemas.openxmlformats.org/drawingml/2006/main">
            <a:off x="2513920" y="1628775"/>
            <a:ext cx="7164161" cy="4029075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DC5255-812E-47A8-ABBF-0E20A77B1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5638800"/>
            <a:ext cx="10382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500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defPPr>
            <a:lvl1pPr algn="ctr">
              <a:defRPr sz="1500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1pPr>
            <a:lvl2pPr algn="ctr">
              <a:defRPr sz="1500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2pPr>
            <a:lvl3pPr algn="ctr">
              <a:defRPr sz="1500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3pPr>
            <a:lvl4pPr algn="ctr">
              <a:defRPr sz="1500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4pPr>
            <a:lvl5pPr algn="ctr">
              <a:defRPr sz="1500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5pPr>
            <a:lvl6pPr algn="ctr">
              <a:defRPr sz="1500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6pPr>
            <a:lvl7pPr algn="ctr">
              <a:defRPr sz="1500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7pPr>
            <a:lvl8pPr algn="ctr">
              <a:defRPr sz="1500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8pPr>
            <a:lvl9pPr algn="ctr">
              <a:defRPr sz="1500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A90F1C"/>
                </a:solidFill>
                <a:latin typeface="Tahoma"/>
                <a:ea typeface="Tahoma"/>
                <a:cs typeface="Tahoma"/>
              </a:rPr>
              <a:t>Read the cycle, table, D equations and shared-clock circuit from left to right.</a:t>
            </a:r>
          </a:p>
        </p:txBody>
      </p:sp>
    </p:spTree>
    <p:extLst>
      <p:ext uri="{BB962C8B-B14F-4D97-AF65-F5344CB8AC3E}">
        <p14:creationId xmlns:p14="http://schemas.microsoft.com/office/powerpoint/2010/main" val="6003299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C26FB65-FBCA-4BA0-9A47-3D522C6BA9D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fa1a816a9f42cf"/>
          <a:srcRect xmlns:a="http://schemas.openxmlformats.org/drawingml/2006/main" l="0" t="23428" r="0" b="2342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915525" y="0"/>
            <a:ext cx="2276475" cy="1019175"/>
          </a:xfrm>
          <a:prstGeom xmlns:a="http://schemas.openxmlformats.org/drawingml/2006/main" prst="rect">
            <a:avLst/>
          </a:prstGeom>
        </p:spPr>
      </p:pic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E2F36B-6445-452C-AF6D-4AC00179E51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cff580796c4690"/>
          <a:stretch xmlns:a="http://schemas.openxmlformats.org/drawingml/2006/main"/>
        </p:blipFill>
        <p:spPr>
          <a:xfrm xmlns:a="http://schemas.openxmlformats.org/drawingml/2006/main">
            <a:off x="8422741" y="228600"/>
            <a:ext cx="3137967" cy="5143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56D33C-7D2B-4C63-A06F-F2E356895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76225"/>
            <a:ext cx="7239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L18 · RECAP STEPS 1–4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A4922A-0E27-482C-8DD4-B1BFADBB1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47700"/>
            <a:ext cx="101917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defPPr>
            <a:lvl1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1pPr>
            <a:lvl2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2pPr>
            <a:lvl3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3pPr>
            <a:lvl4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4pPr>
            <a:lvl5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5pPr>
            <a:lvl6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6pPr>
            <a:lvl7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7pPr>
            <a:lvl8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8pPr>
            <a:lvl9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pPr>
            <a:r>
              <a:rPr sz="3225" b="1">
                <a:solidFill>
                  <a:srgbClr val="00263E"/>
                </a:solidFill>
                <a:latin typeface="Tahoma"/>
                <a:ea typeface="Tahoma"/>
                <a:cs typeface="Tahoma"/>
              </a:rPr>
              <a:t>From six counts to D excitations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5766D1-9374-4407-84E7-68AC59738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14859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20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E01DFE-6B2E-4EF7-886D-2F4781FC5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15050"/>
            <a:ext cx="1219200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404077-D6A4-45E8-97B6-182D10ADA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43625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defPPr>
            <a:lvl1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1pPr>
            <a:lvl2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2pPr>
            <a:lvl3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3pPr>
            <a:lvl4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4pPr>
            <a:lvl5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5pPr>
            <a:lvl6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6pPr>
            <a:lvl7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7pPr>
            <a:lvl8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8pPr>
            <a:lvl9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A90F1C"/>
                </a:solidFill>
                <a:latin typeface="Tahoma"/>
                <a:ea typeface="Tahoma"/>
                <a:cs typeface="Tahoma"/>
              </a:rPr>
              <a:t>Textbook: Ch. 7 §7.3, pp. 447–450  |  Companion: lesson-04.html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DC7E81-73BD-412D-9EB8-FFEEA6990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6429375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defPPr>
            <a:lvl1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1pPr>
            <a:lvl2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2pPr>
            <a:lvl3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3pPr>
            <a:lvl4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4pPr>
            <a:lvl5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5pPr>
            <a:lvl6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6pPr>
            <a:lvl7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7pPr>
            <a:lvl8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8pPr>
            <a:lvl9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484342"/>
                </a:solidFill>
                <a:latin typeface="Tahoma"/>
                <a:ea typeface="Tahoma"/>
                <a:cs typeface="Tahoma"/>
              </a:rPr>
              <a:t>ELEC 335  |  L18  |  Week 10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C5201D-022B-4C7A-90D9-FF24AA65C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defPPr>
            <a:lvl1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1pPr>
            <a:lvl2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2pPr>
            <a:lvl3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3pPr>
            <a:lvl4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4pPr>
            <a:lvl5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5pPr>
            <a:lvl6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6pPr>
            <a:lvl7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7pPr>
            <a:lvl8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8pPr>
            <a:lvl9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484342"/>
                </a:solidFill>
                <a:latin typeface="Tahoma"/>
                <a:ea typeface="Tahoma"/>
                <a:cs typeface="Tahoma"/>
              </a:rPr>
              <a:t>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CA1137-CF01-41F5-BDC7-DF8BCB3B1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67500"/>
            <a:ext cx="1219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20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63994B-ADD6-4883-9C7A-CEB0FA610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62125"/>
            <a:ext cx="7048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8E64B6-2ED3-4009-AD96-5064F4670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1724025"/>
            <a:ext cx="9048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defPPr>
            <a:lvl1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1pPr>
            <a:lvl2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2pPr>
            <a:lvl3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3pPr>
            <a:lvl4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4pPr>
            <a:lvl5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5pPr>
            <a:lvl6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6pPr>
            <a:lvl7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7pPr>
            <a:lvl8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8pPr>
            <a:lvl9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pPr>
            <a:r>
              <a:rPr sz="1950" b="0">
                <a:solidFill>
                  <a:srgbClr val="1E252B"/>
                </a:solidFill>
                <a:latin typeface="Tahoma"/>
                <a:ea typeface="Tahoma"/>
                <a:cs typeface="Tahoma"/>
              </a:rPr>
              <a:t>Choose n=3 because 2²&lt;6≤2³.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3BCD28-929E-4842-8DB9-AD0C3D814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714625"/>
            <a:ext cx="7048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DA90744-2AF1-4DA1-92D3-BBA2FCD0C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2676525"/>
            <a:ext cx="9048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defPPr>
            <a:lvl1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1pPr>
            <a:lvl2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2pPr>
            <a:lvl3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3pPr>
            <a:lvl4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4pPr>
            <a:lvl5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5pPr>
            <a:lvl6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6pPr>
            <a:lvl7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7pPr>
            <a:lvl8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8pPr>
            <a:lvl9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pPr>
            <a:r>
              <a:rPr sz="1950" b="0">
                <a:solidFill>
                  <a:srgbClr val="1E252B"/>
                </a:solidFill>
                <a:latin typeface="Tahoma"/>
                <a:ea typeface="Tahoma"/>
                <a:cs typeface="Tahoma"/>
              </a:rPr>
              <a:t>Draw 000 → 001 → 010 → 011 → 100 → 101 → 000.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6C1A69-2FBA-44EA-9FF5-336AF6CE2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667125"/>
            <a:ext cx="7048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0CCE3B-6B4E-4149-9AF9-A62DF5C7C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3629025"/>
            <a:ext cx="9048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defPPr>
            <a:lvl1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1pPr>
            <a:lvl2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2pPr>
            <a:lvl3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3pPr>
            <a:lvl4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4pPr>
            <a:lvl5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5pPr>
            <a:lvl6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6pPr>
            <a:lvl7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7pPr>
            <a:lvl8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8pPr>
            <a:lvl9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pPr>
            <a:r>
              <a:rPr sz="1950" b="0">
                <a:solidFill>
                  <a:srgbClr val="1E252B"/>
                </a:solidFill>
                <a:latin typeface="Tahoma"/>
                <a:ea typeface="Tahoma"/>
                <a:cs typeface="Tahoma"/>
              </a:rPr>
              <a:t>List every present and next code; assign 110 and 111 to 000.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490332-F424-425D-B9D1-16131EB9B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19625"/>
            <a:ext cx="7048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5CFCD51-670C-41B6-A654-227EE4C9A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4581525"/>
            <a:ext cx="9048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defPPr>
            <a:lvl1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1pPr>
            <a:lvl2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2pPr>
            <a:lvl3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3pPr>
            <a:lvl4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4pPr>
            <a:lvl5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5pPr>
            <a:lvl6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6pPr>
            <a:lvl7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7pPr>
            <a:lvl8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8pPr>
            <a:lvl9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pPr>
            <a:r>
              <a:rPr sz="1950" b="0">
                <a:solidFill>
                  <a:srgbClr val="1E252B"/>
                </a:solidFill>
                <a:latin typeface="Tahoma"/>
                <a:ea typeface="Tahoma"/>
                <a:cs typeface="Tahoma"/>
              </a:rPr>
              <a:t>Use the D flip-flop rule Q⁺=D for each of the three bits.</a:t>
            </a:r>
          </a:p>
        </p:txBody>
      </p:sp>
    </p:spTree>
    <p:extLst>
      <p:ext uri="{BB962C8B-B14F-4D97-AF65-F5344CB8AC3E}">
        <p14:creationId xmlns:p14="http://schemas.microsoft.com/office/powerpoint/2010/main" val="134957539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3497205-B9F6-4875-96E1-EFE3A00B730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3f965fe4654926"/>
          <a:srcRect xmlns:a="http://schemas.openxmlformats.org/drawingml/2006/main" l="0" t="23428" r="0" b="2342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915525" y="0"/>
            <a:ext cx="2276475" cy="1019175"/>
          </a:xfrm>
          <a:prstGeom xmlns:a="http://schemas.openxmlformats.org/drawingml/2006/main" prst="rect">
            <a:avLst/>
          </a:prstGeom>
        </p:spPr>
      </p:pic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7C35CA-3D41-4533-B5EF-3584948CAC2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2769f27fd74988"/>
          <a:stretch xmlns:a="http://schemas.openxmlformats.org/drawingml/2006/main"/>
        </p:blipFill>
        <p:spPr>
          <a:xfrm xmlns:a="http://schemas.openxmlformats.org/drawingml/2006/main">
            <a:off x="8422741" y="228600"/>
            <a:ext cx="3137967" cy="5143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58C5F1-751F-4FE3-9452-812DF26ED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76225"/>
            <a:ext cx="7239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L18 · RECAP STEPS 5–7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80E0E8-CB78-4009-B154-281F36048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47700"/>
            <a:ext cx="101917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defPPr>
            <a:lvl1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1pPr>
            <a:lvl2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2pPr>
            <a:lvl3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3pPr>
            <a:lvl4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4pPr>
            <a:lvl5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5pPr>
            <a:lvl6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6pPr>
            <a:lvl7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7pPr>
            <a:lvl8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8pPr>
            <a:lvl9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pPr>
            <a:r>
              <a:rPr sz="3225" b="1">
                <a:solidFill>
                  <a:srgbClr val="00263E"/>
                </a:solidFill>
                <a:latin typeface="Tahoma"/>
                <a:ea typeface="Tahoma"/>
                <a:cs typeface="Tahoma"/>
              </a:rPr>
              <a:t>From D excitations to a circuit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DE56A5-2334-4659-B066-3AF52304C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14859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20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A03570-D0A4-4D5E-8D96-3668F0BDA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15050"/>
            <a:ext cx="1219200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B8ED6D-EF2F-4370-8EA8-BAAD381E4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43625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defPPr>
            <a:lvl1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1pPr>
            <a:lvl2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2pPr>
            <a:lvl3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3pPr>
            <a:lvl4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4pPr>
            <a:lvl5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5pPr>
            <a:lvl6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6pPr>
            <a:lvl7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7pPr>
            <a:lvl8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8pPr>
            <a:lvl9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A90F1C"/>
                </a:solidFill>
                <a:latin typeface="Tahoma"/>
                <a:ea typeface="Tahoma"/>
                <a:cs typeface="Tahoma"/>
              </a:rPr>
              <a:t>Textbook: Ch. 7 §7.3, pp. 447–450  |  Companion: lesson-04.html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823CE0-6136-4C98-BEE7-585B8BDF0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6429375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defPPr>
            <a:lvl1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1pPr>
            <a:lvl2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2pPr>
            <a:lvl3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3pPr>
            <a:lvl4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4pPr>
            <a:lvl5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5pPr>
            <a:lvl6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6pPr>
            <a:lvl7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7pPr>
            <a:lvl8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8pPr>
            <a:lvl9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484342"/>
                </a:solidFill>
                <a:latin typeface="Tahoma"/>
                <a:ea typeface="Tahoma"/>
                <a:cs typeface="Tahoma"/>
              </a:rPr>
              <a:t>ELEC 335  |  L18  |  Week 10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A5436F-A426-4A3E-954C-FA6B823E5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defPPr>
            <a:lvl1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1pPr>
            <a:lvl2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2pPr>
            <a:lvl3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3pPr>
            <a:lvl4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4pPr>
            <a:lvl5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5pPr>
            <a:lvl6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6pPr>
            <a:lvl7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7pPr>
            <a:lvl8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8pPr>
            <a:lvl9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484342"/>
                </a:solidFill>
                <a:latin typeface="Tahoma"/>
                <a:ea typeface="Tahoma"/>
                <a:cs typeface="Tahoma"/>
              </a:rPr>
              <a:t>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902D4C-055F-490A-A4EC-672B150B0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67500"/>
            <a:ext cx="1219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20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1615D6-60B3-4DAE-AB2B-B082BA414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847850"/>
            <a:ext cx="7048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591EEB-FC87-4D53-A249-A4C562866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1809750"/>
            <a:ext cx="9048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defPPr>
            <a:lvl1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1pPr>
            <a:lvl2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2pPr>
            <a:lvl3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3pPr>
            <a:lvl4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4pPr>
            <a:lvl5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5pPr>
            <a:lvl6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6pPr>
            <a:lvl7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7pPr>
            <a:lvl8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8pPr>
            <a:lvl9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pPr>
            <a:r>
              <a:rPr sz="2025" b="0">
                <a:solidFill>
                  <a:srgbClr val="1E252B"/>
                </a:solidFill>
                <a:latin typeface="Tahoma"/>
                <a:ea typeface="Tahoma"/>
                <a:cs typeface="Tahoma"/>
              </a:rPr>
              <a:t>Copy next-state bits directly into D₂, D₁ and D₀ columns.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45B7BD-704B-4A5F-A099-C194FFAF4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71800"/>
            <a:ext cx="7048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8C3962-94F4-4A2F-A9EE-8B6F857F4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2933700"/>
            <a:ext cx="9048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defPPr>
            <a:lvl1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1pPr>
            <a:lvl2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2pPr>
            <a:lvl3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3pPr>
            <a:lvl4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4pPr>
            <a:lvl5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5pPr>
            <a:lvl6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6pPr>
            <a:lvl7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7pPr>
            <a:lvl8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8pPr>
            <a:lvl9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pPr>
            <a:r>
              <a:rPr sz="2025" b="0">
                <a:solidFill>
                  <a:srgbClr val="1E252B"/>
                </a:solidFill>
                <a:latin typeface="Tahoma"/>
                <a:ea typeface="Tahoma"/>
                <a:cs typeface="Tahoma"/>
              </a:rPr>
              <a:t>Simplify each D input using the present-state variables.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1B9930-9A08-47AB-8264-BF8A58C3A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95750"/>
            <a:ext cx="7048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05B728D-32CE-41EC-8CB7-9B462F362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4057650"/>
            <a:ext cx="9048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defPPr>
            <a:lvl1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1pPr>
            <a:lvl2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2pPr>
            <a:lvl3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3pPr>
            <a:lvl4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4pPr>
            <a:lvl5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5pPr>
            <a:lvl6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6pPr>
            <a:lvl7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7pPr>
            <a:lvl8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8pPr>
            <a:lvl9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pPr>
            <a:r>
              <a:rPr sz="2025" b="0">
                <a:solidFill>
                  <a:srgbClr val="1E252B"/>
                </a:solidFill>
                <a:latin typeface="Tahoma"/>
                <a:ea typeface="Tahoma"/>
                <a:cs typeface="Tahoma"/>
              </a:rPr>
              <a:t>Connect the logic to three D flip-flops driven by one shared clock.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EF5E4C-E81F-4B51-9FCD-02B8E9682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362575"/>
            <a:ext cx="102489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0026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FB64A9-6F3F-4125-BC4A-9F90E6C97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410200"/>
            <a:ext cx="97155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7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defPPr>
            <a:lvl1pPr algn="ctr">
              <a:defRPr sz="17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lvl1pPr>
            <a:lvl2pPr algn="ctr">
              <a:defRPr sz="17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lvl2pPr>
            <a:lvl3pPr algn="ctr">
              <a:defRPr sz="17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lvl3pPr>
            <a:lvl4pPr algn="ctr">
              <a:defRPr sz="17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lvl4pPr>
            <a:lvl5pPr algn="ctr">
              <a:defRPr sz="17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lvl5pPr>
            <a:lvl6pPr algn="ctr">
              <a:defRPr sz="17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lvl6pPr>
            <a:lvl7pPr algn="ctr">
              <a:defRPr sz="17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lvl7pPr>
            <a:lvl8pPr algn="ctr">
              <a:defRPr sz="17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lvl8pPr>
            <a:lvl9pPr algn="ctr">
              <a:defRPr sz="17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All three Q outputs update from the same external edge.</a:t>
            </a:r>
          </a:p>
        </p:txBody>
      </p:sp>
    </p:spTree>
    <p:extLst>
      <p:ext uri="{BB962C8B-B14F-4D97-AF65-F5344CB8AC3E}">
        <p14:creationId xmlns:p14="http://schemas.microsoft.com/office/powerpoint/2010/main" val="175960920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5EA7DB-295E-49F0-9553-F1D952381DF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78127b2e1e4806"/>
          <a:srcRect xmlns:a="http://schemas.openxmlformats.org/drawingml/2006/main" l="0" t="23428" r="0" b="2342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915525" y="0"/>
            <a:ext cx="2276475" cy="1019175"/>
          </a:xfrm>
          <a:prstGeom xmlns:a="http://schemas.openxmlformats.org/drawingml/2006/main" prst="rect">
            <a:avLst/>
          </a:prstGeom>
        </p:spPr>
      </p:pic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D2DD5F-FCC5-4CCB-835E-BE88799656F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56cf66edf94f46"/>
          <a:stretch xmlns:a="http://schemas.openxmlformats.org/drawingml/2006/main"/>
        </p:blipFill>
        <p:spPr>
          <a:xfrm xmlns:a="http://schemas.openxmlformats.org/drawingml/2006/main">
            <a:off x="8422741" y="228600"/>
            <a:ext cx="3137967" cy="5143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45752F-DAB2-4F2C-87ED-E6E81BB10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76225"/>
            <a:ext cx="7239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L18 · RECAP TABLE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1B8F06-F3EC-4D5F-935E-118AD4A67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47700"/>
            <a:ext cx="101917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defPPr>
            <a:lvl1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1pPr>
            <a:lvl2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2pPr>
            <a:lvl3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3pPr>
            <a:lvl4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4pPr>
            <a:lvl5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5pPr>
            <a:lvl6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6pPr>
            <a:lvl7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7pPr>
            <a:lvl8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8pPr>
            <a:lvl9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pPr>
            <a:r>
              <a:rPr sz="3225" b="1">
                <a:solidFill>
                  <a:srgbClr val="00263E"/>
                </a:solidFill>
                <a:latin typeface="Tahoma"/>
                <a:ea typeface="Tahoma"/>
                <a:cs typeface="Tahoma"/>
              </a:rPr>
              <a:t>The complete MOD-6 transition table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74B87B-739B-4FEB-8389-C36434417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14859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20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1CA7C0-FA7D-4E01-902F-BFB70D3ED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15050"/>
            <a:ext cx="1219200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C26FBE-66B6-46FD-A7C0-C1344FB9A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43625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defPPr>
            <a:lvl1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1pPr>
            <a:lvl2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2pPr>
            <a:lvl3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3pPr>
            <a:lvl4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4pPr>
            <a:lvl5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5pPr>
            <a:lvl6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6pPr>
            <a:lvl7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7pPr>
            <a:lvl8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8pPr>
            <a:lvl9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A90F1C"/>
                </a:solidFill>
                <a:latin typeface="Tahoma"/>
                <a:ea typeface="Tahoma"/>
                <a:cs typeface="Tahoma"/>
              </a:rPr>
              <a:t>Textbook: Ch. 7 §7.3, pp. 447–450  |  Companion: lesson-04.html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DE7024-03DA-4E2A-9339-D88614B02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6429375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defPPr>
            <a:lvl1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1pPr>
            <a:lvl2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2pPr>
            <a:lvl3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3pPr>
            <a:lvl4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4pPr>
            <a:lvl5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5pPr>
            <a:lvl6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6pPr>
            <a:lvl7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7pPr>
            <a:lvl8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8pPr>
            <a:lvl9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484342"/>
                </a:solidFill>
                <a:latin typeface="Tahoma"/>
                <a:ea typeface="Tahoma"/>
                <a:cs typeface="Tahoma"/>
              </a:rPr>
              <a:t>ELEC 335  |  L18  |  Week 10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D86C55-A640-4F96-B5AA-CAF7CD0B5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defPPr>
            <a:lvl1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1pPr>
            <a:lvl2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2pPr>
            <a:lvl3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3pPr>
            <a:lvl4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4pPr>
            <a:lvl5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5pPr>
            <a:lvl6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6pPr>
            <a:lvl7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7pPr>
            <a:lvl8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8pPr>
            <a:lvl9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484342"/>
                </a:solidFill>
                <a:latin typeface="Tahoma"/>
                <a:ea typeface="Tahoma"/>
                <a:cs typeface="Tahoma"/>
              </a:rPr>
              <a:t>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320948-C6CA-4B6F-863F-3463F5368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67500"/>
            <a:ext cx="1219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202E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36EAB7-3F71-4495-8844-4D2AAC17F9B1}"/>
              </a:ext>
            </a:extLst>
          </p:cNvPr>
          <p:cNvGraphicFramePr/>
          <p:nvPr/>
        </p:nvGraphicFramePr>
        <p:xfrm>
          <a:off xmlns:a="http://schemas.openxmlformats.org/drawingml/2006/main" x="885825" y="1714500"/>
          <a:ext xmlns:a="http://schemas.openxmlformats.org/drawingml/2006/main" cx="10410825" cy="38290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602706"/>
                <a:gridCol w="2602706"/>
                <a:gridCol w="2602706"/>
                <a:gridCol w="2602706"/>
              </a:tblGrid>
              <a:tr h="425450"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Tahoma"/>
                          <a:ea typeface="Tahoma"/>
                          <a:cs typeface="Tahoma"/>
                        </a:rPr>
                        <a:t>Present Q₂Q₁Q₀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333333"/>
                      </a:solidFill>
                      <a:prstDash val="solid"/>
                    </a:lnL>
                    <a:lnR w="9525">
                      <a:solidFill>
                        <a:srgbClr val="333333"/>
                      </a:solidFill>
                      <a:prstDash val="solid"/>
                    </a:lnR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00263E"/>
                    </a:solidFill>
                  </a:tcPr>
                </a:tc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Tahoma"/>
                          <a:ea typeface="Tahoma"/>
                          <a:cs typeface="Tahoma"/>
                        </a:rPr>
                        <a:t>Next Q₂⁺Q₁⁺Q₀⁺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33333"/>
                      </a:solidFill>
                      <a:prstDash val="solid"/>
                    </a:lnR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00263E"/>
                    </a:solidFill>
                  </a:tcPr>
                </a:tc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Tahoma"/>
                          <a:ea typeface="Tahoma"/>
                          <a:cs typeface="Tahoma"/>
                        </a:rPr>
                        <a:t>D₂D₁D₀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33333"/>
                      </a:solidFill>
                      <a:prstDash val="solid"/>
                    </a:lnR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00263E"/>
                    </a:solidFill>
                  </a:tcPr>
                </a:tc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Tahoma"/>
                          <a:ea typeface="Tahoma"/>
                          <a:cs typeface="Tahoma"/>
                        </a:rPr>
                        <a:t>Meaning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33333"/>
                      </a:solidFill>
                      <a:prstDash val="solid"/>
                    </a:lnR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00263E"/>
                    </a:solidFill>
                  </a:tcPr>
                </a:tc>
              </a:tr>
              <a:tr h="425450"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000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333333"/>
                      </a:solidFill>
                      <a:prstDash val="solid"/>
                    </a:lnL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001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001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count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5450"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001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333333"/>
                      </a:solidFill>
                      <a:prstDash val="solid"/>
                    </a:lnL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3F1ED"/>
                    </a:solidFill>
                  </a:tcPr>
                </a:tc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010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3F1ED"/>
                    </a:solidFill>
                  </a:tcPr>
                </a:tc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010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3F1ED"/>
                    </a:solidFill>
                  </a:tcPr>
                </a:tc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count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3F1ED"/>
                    </a:solidFill>
                  </a:tcPr>
                </a:tc>
              </a:tr>
              <a:tr h="425450"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010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333333"/>
                      </a:solidFill>
                      <a:prstDash val="solid"/>
                    </a:lnL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011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011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count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5450"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011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333333"/>
                      </a:solidFill>
                      <a:prstDash val="solid"/>
                    </a:lnL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3F1ED"/>
                    </a:solidFill>
                  </a:tcPr>
                </a:tc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100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3F1ED"/>
                    </a:solidFill>
                  </a:tcPr>
                </a:tc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100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3F1ED"/>
                    </a:solidFill>
                  </a:tcPr>
                </a:tc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count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3F1ED"/>
                    </a:solidFill>
                  </a:tcPr>
                </a:tc>
              </a:tr>
              <a:tr h="425450"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100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333333"/>
                      </a:solidFill>
                      <a:prstDash val="solid"/>
                    </a:lnL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101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101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count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5450"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101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333333"/>
                      </a:solidFill>
                      <a:prstDash val="solid"/>
                    </a:lnL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3F1ED"/>
                    </a:solidFill>
                  </a:tcPr>
                </a:tc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000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3F1ED"/>
                    </a:solidFill>
                  </a:tcPr>
                </a:tc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000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3F1ED"/>
                    </a:solidFill>
                  </a:tcPr>
                </a:tc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wrap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3F1ED"/>
                    </a:solidFill>
                  </a:tcPr>
                </a:tc>
              </a:tr>
              <a:tr h="425450"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110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333333"/>
                      </a:solidFill>
                      <a:prstDash val="solid"/>
                    </a:lnL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000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000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recovery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5450"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111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333333"/>
                      </a:solidFill>
                      <a:prstDash val="solid"/>
                    </a:lnL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3F1ED"/>
                    </a:solidFill>
                  </a:tcPr>
                </a:tc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000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3F1ED"/>
                    </a:solidFill>
                  </a:tcPr>
                </a:tc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000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3F1ED"/>
                    </a:solidFill>
                  </a:tcPr>
                </a:tc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recovery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3F1ED"/>
                    </a:solidFill>
                  </a:tcPr>
                </a:tc>
              </a:tr>
            </a:tbl>
          </a:graphicData>
        </a:graphic>
      </p:graphicFrame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3D4728-E42C-483B-B4AA-019804E38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5629275"/>
            <a:ext cx="98774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650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defPPr>
            <a:lvl1pPr algn="ctr">
              <a:defRPr sz="1650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1pPr>
            <a:lvl2pPr algn="ctr">
              <a:defRPr sz="1650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2pPr>
            <a:lvl3pPr algn="ctr">
              <a:defRPr sz="1650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3pPr>
            <a:lvl4pPr algn="ctr">
              <a:defRPr sz="1650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4pPr>
            <a:lvl5pPr algn="ctr">
              <a:defRPr sz="1650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5pPr>
            <a:lvl6pPr algn="ctr">
              <a:defRPr sz="1650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6pPr>
            <a:lvl7pPr algn="ctr">
              <a:defRPr sz="1650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7pPr>
            <a:lvl8pPr algn="ctr">
              <a:defRPr sz="1650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8pPr>
            <a:lvl9pPr algn="ctr">
              <a:defRPr sz="1650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A90F1C"/>
                </a:solidFill>
                <a:latin typeface="Tahoma"/>
                <a:ea typeface="Tahoma"/>
                <a:cs typeface="Tahoma"/>
              </a:rPr>
              <a:t>Q⁺=D. Read each D column directly from the corresponding next-state bit.</a:t>
            </a:r>
          </a:p>
        </p:txBody>
      </p:sp>
    </p:spTree>
    <p:extLst>
      <p:ext uri="{BB962C8B-B14F-4D97-AF65-F5344CB8AC3E}">
        <p14:creationId xmlns:p14="http://schemas.microsoft.com/office/powerpoint/2010/main" val="197352770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CFADF45-7BCC-4CE2-8DD0-CCD93E75F8E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fb1d65a1174b2e"/>
          <a:srcRect xmlns:a="http://schemas.openxmlformats.org/drawingml/2006/main" l="0" t="23428" r="0" b="2342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915525" y="0"/>
            <a:ext cx="2276475" cy="1019175"/>
          </a:xfrm>
          <a:prstGeom xmlns:a="http://schemas.openxmlformats.org/drawingml/2006/main" prst="rect">
            <a:avLst/>
          </a:prstGeom>
        </p:spPr>
      </p:pic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AD629D-DF43-43F8-8AE1-24558E9BD4A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c83843a4454634"/>
          <a:stretch xmlns:a="http://schemas.openxmlformats.org/drawingml/2006/main"/>
        </p:blipFill>
        <p:spPr>
          <a:xfrm xmlns:a="http://schemas.openxmlformats.org/drawingml/2006/main">
            <a:off x="8422741" y="228600"/>
            <a:ext cx="3137967" cy="5143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42DD5C-EC86-4A4B-906D-E68CDB324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76225"/>
            <a:ext cx="7239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L18 · RECAP GATES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2A7583-6ECB-4DB6-A4B0-A023B0C05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47700"/>
            <a:ext cx="101917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defPPr>
            <a:lvl1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1pPr>
            <a:lvl2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2pPr>
            <a:lvl3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3pPr>
            <a:lvl4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4pPr>
            <a:lvl5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5pPr>
            <a:lvl6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6pPr>
            <a:lvl7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7pPr>
            <a:lvl8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8pPr>
            <a:lvl9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pPr>
            <a:r>
              <a:rPr sz="3225" b="1">
                <a:solidFill>
                  <a:srgbClr val="00263E"/>
                </a:solidFill>
                <a:latin typeface="Tahoma"/>
                <a:ea typeface="Tahoma"/>
                <a:cs typeface="Tahoma"/>
              </a:rPr>
              <a:t>Boolean rules for the three D inputs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EC109D-9E24-448C-83D3-C4BEE3641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14859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20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AA5864-42EC-4486-8866-FFE28E36F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15050"/>
            <a:ext cx="1219200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08D1C8-3AD3-48F2-A609-9F5E45F8C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43625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defPPr>
            <a:lvl1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1pPr>
            <a:lvl2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2pPr>
            <a:lvl3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3pPr>
            <a:lvl4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4pPr>
            <a:lvl5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5pPr>
            <a:lvl6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6pPr>
            <a:lvl7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7pPr>
            <a:lvl8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8pPr>
            <a:lvl9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A90F1C"/>
                </a:solidFill>
                <a:latin typeface="Tahoma"/>
                <a:ea typeface="Tahoma"/>
                <a:cs typeface="Tahoma"/>
              </a:rPr>
              <a:t>Textbook: Ch. 7 §7.3, pp. 447–450  |  Companion: lesson-04.html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7E2D28-7E4D-4C12-B4DA-D36A5B0F6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6429375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defPPr>
            <a:lvl1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1pPr>
            <a:lvl2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2pPr>
            <a:lvl3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3pPr>
            <a:lvl4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4pPr>
            <a:lvl5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5pPr>
            <a:lvl6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6pPr>
            <a:lvl7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7pPr>
            <a:lvl8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8pPr>
            <a:lvl9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484342"/>
                </a:solidFill>
                <a:latin typeface="Tahoma"/>
                <a:ea typeface="Tahoma"/>
                <a:cs typeface="Tahoma"/>
              </a:rPr>
              <a:t>ELEC 335  |  L18  |  Week 10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2A4116-CF7C-4DAE-8BA2-7AFDB0DDB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defPPr>
            <a:lvl1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1pPr>
            <a:lvl2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2pPr>
            <a:lvl3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3pPr>
            <a:lvl4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4pPr>
            <a:lvl5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5pPr>
            <a:lvl6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6pPr>
            <a:lvl7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7pPr>
            <a:lvl8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8pPr>
            <a:lvl9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484342"/>
                </a:solidFill>
                <a:latin typeface="Tahoma"/>
                <a:ea typeface="Tahoma"/>
                <a:cs typeface="Tahoma"/>
              </a:rPr>
              <a:t>7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57CE17-419E-4741-ACAA-75A882B91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67500"/>
            <a:ext cx="1219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20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6E30DD-6FF9-4074-B108-45D0FD215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" y="1809750"/>
            <a:ext cx="9658350" cy="762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3F1ED"/>
          </a:solidFill>
          <a:ln xmlns:a="http://schemas.openxmlformats.org/drawingml/2006/main" w="19050">
            <a:solidFill>
              <a:srgbClr val="D3202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9E1B9C-7C4D-4BD0-ACDA-01A62C606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1905000"/>
            <a:ext cx="93916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23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defPPr>
            <a:lvl1pPr algn="ctr">
              <a:defRPr sz="23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1pPr>
            <a:lvl2pPr algn="ctr">
              <a:defRPr sz="23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2pPr>
            <a:lvl3pPr algn="ctr">
              <a:defRPr sz="23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3pPr>
            <a:lvl4pPr algn="ctr">
              <a:defRPr sz="23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4pPr>
            <a:lvl5pPr algn="ctr">
              <a:defRPr sz="23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5pPr>
            <a:lvl6pPr algn="ctr">
              <a:defRPr sz="23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6pPr>
            <a:lvl7pPr algn="ctr">
              <a:defRPr sz="23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7pPr>
            <a:lvl8pPr algn="ctr">
              <a:defRPr sz="23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8pPr>
            <a:lvl9pPr algn="ctr">
              <a:defRPr sz="23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ctr">
              <a:defRPr sz="23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00263E"/>
                </a:solidFill>
                <a:latin typeface="Tahoma"/>
                <a:ea typeface="Tahoma"/>
                <a:cs typeface="Tahoma"/>
              </a:rPr>
              <a:t>D₂ = Q̅₂Q₁Q₀ + Q₂Q̅₁Q̅₀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7707D0-9366-46D1-A293-838224EC3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" y="2809875"/>
            <a:ext cx="9658350" cy="762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3F1ED"/>
          </a:solidFill>
          <a:ln xmlns:a="http://schemas.openxmlformats.org/drawingml/2006/main" w="19050">
            <a:solidFill>
              <a:srgbClr val="00263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C5FBB6-12CB-42B6-B707-78F53AAD9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2905125"/>
            <a:ext cx="93916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23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defPPr>
            <a:lvl1pPr algn="ctr">
              <a:defRPr sz="23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1pPr>
            <a:lvl2pPr algn="ctr">
              <a:defRPr sz="23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2pPr>
            <a:lvl3pPr algn="ctr">
              <a:defRPr sz="23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3pPr>
            <a:lvl4pPr algn="ctr">
              <a:defRPr sz="23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4pPr>
            <a:lvl5pPr algn="ctr">
              <a:defRPr sz="23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5pPr>
            <a:lvl6pPr algn="ctr">
              <a:defRPr sz="23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6pPr>
            <a:lvl7pPr algn="ctr">
              <a:defRPr sz="23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7pPr>
            <a:lvl8pPr algn="ctr">
              <a:defRPr sz="23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8pPr>
            <a:lvl9pPr algn="ctr">
              <a:defRPr sz="23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ctr">
              <a:defRPr sz="23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00263E"/>
                </a:solidFill>
                <a:latin typeface="Tahoma"/>
                <a:ea typeface="Tahoma"/>
                <a:cs typeface="Tahoma"/>
              </a:rPr>
              <a:t>D₁ = Q̅₂(Q₁ ⊕ Q₀)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53CBDC-88E4-4802-8531-BAB80839A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" y="3810000"/>
            <a:ext cx="9658350" cy="762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3F1ED"/>
          </a:solidFill>
          <a:ln xmlns:a="http://schemas.openxmlformats.org/drawingml/2006/main" w="19050">
            <a:solidFill>
              <a:srgbClr val="00263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6EE784-57FE-4D2A-9680-A8909EFF8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0175" y="3905250"/>
            <a:ext cx="93916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23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defPPr>
            <a:lvl1pPr algn="ctr">
              <a:defRPr sz="23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1pPr>
            <a:lvl2pPr algn="ctr">
              <a:defRPr sz="23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2pPr>
            <a:lvl3pPr algn="ctr">
              <a:defRPr sz="23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3pPr>
            <a:lvl4pPr algn="ctr">
              <a:defRPr sz="23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4pPr>
            <a:lvl5pPr algn="ctr">
              <a:defRPr sz="23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5pPr>
            <a:lvl6pPr algn="ctr">
              <a:defRPr sz="23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6pPr>
            <a:lvl7pPr algn="ctr">
              <a:defRPr sz="23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7pPr>
            <a:lvl8pPr algn="ctr">
              <a:defRPr sz="23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8pPr>
            <a:lvl9pPr algn="ctr">
              <a:defRPr sz="23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ctr">
              <a:defRPr sz="23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00263E"/>
                </a:solidFill>
                <a:latin typeface="Tahoma"/>
                <a:ea typeface="Tahoma"/>
                <a:cs typeface="Tahoma"/>
              </a:rPr>
              <a:t>D₀ = Q̅₀(Q̅₂ + Q̅₁)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63F584-5B0D-453D-993A-728E33350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076825"/>
            <a:ext cx="9858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800" b="1">
                <a:solidFill>
                  <a:srgbClr val="1E252B"/>
                </a:solidFill>
                <a:latin typeface="Tahoma"/>
                <a:ea typeface="Tahoma"/>
                <a:cs typeface="Tahoma"/>
              </a:defRPr>
            </a:defPPr>
            <a:lvl1pPr algn="ctr">
              <a:defRPr sz="1800" b="1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1pPr>
            <a:lvl2pPr algn="ctr">
              <a:defRPr sz="1800" b="1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2pPr>
            <a:lvl3pPr algn="ctr">
              <a:defRPr sz="1800" b="1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3pPr>
            <a:lvl4pPr algn="ctr">
              <a:defRPr sz="1800" b="1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4pPr>
            <a:lvl5pPr algn="ctr">
              <a:defRPr sz="1800" b="1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5pPr>
            <a:lvl6pPr algn="ctr">
              <a:defRPr sz="1800" b="1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6pPr>
            <a:lvl7pPr algn="ctr">
              <a:defRPr sz="1800" b="1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7pPr>
            <a:lvl8pPr algn="ctr">
              <a:defRPr sz="1800" b="1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8pPr>
            <a:lvl9pPr algn="ctr">
              <a:defRPr sz="1800" b="1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1E252B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1E252B"/>
                </a:solidFill>
                <a:latin typeface="Tahoma"/>
                <a:ea typeface="Tahoma"/>
                <a:cs typeface="Tahoma"/>
              </a:rPr>
              <a:t>The gates compute next state from the present outputs before the common clock edge.</a:t>
            </a:r>
          </a:p>
        </p:txBody>
      </p:sp>
    </p:spTree>
    <p:extLst>
      <p:ext uri="{BB962C8B-B14F-4D97-AF65-F5344CB8AC3E}">
        <p14:creationId xmlns:p14="http://schemas.microsoft.com/office/powerpoint/2010/main" val="100009505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5ECAD1-BCA6-4CE6-9FF2-07DE09F0CD1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9eb5c0fbf54916"/>
          <a:srcRect xmlns:a="http://schemas.openxmlformats.org/drawingml/2006/main" l="0" t="23428" r="0" b="2342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915525" y="0"/>
            <a:ext cx="2276475" cy="1019175"/>
          </a:xfrm>
          <a:prstGeom xmlns:a="http://schemas.openxmlformats.org/drawingml/2006/main" prst="rect">
            <a:avLst/>
          </a:prstGeom>
        </p:spPr>
      </p:pic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A960CC-17D5-4C81-BA8D-6D54270A8D4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6870938ef44145"/>
          <a:stretch xmlns:a="http://schemas.openxmlformats.org/drawingml/2006/main"/>
        </p:blipFill>
        <p:spPr>
          <a:xfrm xmlns:a="http://schemas.openxmlformats.org/drawingml/2006/main">
            <a:off x="8422741" y="228600"/>
            <a:ext cx="3137967" cy="5143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44DE4C-0F6A-40CD-AD6D-821B1C217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76225"/>
            <a:ext cx="7239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L18 · BRIDGE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6250E3-D45B-40C2-9241-C6CB902B5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47700"/>
            <a:ext cx="101917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defPPr>
            <a:lvl1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1pPr>
            <a:lvl2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2pPr>
            <a:lvl3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3pPr>
            <a:lvl4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4pPr>
            <a:lvl5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5pPr>
            <a:lvl6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6pPr>
            <a:lvl7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7pPr>
            <a:lvl8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8pPr>
            <a:lvl9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pPr>
            <a:r>
              <a:rPr sz="3225" b="1">
                <a:solidFill>
                  <a:srgbClr val="00263E"/>
                </a:solidFill>
                <a:latin typeface="Tahoma"/>
                <a:ea typeface="Tahoma"/>
                <a:cs typeface="Tahoma"/>
              </a:rPr>
              <a:t>What changes in a ripple counter?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F67DD2-83A3-4969-AE37-3BB4398BD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14859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20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783025-5325-4A80-B2A2-10FB4D853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15050"/>
            <a:ext cx="1219200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2134A8-6BF9-49E3-B553-D2F1AAF26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43625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defPPr>
            <a:lvl1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1pPr>
            <a:lvl2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2pPr>
            <a:lvl3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3pPr>
            <a:lvl4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4pPr>
            <a:lvl5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5pPr>
            <a:lvl6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6pPr>
            <a:lvl7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7pPr>
            <a:lvl8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8pPr>
            <a:lvl9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A90F1C"/>
                </a:solidFill>
                <a:latin typeface="Tahoma"/>
                <a:ea typeface="Tahoma"/>
                <a:cs typeface="Tahoma"/>
              </a:rPr>
              <a:t>Textbook: Ch. 7 §7.3, pp. 447–450  |  Companion: lesson-04.html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70C450-97E1-48B3-9F25-A17FE5C68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6429375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defPPr>
            <a:lvl1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1pPr>
            <a:lvl2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2pPr>
            <a:lvl3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3pPr>
            <a:lvl4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4pPr>
            <a:lvl5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5pPr>
            <a:lvl6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6pPr>
            <a:lvl7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7pPr>
            <a:lvl8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8pPr>
            <a:lvl9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484342"/>
                </a:solidFill>
                <a:latin typeface="Tahoma"/>
                <a:ea typeface="Tahoma"/>
                <a:cs typeface="Tahoma"/>
              </a:rPr>
              <a:t>ELEC 335  |  L18  |  Week 10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8299FA-C859-4A8C-B15C-A1C13F4F5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defPPr>
            <a:lvl1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1pPr>
            <a:lvl2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2pPr>
            <a:lvl3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3pPr>
            <a:lvl4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4pPr>
            <a:lvl5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5pPr>
            <a:lvl6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6pPr>
            <a:lvl7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7pPr>
            <a:lvl8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8pPr>
            <a:lvl9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484342"/>
                </a:solidFill>
                <a:latin typeface="Tahoma"/>
                <a:ea typeface="Tahoma"/>
                <a:cs typeface="Tahoma"/>
              </a:rPr>
              <a:t>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F80BE7-574C-4A24-86AB-5ACE4BD4A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67500"/>
            <a:ext cx="1219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202E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2F568C-953D-4579-BBF2-587FCF6F16B3}"/>
              </a:ext>
            </a:extLst>
          </p:cNvPr>
          <p:cNvGraphicFramePr/>
          <p:nvPr/>
        </p:nvGraphicFramePr>
        <p:xfrm>
          <a:off xmlns:a="http://schemas.openxmlformats.org/drawingml/2006/main" x="781050" y="1943100"/>
          <a:ext xmlns:a="http://schemas.openxmlformats.org/drawingml/2006/main" cx="10629900" cy="32670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543300"/>
                <a:gridCol w="3543300"/>
                <a:gridCol w="3543300"/>
              </a:tblGrid>
              <a:tr h="653415"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Tahoma"/>
                          <a:ea typeface="Tahoma"/>
                          <a:cs typeface="Tahoma"/>
                        </a:rPr>
                        <a:t>Feature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333333"/>
                      </a:solidFill>
                      <a:prstDash val="solid"/>
                    </a:lnL>
                    <a:lnR w="9525">
                      <a:solidFill>
                        <a:srgbClr val="333333"/>
                      </a:solidFill>
                      <a:prstDash val="solid"/>
                    </a:lnR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00263E"/>
                    </a:solidFill>
                  </a:tcPr>
                </a:tc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Tahoma"/>
                          <a:ea typeface="Tahoma"/>
                          <a:cs typeface="Tahoma"/>
                        </a:rPr>
                        <a:t>Synchronous MOD-6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33333"/>
                      </a:solidFill>
                      <a:prstDash val="solid"/>
                    </a:lnR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00263E"/>
                    </a:solidFill>
                  </a:tcPr>
                </a:tc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Tahoma"/>
                          <a:ea typeface="Tahoma"/>
                          <a:cs typeface="Tahoma"/>
                        </a:rPr>
                        <a:t>Ripple MOD-6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33333"/>
                      </a:solidFill>
                      <a:prstDash val="solid"/>
                    </a:lnR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00263E"/>
                    </a:solidFill>
                  </a:tcPr>
                </a:tc>
              </a:tr>
              <a:tr h="653415"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Storage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333333"/>
                      </a:solidFill>
                      <a:prstDash val="solid"/>
                    </a:lnL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Three D flip-flops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Three JK flip-flops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3415"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Clock wiring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333333"/>
                      </a:solidFill>
                      <a:prstDash val="solid"/>
                    </a:lnL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3F1ED"/>
                    </a:solidFill>
                  </a:tcPr>
                </a:tc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One common clock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3F1ED"/>
                    </a:solidFill>
                  </a:tcPr>
                </a:tc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Q₀ clocks FF₁; Q₁ clocks FF₂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3F1ED"/>
                    </a:solidFill>
                  </a:tcPr>
                </a:tc>
              </a:tr>
              <a:tr h="653415"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Next count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333333"/>
                      </a:solidFill>
                      <a:prstDash val="solid"/>
                    </a:lnL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Combinational D equations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J=K=1 toggles on each local edge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3415"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MOD-6 return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333333"/>
                      </a:solidFill>
                      <a:prstDash val="solid"/>
                    </a:lnL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3F1ED"/>
                    </a:solidFill>
                  </a:tcPr>
                </a:tc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Logic computes 101→000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3F1ED"/>
                    </a:solidFill>
                  </a:tcPr>
                </a:tc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50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110 decode clears all stages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3F1ED"/>
                    </a:solidFill>
                  </a:tcPr>
                </a:tc>
              </a:tr>
            </a:tbl>
          </a:graphicData>
        </a:graphic>
      </p:graphicFrame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3945B0-B709-4820-AA12-736F358F7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334000"/>
            <a:ext cx="102489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0026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501F07-AE59-41B3-9697-FA9CA3F47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381625"/>
            <a:ext cx="97155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7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defPPr>
            <a:lvl1pPr algn="ctr">
              <a:defRPr sz="17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lvl1pPr>
            <a:lvl2pPr algn="ctr">
              <a:defRPr sz="17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lvl2pPr>
            <a:lvl3pPr algn="ctr">
              <a:defRPr sz="17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lvl3pPr>
            <a:lvl4pPr algn="ctr">
              <a:defRPr sz="17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lvl4pPr>
            <a:lvl5pPr algn="ctr">
              <a:defRPr sz="17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lvl5pPr>
            <a:lvl6pPr algn="ctr">
              <a:defRPr sz="17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lvl6pPr>
            <a:lvl7pPr algn="ctr">
              <a:defRPr sz="17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lvl7pPr>
            <a:lvl8pPr algn="ctr">
              <a:defRPr sz="17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lvl8pPr>
            <a:lvl9pPr algn="ctr">
              <a:defRPr sz="17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The same six settled codes now have a visible propagation path.</a:t>
            </a:r>
          </a:p>
        </p:txBody>
      </p:sp>
    </p:spTree>
    <p:extLst>
      <p:ext uri="{BB962C8B-B14F-4D97-AF65-F5344CB8AC3E}">
        <p14:creationId xmlns:p14="http://schemas.microsoft.com/office/powerpoint/2010/main" val="54168930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DB9587D-4CB1-4CE4-9853-831BAE53A25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3c90bf93a84c24"/>
          <a:srcRect xmlns:a="http://schemas.openxmlformats.org/drawingml/2006/main" l="0" t="23428" r="0" b="2342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915525" y="0"/>
            <a:ext cx="2276475" cy="1019175"/>
          </a:xfrm>
          <a:prstGeom xmlns:a="http://schemas.openxmlformats.org/drawingml/2006/main" prst="rect">
            <a:avLst/>
          </a:prstGeom>
        </p:spPr>
      </p:pic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C6986A-144D-49BB-A3C7-C885564CF2C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59ce1b184d4d98"/>
          <a:stretch xmlns:a="http://schemas.openxmlformats.org/drawingml/2006/main"/>
        </p:blipFill>
        <p:spPr>
          <a:xfrm xmlns:a="http://schemas.openxmlformats.org/drawingml/2006/main">
            <a:off x="8422741" y="228600"/>
            <a:ext cx="3137967" cy="5143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5C6507-D5F9-4131-880D-88F880AB2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76225"/>
            <a:ext cx="7239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L18 · JK FUNDAMENTALS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1DA246-E164-45A4-BA55-E3157168D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47700"/>
            <a:ext cx="101917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defPPr>
            <a:lvl1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1pPr>
            <a:lvl2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2pPr>
            <a:lvl3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3pPr>
            <a:lvl4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4pPr>
            <a:lvl5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5pPr>
            <a:lvl6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6pPr>
            <a:lvl7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7pPr>
            <a:lvl8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8pPr>
            <a:lvl9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pPr>
            <a:r>
              <a:rPr sz="3225" b="1">
                <a:solidFill>
                  <a:srgbClr val="00263E"/>
                </a:solidFill>
                <a:latin typeface="Tahoma"/>
                <a:ea typeface="Tahoma"/>
                <a:cs typeface="Tahoma"/>
              </a:rPr>
              <a:t>What are J and K?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40D902-B1CD-4457-AAB8-2437637DF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14859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20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53FF5C-4D1D-4CEA-8E81-55085D905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15050"/>
            <a:ext cx="1219200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B0BB97-5C63-498A-8462-09DAA7D1B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43625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defPPr>
            <a:lvl1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1pPr>
            <a:lvl2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2pPr>
            <a:lvl3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3pPr>
            <a:lvl4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4pPr>
            <a:lvl5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5pPr>
            <a:lvl6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6pPr>
            <a:lvl7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7pPr>
            <a:lvl8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8pPr>
            <a:lvl9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A90F1C"/>
                </a:solidFill>
                <a:latin typeface="Tahoma"/>
                <a:ea typeface="Tahoma"/>
                <a:cs typeface="Tahoma"/>
              </a:rPr>
              <a:t>Textbook: Ch. 7 §7.3, pp. 447–450  |  Companion: lesson-04.html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859918-B31C-4722-8CF0-7DF22BDDF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6429375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defPPr>
            <a:lvl1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1pPr>
            <a:lvl2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2pPr>
            <a:lvl3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3pPr>
            <a:lvl4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4pPr>
            <a:lvl5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5pPr>
            <a:lvl6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6pPr>
            <a:lvl7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7pPr>
            <a:lvl8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8pPr>
            <a:lvl9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484342"/>
                </a:solidFill>
                <a:latin typeface="Tahoma"/>
                <a:ea typeface="Tahoma"/>
                <a:cs typeface="Tahoma"/>
              </a:rPr>
              <a:t>ELEC 335  |  L18  |  Week 10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E36AC6-369A-4F1C-BBC2-C9328CA92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defPPr>
            <a:lvl1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1pPr>
            <a:lvl2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2pPr>
            <a:lvl3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3pPr>
            <a:lvl4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4pPr>
            <a:lvl5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5pPr>
            <a:lvl6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6pPr>
            <a:lvl7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7pPr>
            <a:lvl8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8pPr>
            <a:lvl9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484342"/>
                </a:solidFill>
                <a:latin typeface="Tahoma"/>
                <a:ea typeface="Tahoma"/>
                <a:cs typeface="Tahoma"/>
              </a:rPr>
              <a:t>9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DCB830-2304-435B-A87B-99DD79732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67500"/>
            <a:ext cx="1219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20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4B1797-884B-4C17-85E8-55DC75922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14500"/>
            <a:ext cx="10477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10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defPPr>
            <a:lvl1pPr algn="l">
              <a:defRPr sz="210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1pPr>
            <a:lvl2pPr algn="l">
              <a:defRPr sz="210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2pPr>
            <a:lvl3pPr algn="l">
              <a:defRPr sz="210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3pPr>
            <a:lvl4pPr algn="l">
              <a:defRPr sz="210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4pPr>
            <a:lvl5pPr algn="l">
              <a:defRPr sz="210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5pPr>
            <a:lvl6pPr algn="l">
              <a:defRPr sz="210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6pPr>
            <a:lvl7pPr algn="l">
              <a:defRPr sz="210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7pPr>
            <a:lvl8pPr algn="l">
              <a:defRPr sz="210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8pPr>
            <a:lvl9pPr algn="l">
              <a:defRPr sz="210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pPr>
            <a:r>
              <a:rPr sz="2100" b="0">
                <a:solidFill>
                  <a:srgbClr val="1E252B"/>
                </a:solidFill>
                <a:latin typeface="Tahoma"/>
                <a:ea typeface="Tahoma"/>
                <a:cs typeface="Tahoma"/>
              </a:rPr>
              <a:t>J is a set request. K is a reset request. Both are read at the chosen clock edge.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428F64-E493-47F0-97D0-1268A67D7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2952750"/>
            <a:ext cx="3629025" cy="1381125"/>
          </a:xfrm>
          <a:prstGeom xmlns:a="http://schemas.openxmlformats.org/drawingml/2006/main" prst="roundRect">
            <a:avLst>
              <a:gd name="adj" fmla="val 5517"/>
            </a:avLst>
          </a:prstGeom>
          <a:solidFill xmlns:a="http://schemas.openxmlformats.org/drawingml/2006/main">
            <a:srgbClr val="F3F1ED"/>
          </a:solidFill>
          <a:ln xmlns:a="http://schemas.openxmlformats.org/drawingml/2006/main" w="19050">
            <a:solidFill>
              <a:srgbClr val="00263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59CE7B-B649-4AB5-9CBE-E6792DA05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048000"/>
            <a:ext cx="3362325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225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defPPr>
            <a:lvl1pPr algn="ctr">
              <a:defRPr sz="225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1pPr>
            <a:lvl2pPr algn="ctr">
              <a:defRPr sz="225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2pPr>
            <a:lvl3pPr algn="ctr">
              <a:defRPr sz="225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3pPr>
            <a:lvl4pPr algn="ctr">
              <a:defRPr sz="225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4pPr>
            <a:lvl5pPr algn="ctr">
              <a:defRPr sz="225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5pPr>
            <a:lvl6pPr algn="ctr">
              <a:defRPr sz="225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6pPr>
            <a:lvl7pPr algn="ctr">
              <a:defRPr sz="225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7pPr>
            <a:lvl8pPr algn="ctr">
              <a:defRPr sz="225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8pPr>
            <a:lvl9pPr algn="ctr">
              <a:defRPr sz="225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ctr">
              <a:defRPr sz="225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00263E"/>
                </a:solidFill>
                <a:latin typeface="Tahoma"/>
                <a:ea typeface="Tahoma"/>
                <a:cs typeface="Tahoma"/>
              </a:rPr>
              <a:t>JK flip-flop</a:t>
            </a:r>
          </a:p>
          <a:p xmlns:a="http://schemas.openxmlformats.org/drawingml/2006/main">
            <a:pPr algn="ctr">
              <a:defRPr sz="225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00263E"/>
                </a:solidFill>
                <a:latin typeface="Tahoma"/>
                <a:ea typeface="Tahoma"/>
                <a:cs typeface="Tahoma"/>
              </a:rPr>
              <a:t>Q stores one bit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0570C0-2100-463E-BCD4-519F89AEF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038475"/>
            <a:ext cx="76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175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l">
              <a:defRPr sz="2175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l">
              <a:defRPr sz="2175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l">
              <a:defRPr sz="2175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l">
              <a:defRPr sz="2175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l">
              <a:defRPr sz="2175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l">
              <a:defRPr sz="2175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l">
              <a:defRPr sz="2175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l">
              <a:defRPr sz="2175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l">
              <a:defRPr sz="2175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2175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J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18BA5C-D1C4-4FBA-83DF-9CD0566DA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724275"/>
            <a:ext cx="76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175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l">
              <a:defRPr sz="2175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l">
              <a:defRPr sz="2175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l">
              <a:defRPr sz="2175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l">
              <a:defRPr sz="2175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l">
              <a:defRPr sz="2175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l">
              <a:defRPr sz="2175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l">
              <a:defRPr sz="2175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l">
              <a:defRPr sz="2175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l">
              <a:defRPr sz="2175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2175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D6F50A-B810-43AC-B8E0-2143ED8B6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3295650"/>
            <a:ext cx="742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315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C52C65-B11F-4388-92A6-3A55EB499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343275"/>
            <a:ext cx="76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defPPr>
            <a:lvl1pPr algn="l">
              <a:defRPr sz="225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1pPr>
            <a:lvl2pPr algn="l">
              <a:defRPr sz="225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2pPr>
            <a:lvl3pPr algn="l">
              <a:defRPr sz="225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3pPr>
            <a:lvl4pPr algn="l">
              <a:defRPr sz="225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4pPr>
            <a:lvl5pPr algn="l">
              <a:defRPr sz="225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5pPr>
            <a:lvl6pPr algn="l">
              <a:defRPr sz="225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6pPr>
            <a:lvl7pPr algn="l">
              <a:defRPr sz="225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7pPr>
            <a:lvl8pPr algn="l">
              <a:defRPr sz="225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8pPr>
            <a:lvl9pPr algn="l">
              <a:defRPr sz="225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00263E"/>
                </a:solidFill>
                <a:latin typeface="Tahoma"/>
                <a:ea typeface="Tahoma"/>
                <a:cs typeface="Tahoma"/>
              </a:rPr>
              <a:t>Q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5E2DC9-86F4-43DA-855A-B6ECC0AE9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4572000"/>
            <a:ext cx="2428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875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ctr">
              <a:defRPr sz="1875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ctr">
              <a:defRPr sz="1875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ctr">
              <a:defRPr sz="1875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ctr">
              <a:defRPr sz="1875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ctr">
              <a:defRPr sz="1875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ctr">
              <a:defRPr sz="1875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ctr">
              <a:defRPr sz="1875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ctr">
              <a:defRPr sz="1875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ctr">
              <a:defRPr sz="1875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CLK ↓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E262E83-2A74-42D7-BAA8-CC3BB80A2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5295900"/>
            <a:ext cx="81724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8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defPPr>
            <a:lvl1pPr algn="ctr">
              <a:defRPr sz="18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1pPr>
            <a:lvl2pPr algn="ctr">
              <a:defRPr sz="18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2pPr>
            <a:lvl3pPr algn="ctr">
              <a:defRPr sz="18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3pPr>
            <a:lvl4pPr algn="ctr">
              <a:defRPr sz="18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4pPr>
            <a:lvl5pPr algn="ctr">
              <a:defRPr sz="18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5pPr>
            <a:lvl6pPr algn="ctr">
              <a:defRPr sz="18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6pPr>
            <a:lvl7pPr algn="ctr">
              <a:defRPr sz="18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7pPr>
            <a:lvl8pPr algn="ctr">
              <a:defRPr sz="18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8pPr>
            <a:lvl9pPr algn="ctr">
              <a:defRPr sz="18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A90F1C"/>
                </a:solidFill>
                <a:latin typeface="Tahoma"/>
                <a:ea typeface="Tahoma"/>
                <a:cs typeface="Tahoma"/>
              </a:rPr>
              <a:t>We use falling-edge JK devices for the ripple design.</a:t>
            </a:r>
          </a:p>
        </p:txBody>
      </p:sp>
    </p:spTree>
    <p:extLst>
      <p:ext uri="{BB962C8B-B14F-4D97-AF65-F5344CB8AC3E}">
        <p14:creationId xmlns:p14="http://schemas.microsoft.com/office/powerpoint/2010/main" val="25300688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D1B2231-3DA1-43B7-AD9F-4CB219E1F62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2f202d14af4b58"/>
          <a:srcRect xmlns:a="http://schemas.openxmlformats.org/drawingml/2006/main" l="0" t="23428" r="0" b="2342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915525" y="0"/>
            <a:ext cx="2276475" cy="1019175"/>
          </a:xfrm>
          <a:prstGeom xmlns:a="http://schemas.openxmlformats.org/drawingml/2006/main" prst="rect">
            <a:avLst/>
          </a:prstGeom>
        </p:spPr>
      </p:pic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A52533-D73F-40BD-8439-D31E73F0FD1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8198ae12cd4887"/>
          <a:stretch xmlns:a="http://schemas.openxmlformats.org/drawingml/2006/main"/>
        </p:blipFill>
        <p:spPr>
          <a:xfrm xmlns:a="http://schemas.openxmlformats.org/drawingml/2006/main">
            <a:off x="8422741" y="228600"/>
            <a:ext cx="3137967" cy="5143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7EEC01-12A7-4C97-B95C-48CE2A056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76225"/>
            <a:ext cx="7239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L18 · JK LOGIC GATES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4C3E4E-7A5A-43CE-972F-7D2DF6BBF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47700"/>
            <a:ext cx="101917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defPPr>
            <a:lvl1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1pPr>
            <a:lvl2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2pPr>
            <a:lvl3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3pPr>
            <a:lvl4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4pPr>
            <a:lvl5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5pPr>
            <a:lvl6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6pPr>
            <a:lvl7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7pPr>
            <a:lvl8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8pPr>
            <a:lvl9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pPr>
            <a:r>
              <a:rPr sz="3225" b="1">
                <a:solidFill>
                  <a:srgbClr val="00263E"/>
                </a:solidFill>
                <a:latin typeface="Tahoma"/>
                <a:ea typeface="Tahoma"/>
                <a:cs typeface="Tahoma"/>
              </a:rPr>
              <a:t>Characteristic equation from gates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2EF469-3C4C-4684-B5BD-BDCA0BA26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14859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20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1D20BE-70FE-4606-8A5E-15E6078E1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15050"/>
            <a:ext cx="1219200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4DA0D1-3278-4B4C-A1A8-56BBD1EC7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43625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defPPr>
            <a:lvl1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1pPr>
            <a:lvl2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2pPr>
            <a:lvl3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3pPr>
            <a:lvl4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4pPr>
            <a:lvl5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5pPr>
            <a:lvl6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6pPr>
            <a:lvl7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7pPr>
            <a:lvl8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8pPr>
            <a:lvl9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A90F1C"/>
                </a:solidFill>
                <a:latin typeface="Tahoma"/>
                <a:ea typeface="Tahoma"/>
                <a:cs typeface="Tahoma"/>
              </a:rPr>
              <a:t>Textbook: Ch. 7 §7.3, pp. 447–450  |  Companion: lesson-04.html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FEED45-779F-40D9-A08D-D5F3CE51E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6429375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defPPr>
            <a:lvl1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1pPr>
            <a:lvl2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2pPr>
            <a:lvl3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3pPr>
            <a:lvl4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4pPr>
            <a:lvl5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5pPr>
            <a:lvl6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6pPr>
            <a:lvl7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7pPr>
            <a:lvl8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8pPr>
            <a:lvl9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484342"/>
                </a:solidFill>
                <a:latin typeface="Tahoma"/>
                <a:ea typeface="Tahoma"/>
                <a:cs typeface="Tahoma"/>
              </a:rPr>
              <a:t>ELEC 335  |  L18  |  Week 10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5EBD38-6C23-42F8-AE16-E09C2F703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defPPr>
            <a:lvl1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1pPr>
            <a:lvl2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2pPr>
            <a:lvl3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3pPr>
            <a:lvl4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4pPr>
            <a:lvl5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5pPr>
            <a:lvl6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6pPr>
            <a:lvl7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7pPr>
            <a:lvl8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8pPr>
            <a:lvl9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484342"/>
                </a:solidFill>
                <a:latin typeface="Tahoma"/>
                <a:ea typeface="Tahoma"/>
                <a:cs typeface="Tahoma"/>
              </a:rPr>
              <a:t>10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ADCB40-C4F3-4BD4-B529-A656ABACB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67500"/>
            <a:ext cx="1219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20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16728B-5B7C-4CB4-81FE-C3EDF2807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1714500"/>
            <a:ext cx="8858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277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defPPr>
            <a:lvl1pPr algn="ctr">
              <a:defRPr sz="277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1pPr>
            <a:lvl2pPr algn="ctr">
              <a:defRPr sz="277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2pPr>
            <a:lvl3pPr algn="ctr">
              <a:defRPr sz="277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3pPr>
            <a:lvl4pPr algn="ctr">
              <a:defRPr sz="277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4pPr>
            <a:lvl5pPr algn="ctr">
              <a:defRPr sz="277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5pPr>
            <a:lvl6pPr algn="ctr">
              <a:defRPr sz="277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6pPr>
            <a:lvl7pPr algn="ctr">
              <a:defRPr sz="277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7pPr>
            <a:lvl8pPr algn="ctr">
              <a:defRPr sz="277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8pPr>
            <a:lvl9pPr algn="ctr">
              <a:defRPr sz="277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ctr">
              <a:defRPr sz="277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pPr>
            <a:r>
              <a:rPr sz="2775" b="1">
                <a:solidFill>
                  <a:srgbClr val="00263E"/>
                </a:solidFill>
                <a:latin typeface="Tahoma"/>
                <a:ea typeface="Tahoma"/>
                <a:cs typeface="Tahoma"/>
              </a:rPr>
              <a:t>Q⁺ = JQ̅ + K̅Q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F530C1-CCB3-480A-8F32-F04972FBA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952750"/>
            <a:ext cx="22098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3F1ED"/>
          </a:solidFill>
          <a:ln xmlns:a="http://schemas.openxmlformats.org/drawingml/2006/main" w="19050">
            <a:solidFill>
              <a:srgbClr val="D3202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4B4621-9723-4EA9-A9F1-F9709DF8B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048000"/>
            <a:ext cx="19431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95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defPPr>
            <a:lvl1pPr algn="ctr">
              <a:defRPr sz="195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1pPr>
            <a:lvl2pPr algn="ctr">
              <a:defRPr sz="195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2pPr>
            <a:lvl3pPr algn="ctr">
              <a:defRPr sz="195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3pPr>
            <a:lvl4pPr algn="ctr">
              <a:defRPr sz="195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4pPr>
            <a:lvl5pPr algn="ctr">
              <a:defRPr sz="195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5pPr>
            <a:lvl6pPr algn="ctr">
              <a:defRPr sz="195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6pPr>
            <a:lvl7pPr algn="ctr">
              <a:defRPr sz="195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7pPr>
            <a:lvl8pPr algn="ctr">
              <a:defRPr sz="195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8pPr>
            <a:lvl9pPr algn="ctr">
              <a:defRPr sz="195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ctr">
              <a:defRPr sz="195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pPr>
            <a:r>
              <a:rPr sz="1950" b="1">
                <a:solidFill>
                  <a:srgbClr val="00263E"/>
                </a:solidFill>
                <a:latin typeface="Tahoma"/>
                <a:ea typeface="Tahoma"/>
                <a:cs typeface="Tahoma"/>
              </a:rPr>
              <a:t>J · Q̅</a:t>
            </a:r>
          </a:p>
          <a:p xmlns:a="http://schemas.openxmlformats.org/drawingml/2006/main">
            <a:pPr algn="ctr">
              <a:defRPr sz="195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pPr>
            <a:r>
              <a:rPr sz="1950" b="1">
                <a:solidFill>
                  <a:srgbClr val="00263E"/>
                </a:solidFill>
                <a:latin typeface="Tahoma"/>
                <a:ea typeface="Tahoma"/>
                <a:cs typeface="Tahoma"/>
              </a:rPr>
              <a:t>AND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63D98E-8CF4-4BDC-B68C-D9ED70796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257675"/>
            <a:ext cx="22098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3F1ED"/>
          </a:solidFill>
          <a:ln xmlns:a="http://schemas.openxmlformats.org/drawingml/2006/main" w="19050">
            <a:solidFill>
              <a:srgbClr val="D3202E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C2F965-7BE9-4D86-85F0-E948F13AC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352925"/>
            <a:ext cx="19431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95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defPPr>
            <a:lvl1pPr algn="ctr">
              <a:defRPr sz="195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1pPr>
            <a:lvl2pPr algn="ctr">
              <a:defRPr sz="195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2pPr>
            <a:lvl3pPr algn="ctr">
              <a:defRPr sz="195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3pPr>
            <a:lvl4pPr algn="ctr">
              <a:defRPr sz="195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4pPr>
            <a:lvl5pPr algn="ctr">
              <a:defRPr sz="195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5pPr>
            <a:lvl6pPr algn="ctr">
              <a:defRPr sz="195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6pPr>
            <a:lvl7pPr algn="ctr">
              <a:defRPr sz="195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7pPr>
            <a:lvl8pPr algn="ctr">
              <a:defRPr sz="195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8pPr>
            <a:lvl9pPr algn="ctr">
              <a:defRPr sz="195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ctr">
              <a:defRPr sz="195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pPr>
            <a:r>
              <a:rPr sz="1950" b="1">
                <a:solidFill>
                  <a:srgbClr val="00263E"/>
                </a:solidFill>
                <a:latin typeface="Tahoma"/>
                <a:ea typeface="Tahoma"/>
                <a:cs typeface="Tahoma"/>
              </a:rPr>
              <a:t>K̅ · Q</a:t>
            </a:r>
          </a:p>
          <a:p xmlns:a="http://schemas.openxmlformats.org/drawingml/2006/main">
            <a:pPr algn="ctr">
              <a:defRPr sz="195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pPr>
            <a:r>
              <a:rPr sz="1950" b="1">
                <a:solidFill>
                  <a:srgbClr val="00263E"/>
                </a:solidFill>
                <a:latin typeface="Tahoma"/>
                <a:ea typeface="Tahoma"/>
                <a:cs typeface="Tahoma"/>
              </a:rPr>
              <a:t>AND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623608-43D4-472F-A2AE-B3D3D398C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1925" y="3257550"/>
            <a:ext cx="8001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315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4DB37B-93B4-4707-A152-B9ACAA812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1925" y="4524375"/>
            <a:ext cx="8001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315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B0FB32-867D-4907-B85A-AB6E14B93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3552825"/>
            <a:ext cx="17335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3F1ED"/>
          </a:solidFill>
          <a:ln xmlns:a="http://schemas.openxmlformats.org/drawingml/2006/main" w="19050">
            <a:solidFill>
              <a:srgbClr val="00263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7E0438-8355-41C8-B305-50AFFCF8D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648075"/>
            <a:ext cx="14668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23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defPPr>
            <a:lvl1pPr algn="ctr">
              <a:defRPr sz="23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1pPr>
            <a:lvl2pPr algn="ctr">
              <a:defRPr sz="23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2pPr>
            <a:lvl3pPr algn="ctr">
              <a:defRPr sz="23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3pPr>
            <a:lvl4pPr algn="ctr">
              <a:defRPr sz="23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4pPr>
            <a:lvl5pPr algn="ctr">
              <a:defRPr sz="23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5pPr>
            <a:lvl6pPr algn="ctr">
              <a:defRPr sz="23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6pPr>
            <a:lvl7pPr algn="ctr">
              <a:defRPr sz="23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7pPr>
            <a:lvl8pPr algn="ctr">
              <a:defRPr sz="23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8pPr>
            <a:lvl9pPr algn="ctr">
              <a:defRPr sz="23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ctr">
              <a:defRPr sz="23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00263E"/>
                </a:solidFill>
                <a:latin typeface="Tahoma"/>
                <a:ea typeface="Tahoma"/>
                <a:cs typeface="Tahoma"/>
              </a:rPr>
              <a:t>OR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FF28360-6A28-4C5B-B2BC-845A150D4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3752850"/>
            <a:ext cx="742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315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5AABF09-6894-4D22-AF95-29B73F29E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3590925"/>
            <a:ext cx="2047875" cy="942975"/>
          </a:xfrm>
          <a:prstGeom xmlns:a="http://schemas.openxmlformats.org/drawingml/2006/main" prst="roundRect">
            <a:avLst>
              <a:gd name="adj" fmla="val 8081"/>
            </a:avLst>
          </a:prstGeom>
          <a:solidFill xmlns:a="http://schemas.openxmlformats.org/drawingml/2006/main">
            <a:srgbClr val="F3F1ED"/>
          </a:solidFill>
          <a:ln xmlns:a="http://schemas.openxmlformats.org/drawingml/2006/main" w="19050">
            <a:solidFill>
              <a:srgbClr val="00263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0A0B054-94DB-4595-B9E6-AEF3ABCDF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3686175"/>
            <a:ext cx="1781175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87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defPPr>
            <a:lvl1pPr algn="ctr">
              <a:defRPr sz="187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1pPr>
            <a:lvl2pPr algn="ctr">
              <a:defRPr sz="187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2pPr>
            <a:lvl3pPr algn="ctr">
              <a:defRPr sz="187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3pPr>
            <a:lvl4pPr algn="ctr">
              <a:defRPr sz="187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4pPr>
            <a:lvl5pPr algn="ctr">
              <a:defRPr sz="187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5pPr>
            <a:lvl6pPr algn="ctr">
              <a:defRPr sz="187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6pPr>
            <a:lvl7pPr algn="ctr">
              <a:defRPr sz="187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7pPr>
            <a:lvl8pPr algn="ctr">
              <a:defRPr sz="187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8pPr>
            <a:lvl9pPr algn="ctr">
              <a:defRPr sz="187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00263E"/>
                </a:solidFill>
                <a:latin typeface="Tahoma"/>
                <a:ea typeface="Tahoma"/>
                <a:cs typeface="Tahoma"/>
              </a:rPr>
              <a:t>D input</a:t>
            </a:r>
          </a:p>
          <a:p xmlns:a="http://schemas.openxmlformats.org/drawingml/2006/main">
            <a:pPr algn="ctr">
              <a:defRPr sz="187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00263E"/>
                </a:solidFill>
                <a:latin typeface="Tahoma"/>
                <a:ea typeface="Tahoma"/>
                <a:cs typeface="Tahoma"/>
              </a:rPr>
              <a:t>of storage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7953767-A425-4810-943F-519CBF902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400675"/>
            <a:ext cx="9906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650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defPPr>
            <a:lvl1pPr algn="ctr">
              <a:defRPr sz="1650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1pPr>
            <a:lvl2pPr algn="ctr">
              <a:defRPr sz="1650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2pPr>
            <a:lvl3pPr algn="ctr">
              <a:defRPr sz="1650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3pPr>
            <a:lvl4pPr algn="ctr">
              <a:defRPr sz="1650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4pPr>
            <a:lvl5pPr algn="ctr">
              <a:defRPr sz="1650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5pPr>
            <a:lvl6pPr algn="ctr">
              <a:defRPr sz="1650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6pPr>
            <a:lvl7pPr algn="ctr">
              <a:defRPr sz="1650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7pPr>
            <a:lvl8pPr algn="ctr">
              <a:defRPr sz="1650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8pPr>
            <a:lvl9pPr algn="ctr">
              <a:defRPr sz="1650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A90F1C"/>
                </a:solidFill>
                <a:latin typeface="Tahoma"/>
                <a:ea typeface="Tahoma"/>
                <a:cs typeface="Tahoma"/>
              </a:rPr>
              <a:t>NOT gates supply Q̅ and K̅. Feedback from Q makes JK=11 toggle.</a:t>
            </a:r>
          </a:p>
        </p:txBody>
      </p:sp>
    </p:spTree>
    <p:extLst>
      <p:ext uri="{BB962C8B-B14F-4D97-AF65-F5344CB8AC3E}">
        <p14:creationId xmlns:p14="http://schemas.microsoft.com/office/powerpoint/2010/main" val="169221954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818875-6B6A-469D-AF93-EEE68E7E92E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0b7a797f304b8a"/>
          <a:srcRect xmlns:a="http://schemas.openxmlformats.org/drawingml/2006/main" l="0" t="23428" r="0" b="2342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915525" y="0"/>
            <a:ext cx="2276475" cy="1019175"/>
          </a:xfrm>
          <a:prstGeom xmlns:a="http://schemas.openxmlformats.org/drawingml/2006/main" prst="rect">
            <a:avLst/>
          </a:prstGeom>
        </p:spPr>
      </p:pic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DAFD8D-077D-43E3-AE62-CEF6EBF8C0B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b6278b20d74523"/>
          <a:stretch xmlns:a="http://schemas.openxmlformats.org/drawingml/2006/main"/>
        </p:blipFill>
        <p:spPr>
          <a:xfrm xmlns:a="http://schemas.openxmlformats.org/drawingml/2006/main">
            <a:off x="8422741" y="228600"/>
            <a:ext cx="3137967" cy="5143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C420D0-6771-437C-B889-381A52DB4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76225"/>
            <a:ext cx="7239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L18 · JK REFERENCE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174622-1C36-4A32-8DAB-DAF9424F5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47700"/>
            <a:ext cx="101917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defPPr>
            <a:lvl1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1pPr>
            <a:lvl2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2pPr>
            <a:lvl3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3pPr>
            <a:lvl4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4pPr>
            <a:lvl5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5pPr>
            <a:lvl6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6pPr>
            <a:lvl7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7pPr>
            <a:lvl8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8pPr>
            <a:lvl9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pPr>
            <a:r>
              <a:rPr sz="3225" b="1">
                <a:solidFill>
                  <a:srgbClr val="00263E"/>
                </a:solidFill>
                <a:latin typeface="Tahoma"/>
                <a:ea typeface="Tahoma"/>
                <a:cs typeface="Tahoma"/>
              </a:rPr>
              <a:t>JK truth table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70A313-696D-410E-88B0-670EA51AF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14859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20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0606E2-F3F2-46B1-A26F-A9DC4DABF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15050"/>
            <a:ext cx="1219200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844664-3BDF-4A8A-9D55-D691C4C1F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43625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defPPr>
            <a:lvl1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1pPr>
            <a:lvl2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2pPr>
            <a:lvl3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3pPr>
            <a:lvl4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4pPr>
            <a:lvl5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5pPr>
            <a:lvl6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6pPr>
            <a:lvl7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7pPr>
            <a:lvl8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8pPr>
            <a:lvl9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A90F1C"/>
                </a:solidFill>
                <a:latin typeface="Tahoma"/>
                <a:ea typeface="Tahoma"/>
                <a:cs typeface="Tahoma"/>
              </a:rPr>
              <a:t>Textbook: Ch. 7 §7.3, pp. 447–450  |  Companion: lesson-04.html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4C3AF5-2BA4-40C7-9FA3-86C9C185A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6429375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defPPr>
            <a:lvl1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1pPr>
            <a:lvl2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2pPr>
            <a:lvl3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3pPr>
            <a:lvl4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4pPr>
            <a:lvl5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5pPr>
            <a:lvl6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6pPr>
            <a:lvl7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7pPr>
            <a:lvl8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8pPr>
            <a:lvl9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484342"/>
                </a:solidFill>
                <a:latin typeface="Tahoma"/>
                <a:ea typeface="Tahoma"/>
                <a:cs typeface="Tahoma"/>
              </a:rPr>
              <a:t>ELEC 335  |  L18  |  Week 10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977C0F-AC57-4B09-826C-40BF2569E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defPPr>
            <a:lvl1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1pPr>
            <a:lvl2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2pPr>
            <a:lvl3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3pPr>
            <a:lvl4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4pPr>
            <a:lvl5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5pPr>
            <a:lvl6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6pPr>
            <a:lvl7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7pPr>
            <a:lvl8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8pPr>
            <a:lvl9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484342"/>
                </a:solidFill>
                <a:latin typeface="Tahoma"/>
                <a:ea typeface="Tahoma"/>
                <a:cs typeface="Tahoma"/>
              </a:rPr>
              <a:t>11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C962CA-6B36-43EC-8166-356BC6EA7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67500"/>
            <a:ext cx="1219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202E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F583DB-8317-4BC2-9C8D-6E64282EF165}"/>
              </a:ext>
            </a:extLst>
          </p:cNvPr>
          <p:cNvGraphicFramePr/>
          <p:nvPr/>
        </p:nvGraphicFramePr>
        <p:xfrm>
          <a:off xmlns:a="http://schemas.openxmlformats.org/drawingml/2006/main" x="819150" y="2038350"/>
          <a:ext xmlns:a="http://schemas.openxmlformats.org/drawingml/2006/main" cx="10553700" cy="2857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10740"/>
                <a:gridCol w="2110740"/>
                <a:gridCol w="2110740"/>
                <a:gridCol w="2110740"/>
                <a:gridCol w="2110740"/>
              </a:tblGrid>
              <a:tr h="571500"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875" b="1">
                          <a:solidFill>
                            <a:srgbClr val="FFFFFF"/>
                          </a:solidFill>
                          <a:latin typeface="Tahoma"/>
                          <a:ea typeface="Tahoma"/>
                          <a:cs typeface="Tahoma"/>
                        </a:rPr>
                        <a:t>J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333333"/>
                      </a:solidFill>
                      <a:prstDash val="solid"/>
                    </a:lnL>
                    <a:lnR w="9525">
                      <a:solidFill>
                        <a:srgbClr val="333333"/>
                      </a:solidFill>
                      <a:prstDash val="solid"/>
                    </a:lnR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00263E"/>
                    </a:solidFill>
                  </a:tcPr>
                </a:tc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875" b="1">
                          <a:solidFill>
                            <a:srgbClr val="FFFFFF"/>
                          </a:solidFill>
                          <a:latin typeface="Tahoma"/>
                          <a:ea typeface="Tahoma"/>
                          <a:cs typeface="Tahoma"/>
                        </a:rPr>
                        <a:t>K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33333"/>
                      </a:solidFill>
                      <a:prstDash val="solid"/>
                    </a:lnR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00263E"/>
                    </a:solidFill>
                  </a:tcPr>
                </a:tc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875" b="1">
                          <a:solidFill>
                            <a:srgbClr val="FFFFFF"/>
                          </a:solidFill>
                          <a:latin typeface="Tahoma"/>
                          <a:ea typeface="Tahoma"/>
                          <a:cs typeface="Tahoma"/>
                        </a:rPr>
                        <a:t>Command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33333"/>
                      </a:solidFill>
                      <a:prstDash val="solid"/>
                    </a:lnR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00263E"/>
                    </a:solidFill>
                  </a:tcPr>
                </a:tc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875" b="1">
                          <a:solidFill>
                            <a:srgbClr val="FFFFFF"/>
                          </a:solidFill>
                          <a:latin typeface="Tahoma"/>
                          <a:ea typeface="Tahoma"/>
                          <a:cs typeface="Tahoma"/>
                        </a:rPr>
                        <a:t>Q⁺ if Q=0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33333"/>
                      </a:solidFill>
                      <a:prstDash val="solid"/>
                    </a:lnR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00263E"/>
                    </a:solidFill>
                  </a:tcPr>
                </a:tc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875" b="1">
                          <a:solidFill>
                            <a:srgbClr val="FFFFFF"/>
                          </a:solidFill>
                          <a:latin typeface="Tahoma"/>
                          <a:ea typeface="Tahoma"/>
                          <a:cs typeface="Tahoma"/>
                        </a:rPr>
                        <a:t>Q⁺ if Q=1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33333"/>
                      </a:solidFill>
                      <a:prstDash val="solid"/>
                    </a:lnR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00263E"/>
                    </a:solidFill>
                  </a:tcPr>
                </a:tc>
              </a:tr>
              <a:tr h="571500"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0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333333"/>
                      </a:solidFill>
                      <a:prstDash val="solid"/>
                    </a:lnL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hold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0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333333"/>
                      </a:solidFill>
                      <a:prstDash val="solid"/>
                    </a:lnL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3F1ED"/>
                    </a:solidFill>
                  </a:tcPr>
                </a:tc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3F1ED"/>
                    </a:solidFill>
                  </a:tcPr>
                </a:tc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reset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3F1ED"/>
                    </a:solidFill>
                  </a:tcPr>
                </a:tc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3F1ED"/>
                    </a:solidFill>
                  </a:tcPr>
                </a:tc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3F1ED"/>
                    </a:solidFill>
                  </a:tcPr>
                </a:tc>
              </a:tr>
              <a:tr h="571500"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1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333333"/>
                      </a:solidFill>
                      <a:prstDash val="solid"/>
                    </a:lnL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set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1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333333"/>
                      </a:solidFill>
                      <a:prstDash val="solid"/>
                    </a:lnL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3F1ED"/>
                    </a:solidFill>
                  </a:tcPr>
                </a:tc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3F1ED"/>
                    </a:solidFill>
                  </a:tcPr>
                </a:tc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toggle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3F1ED"/>
                    </a:solidFill>
                  </a:tcPr>
                </a:tc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3F1ED"/>
                    </a:solidFill>
                  </a:tcPr>
                </a:tc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3F1ED"/>
                    </a:solidFill>
                  </a:tcPr>
                </a:tc>
              </a:tr>
            </a:tbl>
          </a:graphicData>
        </a:graphic>
      </p:graphicFrame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5B30A9-9080-4EA7-9C1B-B697DCB16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219700"/>
            <a:ext cx="102489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0026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AB700C-7225-4771-BCF3-82C0D91D0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67325"/>
            <a:ext cx="97155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7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defPPr>
            <a:lvl1pPr algn="ctr">
              <a:defRPr sz="17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lvl1pPr>
            <a:lvl2pPr algn="ctr">
              <a:defRPr sz="17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lvl2pPr>
            <a:lvl3pPr algn="ctr">
              <a:defRPr sz="17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lvl3pPr>
            <a:lvl4pPr algn="ctr">
              <a:defRPr sz="17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lvl4pPr>
            <a:lvl5pPr algn="ctr">
              <a:defRPr sz="17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lvl5pPr>
            <a:lvl6pPr algn="ctr">
              <a:defRPr sz="17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lvl6pPr>
            <a:lvl7pPr algn="ctr">
              <a:defRPr sz="17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lvl7pPr>
            <a:lvl8pPr algn="ctr">
              <a:defRPr sz="17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lvl8pPr>
            <a:lvl9pPr algn="ctr">
              <a:defRPr sz="17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For this counter, J=K=1 at every stage, so Q⁺=Q̅ at its local edge.</a:t>
            </a:r>
          </a:p>
        </p:txBody>
      </p:sp>
    </p:spTree>
    <p:extLst>
      <p:ext uri="{BB962C8B-B14F-4D97-AF65-F5344CB8AC3E}">
        <p14:creationId xmlns:p14="http://schemas.microsoft.com/office/powerpoint/2010/main" val="172203650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93634D7-5B9C-4289-9B93-E1982AD80D0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d41416f79c45c5"/>
          <a:srcRect xmlns:a="http://schemas.openxmlformats.org/drawingml/2006/main" l="0" t="23428" r="0" b="2342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915525" y="0"/>
            <a:ext cx="2276475" cy="1019175"/>
          </a:xfrm>
          <a:prstGeom xmlns:a="http://schemas.openxmlformats.org/drawingml/2006/main" prst="rect">
            <a:avLst/>
          </a:prstGeom>
        </p:spPr>
      </p:pic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F063CF-AB17-4280-A770-CE1A3B22C87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c13bc4ee3d4e2b"/>
          <a:stretch xmlns:a="http://schemas.openxmlformats.org/drawingml/2006/main"/>
        </p:blipFill>
        <p:spPr>
          <a:xfrm xmlns:a="http://schemas.openxmlformats.org/drawingml/2006/main">
            <a:off x="8422741" y="228600"/>
            <a:ext cx="3137967" cy="5143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0E4729-5D73-4097-AC62-C8AA6B53A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76225"/>
            <a:ext cx="7239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L18 · JK TIMING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EAB26F-D737-46A9-A305-1AEB82DB8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47700"/>
            <a:ext cx="101917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defPPr>
            <a:lvl1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1pPr>
            <a:lvl2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2pPr>
            <a:lvl3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3pPr>
            <a:lvl4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4pPr>
            <a:lvl5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5pPr>
            <a:lvl6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6pPr>
            <a:lvl7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7pPr>
            <a:lvl8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8pPr>
            <a:lvl9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pPr>
            <a:r>
              <a:rPr sz="3225" b="1">
                <a:solidFill>
                  <a:srgbClr val="00263E"/>
                </a:solidFill>
                <a:latin typeface="Tahoma"/>
                <a:ea typeface="Tahoma"/>
                <a:cs typeface="Tahoma"/>
              </a:rPr>
              <a:t>The JK output changes only at active edges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D6F43C-21D4-457C-9D5A-516807077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14859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20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AD9779-0FBF-400E-9CD0-AFB3F7C65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15050"/>
            <a:ext cx="1219200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B5B433-F13F-4E93-B6EA-2E3813EF1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43625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defPPr>
            <a:lvl1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1pPr>
            <a:lvl2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2pPr>
            <a:lvl3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3pPr>
            <a:lvl4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4pPr>
            <a:lvl5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5pPr>
            <a:lvl6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6pPr>
            <a:lvl7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7pPr>
            <a:lvl8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8pPr>
            <a:lvl9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A90F1C"/>
                </a:solidFill>
                <a:latin typeface="Tahoma"/>
                <a:ea typeface="Tahoma"/>
                <a:cs typeface="Tahoma"/>
              </a:rPr>
              <a:t>Textbook: Ch. 7 §7.3, pp. 447–450  |  Companion: lesson-04.html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AC9AEE-FCEB-4A59-82DF-41137DFD4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6429375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defPPr>
            <a:lvl1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1pPr>
            <a:lvl2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2pPr>
            <a:lvl3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3pPr>
            <a:lvl4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4pPr>
            <a:lvl5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5pPr>
            <a:lvl6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6pPr>
            <a:lvl7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7pPr>
            <a:lvl8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8pPr>
            <a:lvl9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484342"/>
                </a:solidFill>
                <a:latin typeface="Tahoma"/>
                <a:ea typeface="Tahoma"/>
                <a:cs typeface="Tahoma"/>
              </a:rPr>
              <a:t>ELEC 335  |  L18  |  Week 10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8767B1-D7C9-4A2B-A6FC-65276B844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defPPr>
            <a:lvl1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1pPr>
            <a:lvl2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2pPr>
            <a:lvl3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3pPr>
            <a:lvl4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4pPr>
            <a:lvl5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5pPr>
            <a:lvl6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6pPr>
            <a:lvl7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7pPr>
            <a:lvl8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8pPr>
            <a:lvl9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484342"/>
                </a:solidFill>
                <a:latin typeface="Tahoma"/>
                <a:ea typeface="Tahoma"/>
                <a:cs typeface="Tahoma"/>
              </a:rPr>
              <a:t>12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A71D54-992F-4E12-A87B-37781F995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67500"/>
            <a:ext cx="1219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20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760374-7153-486A-83C3-889C2210B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305050"/>
            <a:ext cx="190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9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3CD415-62F4-43EA-B44B-D78A783DF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1971675"/>
            <a:ext cx="1657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initial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E04A30-C2F9-4FCA-BBA7-297B59C73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305050"/>
            <a:ext cx="190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9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DE9F29-C465-48D3-940F-ABDDA55C9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825" y="1971675"/>
            <a:ext cx="1657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edge 1 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C4C705-DF8C-4D6B-92B8-BA127E354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2305050"/>
            <a:ext cx="190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9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E5CE69-AAFE-4224-9B63-32C270D38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971675"/>
            <a:ext cx="1657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edge 2 ↓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8D6A7B-C8E2-4894-9193-40D6F204D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305050"/>
            <a:ext cx="190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9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DD0E3F3-544D-4B9F-890A-D72925163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1971675"/>
            <a:ext cx="1657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edge 3 ↓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E74B1A-600F-47A7-B0F0-A47237EC4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305050"/>
            <a:ext cx="19050" cy="2428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9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93C08D-1920-4648-B9F1-4A8918236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971675"/>
            <a:ext cx="1657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edge 4 ↓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32CB89-EE5C-4603-9177-B3EEF15DD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409825"/>
            <a:ext cx="1009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defPPr>
            <a:lvl1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1pPr>
            <a:lvl2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2pPr>
            <a:lvl3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3pPr>
            <a:lvl4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4pPr>
            <a:lvl5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5pPr>
            <a:lvl6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6pPr>
            <a:lvl7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7pPr>
            <a:lvl8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8pPr>
            <a:lvl9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00263E"/>
                </a:solidFill>
                <a:latin typeface="Tahoma"/>
                <a:ea typeface="Tahoma"/>
                <a:cs typeface="Tahoma"/>
              </a:rPr>
              <a:t>J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36BDC56-293A-47E5-9BCD-6C3566334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752725"/>
            <a:ext cx="17240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57E3158-866D-4E19-A878-C4CE58D48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428875"/>
            <a:ext cx="17240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18C5512-11BC-4D36-AB61-28E0D2850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428875"/>
            <a:ext cx="285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3B83304-D0F0-4411-9C19-CCE08E0CB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2428875"/>
            <a:ext cx="17240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563A7A4-8213-4B89-A1F2-1E0ACAFEA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752725"/>
            <a:ext cx="17240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C5B7615-D141-4B3F-9551-11F5076C6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428875"/>
            <a:ext cx="285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7E28998-856D-498F-A14F-2EE9C5442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428875"/>
            <a:ext cx="17240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64BEBBD-91C3-4C82-B77C-953337878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428875"/>
            <a:ext cx="285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01AE077-D4B0-427F-864D-91F807389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171825"/>
            <a:ext cx="1009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defPPr>
            <a:lvl1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1pPr>
            <a:lvl2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2pPr>
            <a:lvl3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3pPr>
            <a:lvl4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4pPr>
            <a:lvl5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5pPr>
            <a:lvl6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6pPr>
            <a:lvl7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7pPr>
            <a:lvl8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8pPr>
            <a:lvl9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00263E"/>
                </a:solidFill>
                <a:latin typeface="Tahoma"/>
                <a:ea typeface="Tahoma"/>
                <a:cs typeface="Tahoma"/>
              </a:rPr>
              <a:t>K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0F36A0E-751E-4C2B-8872-078F15238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514725"/>
            <a:ext cx="17240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F8C5A09-CD27-40DA-90BB-65E0082F8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514725"/>
            <a:ext cx="17240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6580983-05AB-41F0-B893-5E9B94E2C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3190875"/>
            <a:ext cx="17240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A5D45E9-3CDF-467A-B7D9-AAFAD2A51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3190875"/>
            <a:ext cx="285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1775AE7-5DE9-464A-8AE5-E1B4063F7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190875"/>
            <a:ext cx="17240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CC5765C-82BB-4AA6-A8A5-7013E5160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514725"/>
            <a:ext cx="17240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E73A2C3-45E2-4BC8-8EF9-3A6EE9FB2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190875"/>
            <a:ext cx="285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71ED8E0-E282-4F0A-B66E-526DF8F70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933825"/>
            <a:ext cx="1009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defPPr>
            <a:lvl1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1pPr>
            <a:lvl2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2pPr>
            <a:lvl3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3pPr>
            <a:lvl4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4pPr>
            <a:lvl5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5pPr>
            <a:lvl6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6pPr>
            <a:lvl7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7pPr>
            <a:lvl8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8pPr>
            <a:lvl9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00263E"/>
                </a:solidFill>
                <a:latin typeface="Tahoma"/>
                <a:ea typeface="Tahoma"/>
                <a:cs typeface="Tahoma"/>
              </a:rPr>
              <a:t>Q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6F38A0D-2813-4B76-ACB2-E6046E5B8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4276725"/>
            <a:ext cx="17240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D819577-F657-44A3-BD60-C0FB6DAD3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952875"/>
            <a:ext cx="17240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418755F-97A5-48C0-8CB7-0D1E4A39D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952875"/>
            <a:ext cx="285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3234503-A901-4777-8487-7EA843C30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4276725"/>
            <a:ext cx="17240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51B198C-8482-482E-8ACE-26B04F2BD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3952875"/>
            <a:ext cx="285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09876A4-2F4D-4A4C-B8D2-0B7EAE0AC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276725"/>
            <a:ext cx="17240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E954518-7750-4E05-BCCA-E4B8AE172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952875"/>
            <a:ext cx="17240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4FF6E9A-6E50-49F8-A066-8404A4CA9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952875"/>
            <a:ext cx="285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A98139D-5F99-4608-8698-A11AEBBB7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353050"/>
            <a:ext cx="966787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800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defPPr>
            <a:lvl1pPr algn="ctr">
              <a:defRPr sz="1800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1pPr>
            <a:lvl2pPr algn="ctr">
              <a:defRPr sz="1800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2pPr>
            <a:lvl3pPr algn="ctr">
              <a:defRPr sz="1800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3pPr>
            <a:lvl4pPr algn="ctr">
              <a:defRPr sz="1800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4pPr>
            <a:lvl5pPr algn="ctr">
              <a:defRPr sz="1800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5pPr>
            <a:lvl6pPr algn="ctr">
              <a:defRPr sz="1800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6pPr>
            <a:lvl7pPr algn="ctr">
              <a:defRPr sz="1800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7pPr>
            <a:lvl8pPr algn="ctr">
              <a:defRPr sz="1800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8pPr>
            <a:lvl9pPr algn="ctr">
              <a:defRPr sz="1800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A90F1C"/>
                </a:solidFill>
                <a:latin typeface="Tahoma"/>
                <a:ea typeface="Tahoma"/>
                <a:cs typeface="Tahoma"/>
              </a:rPr>
              <a:t>At edge 1 set; edge 2 toggle; edge 3 reset; edge 4 set.</a:t>
            </a:r>
          </a:p>
        </p:txBody>
      </p:sp>
    </p:spTree>
    <p:extLst>
      <p:ext uri="{BB962C8B-B14F-4D97-AF65-F5344CB8AC3E}">
        <p14:creationId xmlns:p14="http://schemas.microsoft.com/office/powerpoint/2010/main" val="30450128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AC0FA5-2418-43DE-9CB6-B059929B93C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0c780bb73b431b"/>
          <a:srcRect xmlns:a="http://schemas.openxmlformats.org/drawingml/2006/main" l="0" t="23428" r="0" b="2342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915525" y="0"/>
            <a:ext cx="2276475" cy="1019175"/>
          </a:xfrm>
          <a:prstGeom xmlns:a="http://schemas.openxmlformats.org/drawingml/2006/main" prst="rect">
            <a:avLst/>
          </a:prstGeom>
        </p:spPr>
      </p:pic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76505E-CFD9-4034-A8F1-B79A4582C26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46b27895304c59"/>
          <a:stretch xmlns:a="http://schemas.openxmlformats.org/drawingml/2006/main"/>
        </p:blipFill>
        <p:spPr>
          <a:xfrm xmlns:a="http://schemas.openxmlformats.org/drawingml/2006/main">
            <a:off x="8422741" y="228600"/>
            <a:ext cx="3137967" cy="5143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934B20-CF02-4607-9E0C-6E55D1B97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76225"/>
            <a:ext cx="7239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L18 · JK STATE DIAGRAM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B21F9C-300B-45B3-8DDF-41E87E819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47700"/>
            <a:ext cx="101917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defPPr>
            <a:lvl1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1pPr>
            <a:lvl2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2pPr>
            <a:lvl3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3pPr>
            <a:lvl4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4pPr>
            <a:lvl5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5pPr>
            <a:lvl6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6pPr>
            <a:lvl7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7pPr>
            <a:lvl8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8pPr>
            <a:lvl9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pPr>
            <a:r>
              <a:rPr sz="3225" b="1">
                <a:solidFill>
                  <a:srgbClr val="00263E"/>
                </a:solidFill>
                <a:latin typeface="Tahoma"/>
                <a:ea typeface="Tahoma"/>
                <a:cs typeface="Tahoma"/>
              </a:rPr>
              <a:t>One bit has two states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F34871-4B68-4D0D-877C-AF93F5732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14859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20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187A36-B4D4-4E6E-A12C-BF31C0C89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15050"/>
            <a:ext cx="1219200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7AD6B0-49EA-4C4B-99CD-F0F052F31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43625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defPPr>
            <a:lvl1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1pPr>
            <a:lvl2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2pPr>
            <a:lvl3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3pPr>
            <a:lvl4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4pPr>
            <a:lvl5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5pPr>
            <a:lvl6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6pPr>
            <a:lvl7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7pPr>
            <a:lvl8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8pPr>
            <a:lvl9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A90F1C"/>
                </a:solidFill>
                <a:latin typeface="Tahoma"/>
                <a:ea typeface="Tahoma"/>
                <a:cs typeface="Tahoma"/>
              </a:rPr>
              <a:t>Textbook: Ch. 7 §7.3, pp. 447–450  |  Companion: lesson-04.html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4230A8-3E56-42DD-BD09-C18205A79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6429375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defPPr>
            <a:lvl1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1pPr>
            <a:lvl2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2pPr>
            <a:lvl3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3pPr>
            <a:lvl4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4pPr>
            <a:lvl5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5pPr>
            <a:lvl6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6pPr>
            <a:lvl7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7pPr>
            <a:lvl8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8pPr>
            <a:lvl9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484342"/>
                </a:solidFill>
                <a:latin typeface="Tahoma"/>
                <a:ea typeface="Tahoma"/>
                <a:cs typeface="Tahoma"/>
              </a:rPr>
              <a:t>ELEC 335  |  L18  |  Week 10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BB6464-A6B6-4040-A9F3-03BD5D068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defPPr>
            <a:lvl1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1pPr>
            <a:lvl2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2pPr>
            <a:lvl3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3pPr>
            <a:lvl4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4pPr>
            <a:lvl5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5pPr>
            <a:lvl6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6pPr>
            <a:lvl7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7pPr>
            <a:lvl8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8pPr>
            <a:lvl9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484342"/>
                </a:solidFill>
                <a:latin typeface="Tahoma"/>
                <a:ea typeface="Tahoma"/>
                <a:cs typeface="Tahoma"/>
              </a:rPr>
              <a:t>13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81F3BA-9801-4C84-B95B-E7D3DC447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67500"/>
            <a:ext cx="1219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20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3E025D-9245-4BB2-BC91-77EE5F3CA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705100"/>
            <a:ext cx="25717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3F1ED"/>
          </a:solidFill>
          <a:ln xmlns:a="http://schemas.openxmlformats.org/drawingml/2006/main" w="19050">
            <a:solidFill>
              <a:srgbClr val="00263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B8E7CA-4CDF-4528-893B-19CAA7CF5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800350"/>
            <a:ext cx="23050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277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defPPr>
            <a:lvl1pPr algn="ctr">
              <a:defRPr sz="277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1pPr>
            <a:lvl2pPr algn="ctr">
              <a:defRPr sz="277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2pPr>
            <a:lvl3pPr algn="ctr">
              <a:defRPr sz="277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3pPr>
            <a:lvl4pPr algn="ctr">
              <a:defRPr sz="277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4pPr>
            <a:lvl5pPr algn="ctr">
              <a:defRPr sz="277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5pPr>
            <a:lvl6pPr algn="ctr">
              <a:defRPr sz="277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6pPr>
            <a:lvl7pPr algn="ctr">
              <a:defRPr sz="277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7pPr>
            <a:lvl8pPr algn="ctr">
              <a:defRPr sz="277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8pPr>
            <a:lvl9pPr algn="ctr">
              <a:defRPr sz="277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ctr">
              <a:defRPr sz="277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pPr>
            <a:r>
              <a:rPr sz="2775" b="1">
                <a:solidFill>
                  <a:srgbClr val="00263E"/>
                </a:solidFill>
                <a:latin typeface="Tahoma"/>
                <a:ea typeface="Tahoma"/>
                <a:cs typeface="Tahoma"/>
              </a:rPr>
              <a:t>Q=0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D85A81-CC19-4066-93E2-29CB36B86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05100"/>
            <a:ext cx="25717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3F1ED"/>
          </a:solidFill>
          <a:ln xmlns:a="http://schemas.openxmlformats.org/drawingml/2006/main" w="19050">
            <a:solidFill>
              <a:srgbClr val="00263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4D2E23-A020-4B5D-A33D-51566BB9D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800350"/>
            <a:ext cx="23050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277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defPPr>
            <a:lvl1pPr algn="ctr">
              <a:defRPr sz="277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1pPr>
            <a:lvl2pPr algn="ctr">
              <a:defRPr sz="277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2pPr>
            <a:lvl3pPr algn="ctr">
              <a:defRPr sz="277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3pPr>
            <a:lvl4pPr algn="ctr">
              <a:defRPr sz="277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4pPr>
            <a:lvl5pPr algn="ctr">
              <a:defRPr sz="277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5pPr>
            <a:lvl6pPr algn="ctr">
              <a:defRPr sz="277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6pPr>
            <a:lvl7pPr algn="ctr">
              <a:defRPr sz="277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7pPr>
            <a:lvl8pPr algn="ctr">
              <a:defRPr sz="277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8pPr>
            <a:lvl9pPr algn="ctr">
              <a:defRPr sz="277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ctr">
              <a:defRPr sz="277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pPr>
            <a:r>
              <a:rPr sz="2775" b="1">
                <a:solidFill>
                  <a:srgbClr val="00263E"/>
                </a:solidFill>
                <a:latin typeface="Tahoma"/>
                <a:ea typeface="Tahoma"/>
                <a:cs typeface="Tahoma"/>
              </a:rPr>
              <a:t>Q=1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B7E4D8-E537-4D29-8B14-2FAD79C15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590800"/>
            <a:ext cx="28289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315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B1CFF6-FB25-4623-887D-94FE19271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248025"/>
            <a:ext cx="2828925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315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←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190F86-321D-4216-A99D-234D743AD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1925" y="2114550"/>
            <a:ext cx="42576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8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ctr">
              <a:defRPr sz="18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ctr">
              <a:defRPr sz="18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ctr">
              <a:defRPr sz="18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ctr">
              <a:defRPr sz="18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ctr">
              <a:defRPr sz="18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ctr">
              <a:defRPr sz="18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ctr">
              <a:defRPr sz="18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ctr">
              <a:defRPr sz="18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ctr">
              <a:defRPr sz="18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JK=11 toggles in both directions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241D09-3E4F-4488-968B-C94BFDCE0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448175"/>
            <a:ext cx="9296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950" b="1">
                <a:solidFill>
                  <a:srgbClr val="1E252B"/>
                </a:solidFill>
                <a:latin typeface="Tahoma"/>
                <a:ea typeface="Tahoma"/>
                <a:cs typeface="Tahoma"/>
              </a:defRPr>
            </a:defPPr>
            <a:lvl1pPr algn="ctr">
              <a:defRPr sz="1950" b="1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1pPr>
            <a:lvl2pPr algn="ctr">
              <a:defRPr sz="1950" b="1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2pPr>
            <a:lvl3pPr algn="ctr">
              <a:defRPr sz="1950" b="1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3pPr>
            <a:lvl4pPr algn="ctr">
              <a:defRPr sz="1950" b="1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4pPr>
            <a:lvl5pPr algn="ctr">
              <a:defRPr sz="1950" b="1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5pPr>
            <a:lvl6pPr algn="ctr">
              <a:defRPr sz="1950" b="1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6pPr>
            <a:lvl7pPr algn="ctr">
              <a:defRPr sz="1950" b="1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7pPr>
            <a:lvl8pPr algn="ctr">
              <a:defRPr sz="1950" b="1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8pPr>
            <a:lvl9pPr algn="ctr">
              <a:defRPr sz="1950" b="1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ctr">
              <a:defRPr sz="1950" b="1">
                <a:solidFill>
                  <a:srgbClr val="1E252B"/>
                </a:solidFill>
                <a:latin typeface="Tahoma"/>
                <a:ea typeface="Tahoma"/>
                <a:cs typeface="Tahoma"/>
              </a:defRPr>
            </a:pPr>
            <a:r>
              <a:rPr sz="1950" b="1">
                <a:solidFill>
                  <a:srgbClr val="1E252B"/>
                </a:solidFill>
                <a:latin typeface="Tahoma"/>
                <a:ea typeface="Tahoma"/>
                <a:cs typeface="Tahoma"/>
              </a:rPr>
              <a:t>JK=00 holds at either state. JK=10 drives Q toward 1. JK=01 drives Q toward 0.</a:t>
            </a:r>
          </a:p>
        </p:txBody>
      </p:sp>
    </p:spTree>
    <p:extLst>
      <p:ext uri="{BB962C8B-B14F-4D97-AF65-F5344CB8AC3E}">
        <p14:creationId xmlns:p14="http://schemas.microsoft.com/office/powerpoint/2010/main" val="203877532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18CFBB-64BA-49C2-89B4-A461D8F58A1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a30928ce27469f"/>
          <a:srcRect xmlns:a="http://schemas.openxmlformats.org/drawingml/2006/main" l="0" t="23428" r="0" b="2342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915525" y="0"/>
            <a:ext cx="2276475" cy="1019175"/>
          </a:xfrm>
          <a:prstGeom xmlns:a="http://schemas.openxmlformats.org/drawingml/2006/main" prst="rect">
            <a:avLst/>
          </a:prstGeom>
        </p:spPr>
      </p:pic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44CA87-0517-4DB5-B4E9-3DB648F66BE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1af4a087884369"/>
          <a:stretch xmlns:a="http://schemas.openxmlformats.org/drawingml/2006/main"/>
        </p:blipFill>
        <p:spPr>
          <a:xfrm xmlns:a="http://schemas.openxmlformats.org/drawingml/2006/main">
            <a:off x="8422741" y="228600"/>
            <a:ext cx="3137967" cy="5143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A38129-2A92-42B4-9B94-A4C4D6D0F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76225"/>
            <a:ext cx="7239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L18 · JK EXCITATION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7DD712-AD1E-4C8E-BD3A-3FF6D1AC9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47700"/>
            <a:ext cx="101917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defPPr>
            <a:lvl1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1pPr>
            <a:lvl2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2pPr>
            <a:lvl3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3pPr>
            <a:lvl4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4pPr>
            <a:lvl5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5pPr>
            <a:lvl6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6pPr>
            <a:lvl7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7pPr>
            <a:lvl8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8pPr>
            <a:lvl9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pPr>
            <a:r>
              <a:rPr sz="3225" b="1">
                <a:solidFill>
                  <a:srgbClr val="00263E"/>
                </a:solidFill>
                <a:latin typeface="Tahoma"/>
                <a:ea typeface="Tahoma"/>
                <a:cs typeface="Tahoma"/>
              </a:rPr>
              <a:t>What inputs cause a required transition?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9E16F6-C2FF-456E-A969-8E8BEA099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14859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20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F4EE3D-7939-490E-AC1D-B50D69396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15050"/>
            <a:ext cx="1219200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8D8EC5-C77A-41F2-88AF-C35D532B6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43625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defPPr>
            <a:lvl1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1pPr>
            <a:lvl2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2pPr>
            <a:lvl3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3pPr>
            <a:lvl4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4pPr>
            <a:lvl5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5pPr>
            <a:lvl6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6pPr>
            <a:lvl7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7pPr>
            <a:lvl8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8pPr>
            <a:lvl9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A90F1C"/>
                </a:solidFill>
                <a:latin typeface="Tahoma"/>
                <a:ea typeface="Tahoma"/>
                <a:cs typeface="Tahoma"/>
              </a:rPr>
              <a:t>Textbook: Ch. 7 §7.3, pp. 447–450  |  Companion: lesson-04.html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11C1B5-F84A-4E07-B53A-07A63DFFA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6429375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defPPr>
            <a:lvl1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1pPr>
            <a:lvl2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2pPr>
            <a:lvl3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3pPr>
            <a:lvl4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4pPr>
            <a:lvl5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5pPr>
            <a:lvl6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6pPr>
            <a:lvl7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7pPr>
            <a:lvl8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8pPr>
            <a:lvl9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484342"/>
                </a:solidFill>
                <a:latin typeface="Tahoma"/>
                <a:ea typeface="Tahoma"/>
                <a:cs typeface="Tahoma"/>
              </a:rPr>
              <a:t>ELEC 335  |  L18  |  Week 10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FE7F07-6245-4968-83AA-4DFF6D483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defPPr>
            <a:lvl1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1pPr>
            <a:lvl2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2pPr>
            <a:lvl3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3pPr>
            <a:lvl4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4pPr>
            <a:lvl5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5pPr>
            <a:lvl6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6pPr>
            <a:lvl7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7pPr>
            <a:lvl8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8pPr>
            <a:lvl9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484342"/>
                </a:solidFill>
                <a:latin typeface="Tahoma"/>
                <a:ea typeface="Tahoma"/>
                <a:cs typeface="Tahoma"/>
              </a:rPr>
              <a:t>14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7A2362-52C9-4423-BA31-8C3D99EFB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67500"/>
            <a:ext cx="1219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202E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BEBB77-A21A-43A1-862F-BFE584BE4E58}"/>
              </a:ext>
            </a:extLst>
          </p:cNvPr>
          <p:cNvGraphicFramePr/>
          <p:nvPr/>
        </p:nvGraphicFramePr>
        <p:xfrm>
          <a:off xmlns:a="http://schemas.openxmlformats.org/drawingml/2006/main" x="752475" y="1952625"/>
          <a:ext xmlns:a="http://schemas.openxmlformats.org/drawingml/2006/main" cx="10668000" cy="30099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33600"/>
                <a:gridCol w="2133600"/>
                <a:gridCol w="2133600"/>
                <a:gridCol w="2133600"/>
                <a:gridCol w="2133600"/>
              </a:tblGrid>
              <a:tr h="601980"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725" b="1">
                          <a:solidFill>
                            <a:srgbClr val="FFFFFF"/>
                          </a:solidFill>
                          <a:latin typeface="Tahoma"/>
                          <a:ea typeface="Tahoma"/>
                          <a:cs typeface="Tahoma"/>
                        </a:rPr>
                        <a:t>Present Q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333333"/>
                      </a:solidFill>
                      <a:prstDash val="solid"/>
                    </a:lnL>
                    <a:lnR w="9525">
                      <a:solidFill>
                        <a:srgbClr val="333333"/>
                      </a:solidFill>
                      <a:prstDash val="solid"/>
                    </a:lnR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00263E"/>
                    </a:solidFill>
                  </a:tcPr>
                </a:tc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725" b="1">
                          <a:solidFill>
                            <a:srgbClr val="FFFFFF"/>
                          </a:solidFill>
                          <a:latin typeface="Tahoma"/>
                          <a:ea typeface="Tahoma"/>
                          <a:cs typeface="Tahoma"/>
                        </a:rPr>
                        <a:t>Desired Q⁺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33333"/>
                      </a:solidFill>
                      <a:prstDash val="solid"/>
                    </a:lnR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00263E"/>
                    </a:solidFill>
                  </a:tcPr>
                </a:tc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725" b="1">
                          <a:solidFill>
                            <a:srgbClr val="FFFFFF"/>
                          </a:solidFill>
                          <a:latin typeface="Tahoma"/>
                          <a:ea typeface="Tahoma"/>
                          <a:cs typeface="Tahoma"/>
                        </a:rPr>
                        <a:t>J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33333"/>
                      </a:solidFill>
                      <a:prstDash val="solid"/>
                    </a:lnR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00263E"/>
                    </a:solidFill>
                  </a:tcPr>
                </a:tc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725" b="1">
                          <a:solidFill>
                            <a:srgbClr val="FFFFFF"/>
                          </a:solidFill>
                          <a:latin typeface="Tahoma"/>
                          <a:ea typeface="Tahoma"/>
                          <a:cs typeface="Tahoma"/>
                        </a:rPr>
                        <a:t>K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33333"/>
                      </a:solidFill>
                      <a:prstDash val="solid"/>
                    </a:lnR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00263E"/>
                    </a:solidFill>
                  </a:tcPr>
                </a:tc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725" b="1">
                          <a:solidFill>
                            <a:srgbClr val="FFFFFF"/>
                          </a:solidFill>
                          <a:latin typeface="Tahoma"/>
                          <a:ea typeface="Tahoma"/>
                          <a:cs typeface="Tahoma"/>
                        </a:rPr>
                        <a:t>Reason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33333"/>
                      </a:solidFill>
                      <a:prstDash val="solid"/>
                    </a:lnR>
                    <a:lnT w="9525">
                      <a:solidFill>
                        <a:srgbClr val="333333"/>
                      </a:solidFill>
                      <a:prstDash val="solid"/>
                    </a:lnT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00263E"/>
                    </a:solidFill>
                  </a:tcPr>
                </a:tc>
              </a:tr>
              <a:tr h="601980"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0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333333"/>
                      </a:solidFill>
                      <a:prstDash val="solid"/>
                    </a:lnL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X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hold or reset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1980"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0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333333"/>
                      </a:solidFill>
                      <a:prstDash val="solid"/>
                    </a:lnL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3F1ED"/>
                    </a:solidFill>
                  </a:tcPr>
                </a:tc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3F1ED"/>
                    </a:solidFill>
                  </a:tcPr>
                </a:tc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3F1ED"/>
                    </a:solidFill>
                  </a:tcPr>
                </a:tc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X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3F1ED"/>
                    </a:solidFill>
                  </a:tcPr>
                </a:tc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set or toggle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3F1ED"/>
                    </a:solidFill>
                  </a:tcPr>
                </a:tc>
              </a:tr>
              <a:tr h="601980"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1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333333"/>
                      </a:solidFill>
                      <a:prstDash val="solid"/>
                    </a:lnL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X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reset or toggle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1980"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1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333333"/>
                      </a:solidFill>
                      <a:prstDash val="solid"/>
                    </a:lnL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3F1ED"/>
                    </a:solidFill>
                  </a:tcPr>
                </a:tc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3F1ED"/>
                    </a:solidFill>
                  </a:tcPr>
                </a:tc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X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3F1ED"/>
                    </a:solidFill>
                  </a:tcPr>
                </a:tc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3F1ED"/>
                    </a:solidFill>
                  </a:tcPr>
                </a:tc>
                <a:tc>
                  <a:txBody>
                    <a:bodyPr wrap="square" lIns="66675" tIns="47625" rIns="66675" bIns="47625">
                      <a:normAutofit/>
                    </a:bodyPr>
                    <a:lstStyle/>
                    <a:p>
                      <a:pPr algn="ctr"/>
                      <a:r>
                        <a:rPr sz="1650" b="0">
                          <a:solidFill>
                            <a:srgbClr val="1E252B"/>
                          </a:solidFill>
                          <a:latin typeface="Tahoma"/>
                          <a:ea typeface="Tahoma"/>
                          <a:cs typeface="Tahoma"/>
                        </a:rPr>
                        <a:t>hold or set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333333"/>
                      </a:solidFill>
                      <a:prstDash val="solid"/>
                    </a:lnR>
                    <a:lnB w="9525">
                      <a:solidFill>
                        <a:srgbClr val="333333"/>
                      </a:solidFill>
                      <a:prstDash val="solid"/>
                    </a:lnB>
                    <a:solidFill>
                      <a:srgbClr val="F3F1ED"/>
                    </a:solidFill>
                  </a:tcPr>
                </a:tc>
              </a:tr>
            </a:tbl>
          </a:graphicData>
        </a:graphic>
      </p:graphicFrame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FB73D1-79F2-422E-BCF3-4BF7AAEB0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276850"/>
            <a:ext cx="9696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800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defPPr>
            <a:lvl1pPr algn="ctr">
              <a:defRPr sz="1800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1pPr>
            <a:lvl2pPr algn="ctr">
              <a:defRPr sz="1800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2pPr>
            <a:lvl3pPr algn="ctr">
              <a:defRPr sz="1800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3pPr>
            <a:lvl4pPr algn="ctr">
              <a:defRPr sz="1800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4pPr>
            <a:lvl5pPr algn="ctr">
              <a:defRPr sz="1800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5pPr>
            <a:lvl6pPr algn="ctr">
              <a:defRPr sz="1800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6pPr>
            <a:lvl7pPr algn="ctr">
              <a:defRPr sz="1800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7pPr>
            <a:lvl8pPr algn="ctr">
              <a:defRPr sz="1800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8pPr>
            <a:lvl9pPr algn="ctr">
              <a:defRPr sz="1800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A90F1C"/>
                </a:solidFill>
                <a:latin typeface="Tahoma"/>
                <a:ea typeface="Tahoma"/>
                <a:cs typeface="Tahoma"/>
              </a:rPr>
              <a:t>X means either logic value works. A JK toggle uses J=K=1.</a:t>
            </a:r>
          </a:p>
        </p:txBody>
      </p:sp>
    </p:spTree>
    <p:extLst>
      <p:ext uri="{BB962C8B-B14F-4D97-AF65-F5344CB8AC3E}">
        <p14:creationId xmlns:p14="http://schemas.microsoft.com/office/powerpoint/2010/main" val="70097267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A0930C-50C0-408B-BC27-A5270C2B5B0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f07d84a5514f75"/>
          <a:srcRect xmlns:a="http://schemas.openxmlformats.org/drawingml/2006/main" l="0" t="23428" r="0" b="2342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915525" y="0"/>
            <a:ext cx="2276475" cy="1019175"/>
          </a:xfrm>
          <a:prstGeom xmlns:a="http://schemas.openxmlformats.org/drawingml/2006/main" prst="rect">
            <a:avLst/>
          </a:prstGeom>
        </p:spPr>
      </p:pic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61CBC7-1D10-40C6-89C5-994C1DB4697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d3cb035bed4e11"/>
          <a:stretch xmlns:a="http://schemas.openxmlformats.org/drawingml/2006/main"/>
        </p:blipFill>
        <p:spPr>
          <a:xfrm xmlns:a="http://schemas.openxmlformats.org/drawingml/2006/main">
            <a:off x="8422741" y="228600"/>
            <a:ext cx="3137967" cy="5143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168F71-9B48-4308-A759-F7EDB37AE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76225"/>
            <a:ext cx="7239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L18 · RIPPLE STEPS 1–4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089DE3-9175-44D3-980D-1BDA62B14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47700"/>
            <a:ext cx="101917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defPPr>
            <a:lvl1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1pPr>
            <a:lvl2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2pPr>
            <a:lvl3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3pPr>
            <a:lvl4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4pPr>
            <a:lvl5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5pPr>
            <a:lvl6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6pPr>
            <a:lvl7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7pPr>
            <a:lvl8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8pPr>
            <a:lvl9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pPr>
            <a:r>
              <a:rPr sz="3225" b="1">
                <a:solidFill>
                  <a:srgbClr val="00263E"/>
                </a:solidFill>
                <a:latin typeface="Tahoma"/>
                <a:ea typeface="Tahoma"/>
                <a:cs typeface="Tahoma"/>
              </a:rPr>
              <a:t>Choose bits, mode and clock chain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A3B854-E3AD-400C-A65D-145B136C7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14859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20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DE0E29-2988-4532-9417-F9DE42838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15050"/>
            <a:ext cx="1219200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367115-1D2E-44DA-80D4-A25F3A55D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43625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defPPr>
            <a:lvl1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1pPr>
            <a:lvl2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2pPr>
            <a:lvl3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3pPr>
            <a:lvl4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4pPr>
            <a:lvl5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5pPr>
            <a:lvl6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6pPr>
            <a:lvl7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7pPr>
            <a:lvl8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8pPr>
            <a:lvl9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A90F1C"/>
                </a:solidFill>
                <a:latin typeface="Tahoma"/>
                <a:ea typeface="Tahoma"/>
                <a:cs typeface="Tahoma"/>
              </a:rPr>
              <a:t>Textbook: Ch. 7 §7.3, pp. 447–450  |  Companion: lesson-04.html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57FCAB-1966-478A-9BBD-7E673749B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6429375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defPPr>
            <a:lvl1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1pPr>
            <a:lvl2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2pPr>
            <a:lvl3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3pPr>
            <a:lvl4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4pPr>
            <a:lvl5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5pPr>
            <a:lvl6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6pPr>
            <a:lvl7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7pPr>
            <a:lvl8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8pPr>
            <a:lvl9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484342"/>
                </a:solidFill>
                <a:latin typeface="Tahoma"/>
                <a:ea typeface="Tahoma"/>
                <a:cs typeface="Tahoma"/>
              </a:rPr>
              <a:t>ELEC 335  |  L18  |  Week 10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A2E276-8C15-4EDA-B836-E6C19BE2F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defPPr>
            <a:lvl1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1pPr>
            <a:lvl2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2pPr>
            <a:lvl3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3pPr>
            <a:lvl4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4pPr>
            <a:lvl5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5pPr>
            <a:lvl6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6pPr>
            <a:lvl7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7pPr>
            <a:lvl8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8pPr>
            <a:lvl9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484342"/>
                </a:solidFill>
                <a:latin typeface="Tahoma"/>
                <a:ea typeface="Tahoma"/>
                <a:cs typeface="Tahoma"/>
              </a:rPr>
              <a:t>15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304985-3C90-4EDA-8C44-445F039A6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67500"/>
            <a:ext cx="1219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20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81276B-BDB1-4CF8-9BE9-16B5A3EC5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1752600"/>
            <a:ext cx="7048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67B490-EC42-42A3-9BAF-631278B43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1714500"/>
            <a:ext cx="9048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defPPr>
            <a:lvl1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1pPr>
            <a:lvl2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2pPr>
            <a:lvl3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3pPr>
            <a:lvl4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4pPr>
            <a:lvl5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5pPr>
            <a:lvl6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6pPr>
            <a:lvl7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7pPr>
            <a:lvl8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8pPr>
            <a:lvl9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pPr>
            <a:r>
              <a:rPr sz="1950" b="0">
                <a:solidFill>
                  <a:srgbClr val="1E252B"/>
                </a:solidFill>
                <a:latin typeface="Tahoma"/>
                <a:ea typeface="Tahoma"/>
                <a:cs typeface="Tahoma"/>
              </a:rPr>
              <a:t>Specify the six settled codes 000 through 101.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5D6412-7083-4767-8A3C-BAA2E20BF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2695575"/>
            <a:ext cx="7048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DE4774-57F7-437A-AC5D-E5E8C04A6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657475"/>
            <a:ext cx="9048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defPPr>
            <a:lvl1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1pPr>
            <a:lvl2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2pPr>
            <a:lvl3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3pPr>
            <a:lvl4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4pPr>
            <a:lvl5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5pPr>
            <a:lvl6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6pPr>
            <a:lvl7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7pPr>
            <a:lvl8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8pPr>
            <a:lvl9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pPr>
            <a:r>
              <a:rPr sz="1950" b="0">
                <a:solidFill>
                  <a:srgbClr val="1E252B"/>
                </a:solidFill>
                <a:latin typeface="Tahoma"/>
                <a:ea typeface="Tahoma"/>
                <a:cs typeface="Tahoma"/>
              </a:rPr>
              <a:t>Choose three JK flip-flops because 2³≥6.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8D3A7E-B264-4659-955F-360398168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3638550"/>
            <a:ext cx="7048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A2AD62-3D7A-4035-81FE-83E52AFE3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600450"/>
            <a:ext cx="9048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defPPr>
            <a:lvl1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1pPr>
            <a:lvl2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2pPr>
            <a:lvl3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3pPr>
            <a:lvl4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4pPr>
            <a:lvl5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5pPr>
            <a:lvl6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6pPr>
            <a:lvl7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7pPr>
            <a:lvl8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8pPr>
            <a:lvl9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pPr>
            <a:r>
              <a:rPr sz="1950" b="0">
                <a:solidFill>
                  <a:srgbClr val="1E252B"/>
                </a:solidFill>
                <a:latin typeface="Tahoma"/>
                <a:ea typeface="Tahoma"/>
                <a:cs typeface="Tahoma"/>
              </a:rPr>
              <a:t>Use falling-edge devices and tie every J and K input to 1.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5544A3-B84A-4848-88D3-A56A07FF7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4581525"/>
            <a:ext cx="7048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78A10EA-F800-4B0C-8BED-EC6B065E6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4543425"/>
            <a:ext cx="9048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defPPr>
            <a:lvl1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1pPr>
            <a:lvl2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2pPr>
            <a:lvl3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3pPr>
            <a:lvl4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4pPr>
            <a:lvl5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5pPr>
            <a:lvl6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6pPr>
            <a:lvl7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7pPr>
            <a:lvl8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8pPr>
            <a:lvl9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pPr>
            <a:r>
              <a:rPr sz="1950" b="0">
                <a:solidFill>
                  <a:srgbClr val="1E252B"/>
                </a:solidFill>
                <a:latin typeface="Tahoma"/>
                <a:ea typeface="Tahoma"/>
                <a:cs typeface="Tahoma"/>
              </a:rPr>
              <a:t>Wire CLK₀=external CLK, CLK₁=Q₀ and CLK₂=Q₁.</a:t>
            </a:r>
          </a:p>
        </p:txBody>
      </p:sp>
    </p:spTree>
    <p:extLst>
      <p:ext uri="{BB962C8B-B14F-4D97-AF65-F5344CB8AC3E}">
        <p14:creationId xmlns:p14="http://schemas.microsoft.com/office/powerpoint/2010/main" val="135204710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D6C71B1-6DCD-4BEE-99A3-8A2A2EEDE4A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a2f1f5f1fc4edd"/>
          <a:srcRect xmlns:a="http://schemas.openxmlformats.org/drawingml/2006/main" l="0" t="23428" r="0" b="2342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915525" y="0"/>
            <a:ext cx="2276475" cy="1019175"/>
          </a:xfrm>
          <a:prstGeom xmlns:a="http://schemas.openxmlformats.org/drawingml/2006/main" prst="rect">
            <a:avLst/>
          </a:prstGeom>
        </p:spPr>
      </p:pic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9B1C0C-B741-4716-BDDE-45487F9735D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adffd1e8d346b1"/>
          <a:stretch xmlns:a="http://schemas.openxmlformats.org/drawingml/2006/main"/>
        </p:blipFill>
        <p:spPr>
          <a:xfrm xmlns:a="http://schemas.openxmlformats.org/drawingml/2006/main">
            <a:off x="8422741" y="228600"/>
            <a:ext cx="3137967" cy="5143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9EE65B-65A2-410F-BDD5-84B027289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76225"/>
            <a:ext cx="7239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L18 · RIPPLE STEPS 5–8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7B106F-9F2B-4D11-9A16-E97ABFB12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47700"/>
            <a:ext cx="101917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defPPr>
            <a:lvl1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1pPr>
            <a:lvl2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2pPr>
            <a:lvl3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3pPr>
            <a:lvl4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4pPr>
            <a:lvl5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5pPr>
            <a:lvl6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6pPr>
            <a:lvl7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7pPr>
            <a:lvl8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8pPr>
            <a:lvl9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pPr>
            <a:r>
              <a:rPr sz="3225" b="1">
                <a:solidFill>
                  <a:srgbClr val="00263E"/>
                </a:solidFill>
                <a:latin typeface="Tahoma"/>
                <a:ea typeface="Tahoma"/>
                <a:cs typeface="Tahoma"/>
              </a:rPr>
              <a:t>Add the MOD-6 reset and verify timing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C76B7E-BD52-47F6-B49B-170B26CBA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14859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20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51090D-E91A-4A98-8805-90DD29DE2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15050"/>
            <a:ext cx="1219200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20FCFE-EE64-4388-AFBE-357801B82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43625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defPPr>
            <a:lvl1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1pPr>
            <a:lvl2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2pPr>
            <a:lvl3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3pPr>
            <a:lvl4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4pPr>
            <a:lvl5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5pPr>
            <a:lvl6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6pPr>
            <a:lvl7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7pPr>
            <a:lvl8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8pPr>
            <a:lvl9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A90F1C"/>
                </a:solidFill>
                <a:latin typeface="Tahoma"/>
                <a:ea typeface="Tahoma"/>
                <a:cs typeface="Tahoma"/>
              </a:rPr>
              <a:t>Textbook: Ch. 7 §7.3, pp. 447–450  |  Companion: lesson-04.html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7A8B3A-0AE2-44EB-BDAD-66102EE77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6429375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defPPr>
            <a:lvl1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1pPr>
            <a:lvl2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2pPr>
            <a:lvl3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3pPr>
            <a:lvl4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4pPr>
            <a:lvl5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5pPr>
            <a:lvl6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6pPr>
            <a:lvl7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7pPr>
            <a:lvl8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8pPr>
            <a:lvl9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484342"/>
                </a:solidFill>
                <a:latin typeface="Tahoma"/>
                <a:ea typeface="Tahoma"/>
                <a:cs typeface="Tahoma"/>
              </a:rPr>
              <a:t>ELEC 335  |  L18  |  Week 10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1BA8EB-9BA1-4E87-87FD-0AB192C74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defPPr>
            <a:lvl1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1pPr>
            <a:lvl2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2pPr>
            <a:lvl3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3pPr>
            <a:lvl4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4pPr>
            <a:lvl5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5pPr>
            <a:lvl6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6pPr>
            <a:lvl7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7pPr>
            <a:lvl8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8pPr>
            <a:lvl9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484342"/>
                </a:solidFill>
                <a:latin typeface="Tahoma"/>
                <a:ea typeface="Tahoma"/>
                <a:cs typeface="Tahoma"/>
              </a:rPr>
              <a:t>16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70DC89-AE81-46BB-9AA8-EB5D4B717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67500"/>
            <a:ext cx="1219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20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08EDD5-D35F-4088-BE51-399A3995C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1752600"/>
            <a:ext cx="7048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A587BE-4E59-47B9-B0F4-7F0338FBD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1714500"/>
            <a:ext cx="9048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defPPr>
            <a:lvl1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1pPr>
            <a:lvl2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2pPr>
            <a:lvl3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3pPr>
            <a:lvl4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4pPr>
            <a:lvl5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5pPr>
            <a:lvl6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6pPr>
            <a:lvl7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7pPr>
            <a:lvl8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8pPr>
            <a:lvl9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pPr>
            <a:r>
              <a:rPr sz="1950" b="0">
                <a:solidFill>
                  <a:srgbClr val="1E252B"/>
                </a:solidFill>
                <a:latin typeface="Tahoma"/>
                <a:ea typeface="Tahoma"/>
                <a:cs typeface="Tahoma"/>
              </a:rPr>
              <a:t>Trace the natural ripple count; 110 is the first unwanted code.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3C8472-C978-468F-866F-9D16F32C7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2695575"/>
            <a:ext cx="7048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926D7F-D083-4D22-B115-C564A77C3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657475"/>
            <a:ext cx="9048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defPPr>
            <a:lvl1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1pPr>
            <a:lvl2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2pPr>
            <a:lvl3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3pPr>
            <a:lvl4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4pPr>
            <a:lvl5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5pPr>
            <a:lvl6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6pPr>
            <a:lvl7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7pPr>
            <a:lvl8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8pPr>
            <a:lvl9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pPr>
            <a:r>
              <a:rPr sz="1950" b="0">
                <a:solidFill>
                  <a:srgbClr val="1E252B"/>
                </a:solidFill>
                <a:latin typeface="Tahoma"/>
                <a:ea typeface="Tahoma"/>
                <a:cs typeface="Tahoma"/>
              </a:rPr>
              <a:t>Use NAND(Q₂,Q₁) to assert active-low CLRₙ at 110.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E881E0-D302-4ED6-B4E4-15874F245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3638550"/>
            <a:ext cx="7048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CACB2C-C126-402A-BC26-C57531116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600450"/>
            <a:ext cx="9048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defPPr>
            <a:lvl1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1pPr>
            <a:lvl2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2pPr>
            <a:lvl3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3pPr>
            <a:lvl4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4pPr>
            <a:lvl5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5pPr>
            <a:lvl6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6pPr>
            <a:lvl7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7pPr>
            <a:lvl8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8pPr>
            <a:lvl9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pPr>
            <a:r>
              <a:rPr sz="1950" b="0">
                <a:solidFill>
                  <a:srgbClr val="1E252B"/>
                </a:solidFill>
                <a:latin typeface="Tahoma"/>
                <a:ea typeface="Tahoma"/>
                <a:cs typeface="Tahoma"/>
              </a:rPr>
              <a:t>Draw stage delays, transient codes and the clear pulse.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2D44AA-9A87-464F-A2D8-A05E9D090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4581525"/>
            <a:ext cx="7048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36C3CA-AB19-4949-A1FF-8412BB1ED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4543425"/>
            <a:ext cx="9048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defPPr>
            <a:lvl1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1pPr>
            <a:lvl2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2pPr>
            <a:lvl3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3pPr>
            <a:lvl4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4pPr>
            <a:lvl5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5pPr>
            <a:lvl6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6pPr>
            <a:lvl7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7pPr>
            <a:lvl8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8pPr>
            <a:lvl9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pPr>
            <a:r>
              <a:rPr sz="1950" b="0">
                <a:solidFill>
                  <a:srgbClr val="1E252B"/>
                </a:solidFill>
                <a:latin typeface="Tahoma"/>
                <a:ea typeface="Tahoma"/>
                <a:cs typeface="Tahoma"/>
              </a:rPr>
              <a:t>Verify six settled states, clear polarity and minimum pulse width.</a:t>
            </a:r>
          </a:p>
        </p:txBody>
      </p:sp>
    </p:spTree>
    <p:extLst>
      <p:ext uri="{BB962C8B-B14F-4D97-AF65-F5344CB8AC3E}">
        <p14:creationId xmlns:p14="http://schemas.microsoft.com/office/powerpoint/2010/main" val="1507591772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8E175C5-5DD5-4A47-8BE1-2853B832E8E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f84911742348f4"/>
          <a:srcRect xmlns:a="http://schemas.openxmlformats.org/drawingml/2006/main" l="0" t="23428" r="0" b="2342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915525" y="0"/>
            <a:ext cx="2276475" cy="1019175"/>
          </a:xfrm>
          <a:prstGeom xmlns:a="http://schemas.openxmlformats.org/drawingml/2006/main" prst="rect">
            <a:avLst/>
          </a:prstGeom>
        </p:spPr>
      </p:pic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5B769E-3380-438D-91D5-46515C238CD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a6cca062dd4cd7"/>
          <a:stretch xmlns:a="http://schemas.openxmlformats.org/drawingml/2006/main"/>
        </p:blipFill>
        <p:spPr>
          <a:xfrm xmlns:a="http://schemas.openxmlformats.org/drawingml/2006/main">
            <a:off x="8422741" y="228600"/>
            <a:ext cx="3137967" cy="5143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505D9F-187A-4DB1-8FF6-8444143C7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76225"/>
            <a:ext cx="7239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L18 · RIPPLE CIRCUIT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829C4A-6FCD-4365-A53E-92D2EDA71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47700"/>
            <a:ext cx="101917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defPPr>
            <a:lvl1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1pPr>
            <a:lvl2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2pPr>
            <a:lvl3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3pPr>
            <a:lvl4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4pPr>
            <a:lvl5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5pPr>
            <a:lvl6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6pPr>
            <a:lvl7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7pPr>
            <a:lvl8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8pPr>
            <a:lvl9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pPr>
            <a:r>
              <a:rPr sz="3225" b="1">
                <a:solidFill>
                  <a:srgbClr val="00263E"/>
                </a:solidFill>
                <a:latin typeface="Tahoma"/>
                <a:ea typeface="Tahoma"/>
                <a:cs typeface="Tahoma"/>
              </a:rPr>
              <a:t>Three JK stages and one clear gate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1D4DE0-E3F6-4216-A65F-ADCCBDBE8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14859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20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B65D75-0E1A-4E6A-B782-364EC8188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15050"/>
            <a:ext cx="1219200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D73C57-7C6A-4D02-9C03-A4ACB0EA9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43625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defPPr>
            <a:lvl1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1pPr>
            <a:lvl2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2pPr>
            <a:lvl3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3pPr>
            <a:lvl4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4pPr>
            <a:lvl5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5pPr>
            <a:lvl6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6pPr>
            <a:lvl7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7pPr>
            <a:lvl8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8pPr>
            <a:lvl9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A90F1C"/>
                </a:solidFill>
                <a:latin typeface="Tahoma"/>
                <a:ea typeface="Tahoma"/>
                <a:cs typeface="Tahoma"/>
              </a:rPr>
              <a:t>Textbook: Ch. 7 §7.3, pp. 447–450  |  Companion: lesson-04.html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17F10A-BF76-443F-8486-2BD2CDC59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6429375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defPPr>
            <a:lvl1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1pPr>
            <a:lvl2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2pPr>
            <a:lvl3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3pPr>
            <a:lvl4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4pPr>
            <a:lvl5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5pPr>
            <a:lvl6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6pPr>
            <a:lvl7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7pPr>
            <a:lvl8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8pPr>
            <a:lvl9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484342"/>
                </a:solidFill>
                <a:latin typeface="Tahoma"/>
                <a:ea typeface="Tahoma"/>
                <a:cs typeface="Tahoma"/>
              </a:rPr>
              <a:t>ELEC 335  |  L18  |  Week 10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DF4A73-8C62-4F48-B510-AC0B4E915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defPPr>
            <a:lvl1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1pPr>
            <a:lvl2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2pPr>
            <a:lvl3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3pPr>
            <a:lvl4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4pPr>
            <a:lvl5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5pPr>
            <a:lvl6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6pPr>
            <a:lvl7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7pPr>
            <a:lvl8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8pPr>
            <a:lvl9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484342"/>
                </a:solidFill>
                <a:latin typeface="Tahoma"/>
                <a:ea typeface="Tahoma"/>
                <a:cs typeface="Tahoma"/>
              </a:rPr>
              <a:t>17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4CB279-75F6-4036-8388-1B28302E1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67500"/>
            <a:ext cx="1219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20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EC9965-E21B-42FB-A74B-AAB0D254B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362200"/>
            <a:ext cx="80295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20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D6177D-0371-43C5-9F1F-CE204F315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362200"/>
            <a:ext cx="28575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20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F0C8B0-2C7C-46E3-93CC-9D5B4334C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362200"/>
            <a:ext cx="28575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20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C5B79B-4B02-440A-B276-32D752FD3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362200"/>
            <a:ext cx="28575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20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1D65DA-6BDA-4C43-88F2-D3A1293E3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5125" y="2362200"/>
            <a:ext cx="28575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20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CA909D-C69A-44F6-AF00-CB08E3C20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5105400"/>
            <a:ext cx="13239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20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C84CDEC-4D03-411D-A8D6-BE453C73A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000250"/>
            <a:ext cx="4000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425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ctr">
              <a:defRPr sz="1425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ctr">
              <a:defRPr sz="1425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ctr">
              <a:defRPr sz="1425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ctr">
              <a:defRPr sz="1425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ctr">
              <a:defRPr sz="1425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ctr">
              <a:defRPr sz="1425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ctr">
              <a:defRPr sz="1425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ctr">
              <a:defRPr sz="1425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ctr">
              <a:defRPr sz="1425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1425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CLRₙ to all clear pins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ED81B89-2037-4659-8CE5-A878FB5C7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3886200"/>
            <a:ext cx="28575" cy="752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DEF9B5A-DA1D-4690-9419-85D0FAB85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886200"/>
            <a:ext cx="28575" cy="752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A056A3E-2F95-4D7A-AF36-0F413E6B1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4619625"/>
            <a:ext cx="6953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09E3C69-FBF1-454D-8DDA-98CFCE00C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619625"/>
            <a:ext cx="14763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EA93BE7-323A-4709-AAED-BF5B146F2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19625"/>
            <a:ext cx="28575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46BC86B-8687-4A85-AF80-36B5007A5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619625"/>
            <a:ext cx="28575" cy="180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D377774-B21B-497A-B62A-36BF73647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771775"/>
            <a:ext cx="2200275" cy="1114425"/>
          </a:xfrm>
          <a:prstGeom xmlns:a="http://schemas.openxmlformats.org/drawingml/2006/main" prst="roundRect">
            <a:avLst>
              <a:gd name="adj" fmla="val 6838"/>
            </a:avLst>
          </a:prstGeom>
          <a:solidFill xmlns:a="http://schemas.openxmlformats.org/drawingml/2006/main">
            <a:srgbClr val="F3F1ED"/>
          </a:solidFill>
          <a:ln xmlns:a="http://schemas.openxmlformats.org/drawingml/2006/main" w="19050">
            <a:solidFill>
              <a:srgbClr val="00263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30D9FC0-97D2-4B9F-9C64-50AE75B4B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867025"/>
            <a:ext cx="1933575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20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defPPr>
            <a:lvl1pPr algn="ctr">
              <a:defRPr sz="20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1pPr>
            <a:lvl2pPr algn="ctr">
              <a:defRPr sz="20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2pPr>
            <a:lvl3pPr algn="ctr">
              <a:defRPr sz="20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3pPr>
            <a:lvl4pPr algn="ctr">
              <a:defRPr sz="20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4pPr>
            <a:lvl5pPr algn="ctr">
              <a:defRPr sz="20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5pPr>
            <a:lvl6pPr algn="ctr">
              <a:defRPr sz="20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6pPr>
            <a:lvl7pPr algn="ctr">
              <a:defRPr sz="20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7pPr>
            <a:lvl8pPr algn="ctr">
              <a:defRPr sz="20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8pPr>
            <a:lvl9pPr algn="ctr">
              <a:defRPr sz="20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00263E"/>
                </a:solidFill>
                <a:latin typeface="Tahoma"/>
                <a:ea typeface="Tahoma"/>
                <a:cs typeface="Tahoma"/>
              </a:rPr>
              <a:t>FF₀</a:t>
            </a:r>
          </a:p>
          <a:p xmlns:a="http://schemas.openxmlformats.org/drawingml/2006/main">
            <a:pPr algn="ctr">
              <a:defRPr sz="20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00263E"/>
                </a:solidFill>
                <a:latin typeface="Tahoma"/>
                <a:ea typeface="Tahoma"/>
                <a:cs typeface="Tahoma"/>
              </a:rPr>
              <a:t>J=K=1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34EF900-380A-4208-914E-1079DE303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771775"/>
            <a:ext cx="2200275" cy="1114425"/>
          </a:xfrm>
          <a:prstGeom xmlns:a="http://schemas.openxmlformats.org/drawingml/2006/main" prst="roundRect">
            <a:avLst>
              <a:gd name="adj" fmla="val 6838"/>
            </a:avLst>
          </a:prstGeom>
          <a:solidFill xmlns:a="http://schemas.openxmlformats.org/drawingml/2006/main">
            <a:srgbClr val="F3F1ED"/>
          </a:solidFill>
          <a:ln xmlns:a="http://schemas.openxmlformats.org/drawingml/2006/main" w="19050">
            <a:solidFill>
              <a:srgbClr val="00263E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17530C8-FE46-46A1-AD06-2882A239B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867025"/>
            <a:ext cx="1933575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20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defPPr>
            <a:lvl1pPr algn="ctr">
              <a:defRPr sz="20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1pPr>
            <a:lvl2pPr algn="ctr">
              <a:defRPr sz="20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2pPr>
            <a:lvl3pPr algn="ctr">
              <a:defRPr sz="20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3pPr>
            <a:lvl4pPr algn="ctr">
              <a:defRPr sz="20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4pPr>
            <a:lvl5pPr algn="ctr">
              <a:defRPr sz="20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5pPr>
            <a:lvl6pPr algn="ctr">
              <a:defRPr sz="20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6pPr>
            <a:lvl7pPr algn="ctr">
              <a:defRPr sz="20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7pPr>
            <a:lvl8pPr algn="ctr">
              <a:defRPr sz="20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8pPr>
            <a:lvl9pPr algn="ctr">
              <a:defRPr sz="20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00263E"/>
                </a:solidFill>
                <a:latin typeface="Tahoma"/>
                <a:ea typeface="Tahoma"/>
                <a:cs typeface="Tahoma"/>
              </a:rPr>
              <a:t>FF₁</a:t>
            </a:r>
          </a:p>
          <a:p xmlns:a="http://schemas.openxmlformats.org/drawingml/2006/main">
            <a:pPr algn="ctr">
              <a:defRPr sz="20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00263E"/>
                </a:solidFill>
                <a:latin typeface="Tahoma"/>
                <a:ea typeface="Tahoma"/>
                <a:cs typeface="Tahoma"/>
              </a:rPr>
              <a:t>J=K=1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1E0B635-5178-4873-8C2E-DFEDA3DE6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771775"/>
            <a:ext cx="2200275" cy="1114425"/>
          </a:xfrm>
          <a:prstGeom xmlns:a="http://schemas.openxmlformats.org/drawingml/2006/main" prst="roundRect">
            <a:avLst>
              <a:gd name="adj" fmla="val 6838"/>
            </a:avLst>
          </a:prstGeom>
          <a:solidFill xmlns:a="http://schemas.openxmlformats.org/drawingml/2006/main">
            <a:srgbClr val="F3F1ED"/>
          </a:solidFill>
          <a:ln xmlns:a="http://schemas.openxmlformats.org/drawingml/2006/main" w="19050">
            <a:solidFill>
              <a:srgbClr val="00263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4BAF4A8-FA0F-4869-AA06-E868D016A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2867025"/>
            <a:ext cx="1933575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20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defPPr>
            <a:lvl1pPr algn="ctr">
              <a:defRPr sz="20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1pPr>
            <a:lvl2pPr algn="ctr">
              <a:defRPr sz="20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2pPr>
            <a:lvl3pPr algn="ctr">
              <a:defRPr sz="20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3pPr>
            <a:lvl4pPr algn="ctr">
              <a:defRPr sz="20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4pPr>
            <a:lvl5pPr algn="ctr">
              <a:defRPr sz="20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5pPr>
            <a:lvl6pPr algn="ctr">
              <a:defRPr sz="20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6pPr>
            <a:lvl7pPr algn="ctr">
              <a:defRPr sz="20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7pPr>
            <a:lvl8pPr algn="ctr">
              <a:defRPr sz="20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8pPr>
            <a:lvl9pPr algn="ctr">
              <a:defRPr sz="20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00263E"/>
                </a:solidFill>
                <a:latin typeface="Tahoma"/>
                <a:ea typeface="Tahoma"/>
                <a:cs typeface="Tahoma"/>
              </a:rPr>
              <a:t>FF₂</a:t>
            </a:r>
          </a:p>
          <a:p xmlns:a="http://schemas.openxmlformats.org/drawingml/2006/main">
            <a:pPr algn="ctr">
              <a:defRPr sz="20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00263E"/>
                </a:solidFill>
                <a:latin typeface="Tahoma"/>
                <a:ea typeface="Tahoma"/>
                <a:cs typeface="Tahoma"/>
              </a:rPr>
              <a:t>J=K=1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44A8729-E894-4BEC-A3E0-04EB7C3F4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076575"/>
            <a:ext cx="857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l">
              <a:defRPr sz="1725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l">
              <a:defRPr sz="1725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l">
              <a:defRPr sz="1725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l">
              <a:defRPr sz="1725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l">
              <a:defRPr sz="1725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l">
              <a:defRPr sz="1725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l">
              <a:defRPr sz="1725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l">
              <a:defRPr sz="1725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l">
              <a:defRPr sz="1725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CLK ↓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DDA2F80-4CFA-4A34-B346-D66865BBE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2981325"/>
            <a:ext cx="10953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315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→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370FD8E-89CF-4A23-9D29-D4F77345F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981325"/>
            <a:ext cx="10953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315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→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BB0E073-02F8-4BF2-B807-47068CB13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00050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5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ctr">
              <a:defRPr sz="15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ctr">
              <a:defRPr sz="15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ctr">
              <a:defRPr sz="15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ctr">
              <a:defRPr sz="15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ctr">
              <a:defRPr sz="15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ctr">
              <a:defRPr sz="15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ctr">
              <a:defRPr sz="15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ctr">
              <a:defRPr sz="15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ctr">
              <a:defRPr sz="15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Q₀ clocks FF₁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E2B997D-6FA4-42C4-AB49-37DDBF66F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00050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5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ctr">
              <a:defRPr sz="15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ctr">
              <a:defRPr sz="15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ctr">
              <a:defRPr sz="15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ctr">
              <a:defRPr sz="15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ctr">
              <a:defRPr sz="15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ctr">
              <a:defRPr sz="15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ctr">
              <a:defRPr sz="15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ctr">
              <a:defRPr sz="15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ctr">
              <a:defRPr sz="15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Q₁ clocks FF₂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2176E6E-C450-48C5-BAB0-89B44B75C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225" y="4800600"/>
            <a:ext cx="6296025" cy="657225"/>
          </a:xfrm>
          <a:prstGeom xmlns:a="http://schemas.openxmlformats.org/drawingml/2006/main" prst="roundRect">
            <a:avLst>
              <a:gd name="adj" fmla="val 11594"/>
            </a:avLst>
          </a:prstGeom>
          <a:solidFill xmlns:a="http://schemas.openxmlformats.org/drawingml/2006/main">
            <a:srgbClr val="F3F1ED"/>
          </a:solidFill>
          <a:ln xmlns:a="http://schemas.openxmlformats.org/drawingml/2006/main" w="19050">
            <a:solidFill>
              <a:srgbClr val="D3202E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BBB55A6-7EF3-4E01-B6D3-20F6CF048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4895850"/>
            <a:ext cx="60293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20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defPPr>
            <a:lvl1pPr algn="ctr">
              <a:defRPr sz="20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1pPr>
            <a:lvl2pPr algn="ctr">
              <a:defRPr sz="20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2pPr>
            <a:lvl3pPr algn="ctr">
              <a:defRPr sz="20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3pPr>
            <a:lvl4pPr algn="ctr">
              <a:defRPr sz="20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4pPr>
            <a:lvl5pPr algn="ctr">
              <a:defRPr sz="20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5pPr>
            <a:lvl6pPr algn="ctr">
              <a:defRPr sz="20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6pPr>
            <a:lvl7pPr algn="ctr">
              <a:defRPr sz="20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7pPr>
            <a:lvl8pPr algn="ctr">
              <a:defRPr sz="20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8pPr>
            <a:lvl9pPr algn="ctr">
              <a:defRPr sz="20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00263E"/>
                </a:solidFill>
                <a:latin typeface="Tahoma"/>
                <a:ea typeface="Tahoma"/>
                <a:cs typeface="Tahoma"/>
              </a:rPr>
              <a:t>NAND(Q₂,Q₁) → CLRₙ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5B9D855-799A-40F2-90E2-D6D1EFE90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352925"/>
            <a:ext cx="4667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defPPr>
            <a:lvl1pPr algn="l">
              <a:defRPr sz="127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1pPr>
            <a:lvl2pPr algn="l">
              <a:defRPr sz="127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2pPr>
            <a:lvl3pPr algn="l">
              <a:defRPr sz="127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3pPr>
            <a:lvl4pPr algn="l">
              <a:defRPr sz="127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4pPr>
            <a:lvl5pPr algn="l">
              <a:defRPr sz="127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5pPr>
            <a:lvl6pPr algn="l">
              <a:defRPr sz="127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6pPr>
            <a:lvl7pPr algn="l">
              <a:defRPr sz="127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7pPr>
            <a:lvl8pPr algn="l">
              <a:defRPr sz="127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8pPr>
            <a:lvl9pPr algn="l">
              <a:defRPr sz="127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00263E"/>
                </a:solidFill>
                <a:latin typeface="Tahoma"/>
                <a:ea typeface="Tahoma"/>
                <a:cs typeface="Tahoma"/>
              </a:rPr>
              <a:t>Q₁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132E2A8-4220-447A-9D65-2103D187A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4333875"/>
            <a:ext cx="4667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defPPr>
            <a:lvl1pPr algn="l">
              <a:defRPr sz="127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1pPr>
            <a:lvl2pPr algn="l">
              <a:defRPr sz="127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2pPr>
            <a:lvl3pPr algn="l">
              <a:defRPr sz="127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3pPr>
            <a:lvl4pPr algn="l">
              <a:defRPr sz="127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4pPr>
            <a:lvl5pPr algn="l">
              <a:defRPr sz="127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5pPr>
            <a:lvl6pPr algn="l">
              <a:defRPr sz="127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6pPr>
            <a:lvl7pPr algn="l">
              <a:defRPr sz="127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7pPr>
            <a:lvl8pPr algn="l">
              <a:defRPr sz="127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8pPr>
            <a:lvl9pPr algn="l">
              <a:defRPr sz="127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00263E"/>
                </a:solidFill>
                <a:latin typeface="Tahoma"/>
                <a:ea typeface="Tahoma"/>
                <a:cs typeface="Tahoma"/>
              </a:rPr>
              <a:t>Q₂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415CCE2-7D57-4D61-AA0A-9C07A0062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1225" y="5572125"/>
            <a:ext cx="77724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650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defPPr>
            <a:lvl1pPr algn="ctr">
              <a:defRPr sz="1650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1pPr>
            <a:lvl2pPr algn="ctr">
              <a:defRPr sz="1650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2pPr>
            <a:lvl3pPr algn="ctr">
              <a:defRPr sz="1650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3pPr>
            <a:lvl4pPr algn="ctr">
              <a:defRPr sz="1650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4pPr>
            <a:lvl5pPr algn="ctr">
              <a:defRPr sz="1650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5pPr>
            <a:lvl6pPr algn="ctr">
              <a:defRPr sz="1650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6pPr>
            <a:lvl7pPr algn="ctr">
              <a:defRPr sz="1650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7pPr>
            <a:lvl8pPr algn="ctr">
              <a:defRPr sz="1650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8pPr>
            <a:lvl9pPr algn="ctr">
              <a:defRPr sz="1650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A90F1C"/>
                </a:solidFill>
                <a:latin typeface="Tahoma"/>
                <a:ea typeface="Tahoma"/>
                <a:cs typeface="Tahoma"/>
              </a:rPr>
              <a:t>CLRₙ reaches all three asynchronous clear pins.</a:t>
            </a:r>
          </a:p>
        </p:txBody>
      </p:sp>
    </p:spTree>
    <p:extLst>
      <p:ext uri="{BB962C8B-B14F-4D97-AF65-F5344CB8AC3E}">
        <p14:creationId xmlns:p14="http://schemas.microsoft.com/office/powerpoint/2010/main" val="4140545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9DF26F8-71CD-4868-811E-C390B8928AA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02deb62ed5484e"/>
          <a:srcRect xmlns:a="http://schemas.openxmlformats.org/drawingml/2006/main" l="0" t="23428" r="0" b="2342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915525" y="0"/>
            <a:ext cx="2276475" cy="1019175"/>
          </a:xfrm>
          <a:prstGeom xmlns:a="http://schemas.openxmlformats.org/drawingml/2006/main" prst="rect">
            <a:avLst/>
          </a:prstGeom>
        </p:spPr>
      </p:pic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EA7005-F873-47A2-8663-A02C76B4FED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2e97c32638484a"/>
          <a:stretch xmlns:a="http://schemas.openxmlformats.org/drawingml/2006/main"/>
        </p:blipFill>
        <p:spPr>
          <a:xfrm xmlns:a="http://schemas.openxmlformats.org/drawingml/2006/main">
            <a:off x="8422741" y="228600"/>
            <a:ext cx="3137967" cy="5143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50D2F1-8D3F-4C24-859D-17769DAC1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76225"/>
            <a:ext cx="7239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L18 · STATE CYCLE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1370CA-BA77-468D-959D-62649947B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47700"/>
            <a:ext cx="101917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defPPr>
            <a:lvl1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1pPr>
            <a:lvl2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2pPr>
            <a:lvl3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3pPr>
            <a:lvl4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4pPr>
            <a:lvl5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5pPr>
            <a:lvl6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6pPr>
            <a:lvl7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7pPr>
            <a:lvl8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8pPr>
            <a:lvl9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pPr>
            <a:r>
              <a:rPr sz="3225" b="1">
                <a:solidFill>
                  <a:srgbClr val="00263E"/>
                </a:solidFill>
                <a:latin typeface="Tahoma"/>
                <a:ea typeface="Tahoma"/>
                <a:cs typeface="Tahoma"/>
              </a:rPr>
              <a:t>Six settled counts, then reset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4A34F9-16AB-40B8-A482-33172D63F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14859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20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02270E-8751-4920-93EE-99C33DB06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15050"/>
            <a:ext cx="1219200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4CD45E-FB0C-46C7-9FF1-F7A7B39BA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43625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defPPr>
            <a:lvl1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1pPr>
            <a:lvl2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2pPr>
            <a:lvl3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3pPr>
            <a:lvl4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4pPr>
            <a:lvl5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5pPr>
            <a:lvl6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6pPr>
            <a:lvl7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7pPr>
            <a:lvl8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8pPr>
            <a:lvl9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A90F1C"/>
                </a:solidFill>
                <a:latin typeface="Tahoma"/>
                <a:ea typeface="Tahoma"/>
                <a:cs typeface="Tahoma"/>
              </a:rPr>
              <a:t>Textbook: Ch. 7 §7.3, pp. 447–450  |  Companion: lesson-04.html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4C49AB-1EB5-455F-BDEA-F3AD3E650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6429375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defPPr>
            <a:lvl1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1pPr>
            <a:lvl2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2pPr>
            <a:lvl3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3pPr>
            <a:lvl4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4pPr>
            <a:lvl5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5pPr>
            <a:lvl6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6pPr>
            <a:lvl7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7pPr>
            <a:lvl8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8pPr>
            <a:lvl9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484342"/>
                </a:solidFill>
                <a:latin typeface="Tahoma"/>
                <a:ea typeface="Tahoma"/>
                <a:cs typeface="Tahoma"/>
              </a:rPr>
              <a:t>ELEC 335  |  L18  |  Week 10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6B49A0-5097-40BE-9F4C-A68793128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defPPr>
            <a:lvl1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1pPr>
            <a:lvl2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2pPr>
            <a:lvl3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3pPr>
            <a:lvl4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4pPr>
            <a:lvl5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5pPr>
            <a:lvl6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6pPr>
            <a:lvl7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7pPr>
            <a:lvl8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8pPr>
            <a:lvl9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484342"/>
                </a:solidFill>
                <a:latin typeface="Tahoma"/>
                <a:ea typeface="Tahoma"/>
                <a:cs typeface="Tahoma"/>
              </a:rPr>
              <a:t>18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D7A9EF-CE31-4A2C-9420-08165119A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67500"/>
            <a:ext cx="1219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20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394E56-51FF-4381-B58A-9DB69BD48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1209675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3F1ED"/>
          </a:solidFill>
          <a:ln xmlns:a="http://schemas.openxmlformats.org/drawingml/2006/main" w="19050">
            <a:solidFill>
              <a:srgbClr val="00263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C3FE9D-2A19-4A88-8B76-87B37A232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19400"/>
            <a:ext cx="9429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210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defPPr>
            <a:lvl1pPr algn="ctr">
              <a:defRPr sz="210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1pPr>
            <a:lvl2pPr algn="ctr">
              <a:defRPr sz="210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2pPr>
            <a:lvl3pPr algn="ctr">
              <a:defRPr sz="210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3pPr>
            <a:lvl4pPr algn="ctr">
              <a:defRPr sz="210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4pPr>
            <a:lvl5pPr algn="ctr">
              <a:defRPr sz="210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5pPr>
            <a:lvl6pPr algn="ctr">
              <a:defRPr sz="210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6pPr>
            <a:lvl7pPr algn="ctr">
              <a:defRPr sz="210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7pPr>
            <a:lvl8pPr algn="ctr">
              <a:defRPr sz="210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8pPr>
            <a:lvl9pPr algn="ctr">
              <a:defRPr sz="210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ctr">
              <a:defRPr sz="210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00263E"/>
                </a:solidFill>
                <a:latin typeface="Tahoma"/>
                <a:ea typeface="Tahoma"/>
                <a:cs typeface="Tahoma"/>
              </a:rPr>
              <a:t>000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8C99BA-167C-4282-A2E0-16AF28E28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2790825"/>
            <a:ext cx="609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315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A44983-B276-4F24-A95B-107A3FCF1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724150"/>
            <a:ext cx="1209675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3F1ED"/>
          </a:solidFill>
          <a:ln xmlns:a="http://schemas.openxmlformats.org/drawingml/2006/main" w="19050">
            <a:solidFill>
              <a:srgbClr val="00263E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937CB9-F6B2-4C34-A2E5-93E97940B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819400"/>
            <a:ext cx="9429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210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defPPr>
            <a:lvl1pPr algn="ctr">
              <a:defRPr sz="210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1pPr>
            <a:lvl2pPr algn="ctr">
              <a:defRPr sz="210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2pPr>
            <a:lvl3pPr algn="ctr">
              <a:defRPr sz="210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3pPr>
            <a:lvl4pPr algn="ctr">
              <a:defRPr sz="210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4pPr>
            <a:lvl5pPr algn="ctr">
              <a:defRPr sz="210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5pPr>
            <a:lvl6pPr algn="ctr">
              <a:defRPr sz="210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6pPr>
            <a:lvl7pPr algn="ctr">
              <a:defRPr sz="210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7pPr>
            <a:lvl8pPr algn="ctr">
              <a:defRPr sz="210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8pPr>
            <a:lvl9pPr algn="ctr">
              <a:defRPr sz="210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ctr">
              <a:defRPr sz="210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00263E"/>
                </a:solidFill>
                <a:latin typeface="Tahoma"/>
                <a:ea typeface="Tahoma"/>
                <a:cs typeface="Tahoma"/>
              </a:rPr>
              <a:t>001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6A427B-E207-40B5-B0C8-E6966AA9B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2790825"/>
            <a:ext cx="609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315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668665-88E4-49A5-848E-B0006EA8E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24150"/>
            <a:ext cx="1209675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3F1ED"/>
          </a:solidFill>
          <a:ln xmlns:a="http://schemas.openxmlformats.org/drawingml/2006/main" w="19050">
            <a:solidFill>
              <a:srgbClr val="00263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1FA9DE-17C8-43F3-8E9B-EB516088C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819400"/>
            <a:ext cx="9429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210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defPPr>
            <a:lvl1pPr algn="ctr">
              <a:defRPr sz="210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1pPr>
            <a:lvl2pPr algn="ctr">
              <a:defRPr sz="210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2pPr>
            <a:lvl3pPr algn="ctr">
              <a:defRPr sz="210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3pPr>
            <a:lvl4pPr algn="ctr">
              <a:defRPr sz="210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4pPr>
            <a:lvl5pPr algn="ctr">
              <a:defRPr sz="210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5pPr>
            <a:lvl6pPr algn="ctr">
              <a:defRPr sz="210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6pPr>
            <a:lvl7pPr algn="ctr">
              <a:defRPr sz="210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7pPr>
            <a:lvl8pPr algn="ctr">
              <a:defRPr sz="210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8pPr>
            <a:lvl9pPr algn="ctr">
              <a:defRPr sz="210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ctr">
              <a:defRPr sz="210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00263E"/>
                </a:solidFill>
                <a:latin typeface="Tahoma"/>
                <a:ea typeface="Tahoma"/>
                <a:cs typeface="Tahoma"/>
              </a:rPr>
              <a:t>010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8B36825-4307-40DD-8C0B-96BD4C49F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2790825"/>
            <a:ext cx="609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315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9ED8E8D-A47E-4501-9CAA-5E0254E88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724150"/>
            <a:ext cx="1209675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3F1ED"/>
          </a:solidFill>
          <a:ln xmlns:a="http://schemas.openxmlformats.org/drawingml/2006/main" w="19050">
            <a:solidFill>
              <a:srgbClr val="00263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CCCE56B-7A1A-4400-91D6-A32E1C3A2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819400"/>
            <a:ext cx="9429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210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defPPr>
            <a:lvl1pPr algn="ctr">
              <a:defRPr sz="210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1pPr>
            <a:lvl2pPr algn="ctr">
              <a:defRPr sz="210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2pPr>
            <a:lvl3pPr algn="ctr">
              <a:defRPr sz="210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3pPr>
            <a:lvl4pPr algn="ctr">
              <a:defRPr sz="210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4pPr>
            <a:lvl5pPr algn="ctr">
              <a:defRPr sz="210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5pPr>
            <a:lvl6pPr algn="ctr">
              <a:defRPr sz="210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6pPr>
            <a:lvl7pPr algn="ctr">
              <a:defRPr sz="210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7pPr>
            <a:lvl8pPr algn="ctr">
              <a:defRPr sz="210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8pPr>
            <a:lvl9pPr algn="ctr">
              <a:defRPr sz="210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ctr">
              <a:defRPr sz="210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00263E"/>
                </a:solidFill>
                <a:latin typeface="Tahoma"/>
                <a:ea typeface="Tahoma"/>
                <a:cs typeface="Tahoma"/>
              </a:rPr>
              <a:t>011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DC3DAB5-1CB5-4832-B989-6CF2C8454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2790825"/>
            <a:ext cx="609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315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15C3F7C-38D3-4E8C-9C93-E89A67A9B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724150"/>
            <a:ext cx="1209675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3F1ED"/>
          </a:solidFill>
          <a:ln xmlns:a="http://schemas.openxmlformats.org/drawingml/2006/main" w="19050">
            <a:solidFill>
              <a:srgbClr val="00263E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2299C7B-5A4C-493C-900D-6242A7CE1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819400"/>
            <a:ext cx="9429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210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defPPr>
            <a:lvl1pPr algn="ctr">
              <a:defRPr sz="210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1pPr>
            <a:lvl2pPr algn="ctr">
              <a:defRPr sz="210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2pPr>
            <a:lvl3pPr algn="ctr">
              <a:defRPr sz="210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3pPr>
            <a:lvl4pPr algn="ctr">
              <a:defRPr sz="210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4pPr>
            <a:lvl5pPr algn="ctr">
              <a:defRPr sz="210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5pPr>
            <a:lvl6pPr algn="ctr">
              <a:defRPr sz="210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6pPr>
            <a:lvl7pPr algn="ctr">
              <a:defRPr sz="210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7pPr>
            <a:lvl8pPr algn="ctr">
              <a:defRPr sz="210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8pPr>
            <a:lvl9pPr algn="ctr">
              <a:defRPr sz="210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ctr">
              <a:defRPr sz="210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00263E"/>
                </a:solidFill>
                <a:latin typeface="Tahoma"/>
                <a:ea typeface="Tahoma"/>
                <a:cs typeface="Tahoma"/>
              </a:rPr>
              <a:t>100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3122B2D-A158-442F-A177-B3881D759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2790825"/>
            <a:ext cx="609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ctr">
              <a:defRPr sz="31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315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→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E68FB50-E834-41D3-BF03-74D73D375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724150"/>
            <a:ext cx="1209675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3F1ED"/>
          </a:solidFill>
          <a:ln xmlns:a="http://schemas.openxmlformats.org/drawingml/2006/main" w="19050">
            <a:solidFill>
              <a:srgbClr val="D3202E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2A6427B-6266-4816-BF06-6EBF41529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2819400"/>
            <a:ext cx="9429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210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defPPr>
            <a:lvl1pPr algn="ctr">
              <a:defRPr sz="210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1pPr>
            <a:lvl2pPr algn="ctr">
              <a:defRPr sz="210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2pPr>
            <a:lvl3pPr algn="ctr">
              <a:defRPr sz="210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3pPr>
            <a:lvl4pPr algn="ctr">
              <a:defRPr sz="210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4pPr>
            <a:lvl5pPr algn="ctr">
              <a:defRPr sz="210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5pPr>
            <a:lvl6pPr algn="ctr">
              <a:defRPr sz="210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6pPr>
            <a:lvl7pPr algn="ctr">
              <a:defRPr sz="210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7pPr>
            <a:lvl8pPr algn="ctr">
              <a:defRPr sz="210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8pPr>
            <a:lvl9pPr algn="ctr">
              <a:defRPr sz="210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ctr">
              <a:defRPr sz="2100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00263E"/>
                </a:solidFill>
                <a:latin typeface="Tahoma"/>
                <a:ea typeface="Tahoma"/>
                <a:cs typeface="Tahoma"/>
              </a:rPr>
              <a:t>101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746BB77-9445-44FA-8EC6-50A93C538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4295775"/>
            <a:ext cx="83724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ctr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ctr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ctr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ctr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ctr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ctr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ctr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ctr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ctr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ctr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Next natural code: 110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ACB42C5-F55E-4528-A8F5-204304435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76800"/>
            <a:ext cx="96964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875" b="1">
                <a:solidFill>
                  <a:srgbClr val="1E252B"/>
                </a:solidFill>
                <a:latin typeface="Tahoma"/>
                <a:ea typeface="Tahoma"/>
                <a:cs typeface="Tahoma"/>
              </a:defRPr>
            </a:defPPr>
            <a:lvl1pPr algn="ctr">
              <a:defRPr sz="1875" b="1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1pPr>
            <a:lvl2pPr algn="ctr">
              <a:defRPr sz="1875" b="1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2pPr>
            <a:lvl3pPr algn="ctr">
              <a:defRPr sz="1875" b="1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3pPr>
            <a:lvl4pPr algn="ctr">
              <a:defRPr sz="1875" b="1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4pPr>
            <a:lvl5pPr algn="ctr">
              <a:defRPr sz="1875" b="1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5pPr>
            <a:lvl6pPr algn="ctr">
              <a:defRPr sz="1875" b="1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6pPr>
            <a:lvl7pPr algn="ctr">
              <a:defRPr sz="1875" b="1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7pPr>
            <a:lvl8pPr algn="ctr">
              <a:defRPr sz="1875" b="1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8pPr>
            <a:lvl9pPr algn="ctr">
              <a:defRPr sz="1875" b="1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1E252B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E252B"/>
                </a:solidFill>
                <a:latin typeface="Tahoma"/>
                <a:ea typeface="Tahoma"/>
                <a:cs typeface="Tahoma"/>
              </a:rPr>
              <a:t>At 110, CLRₙ falls and all Q bits clear to 000. Code 110 is transient.</a:t>
            </a:r>
          </a:p>
        </p:txBody>
      </p:sp>
    </p:spTree>
    <p:extLst>
      <p:ext uri="{BB962C8B-B14F-4D97-AF65-F5344CB8AC3E}">
        <p14:creationId xmlns:p14="http://schemas.microsoft.com/office/powerpoint/2010/main" val="1251714081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003C1D9-BB11-4EEA-A4D5-05FDF5B2088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a862aaed7540d5"/>
          <a:srcRect xmlns:a="http://schemas.openxmlformats.org/drawingml/2006/main" l="0" t="23428" r="0" b="2342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915525" y="0"/>
            <a:ext cx="2276475" cy="1019175"/>
          </a:xfrm>
          <a:prstGeom xmlns:a="http://schemas.openxmlformats.org/drawingml/2006/main" prst="rect">
            <a:avLst/>
          </a:prstGeom>
        </p:spPr>
      </p:pic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5756A4-C89E-47FA-B28D-931EC14586A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287a6a8e244f15"/>
          <a:stretch xmlns:a="http://schemas.openxmlformats.org/drawingml/2006/main"/>
        </p:blipFill>
        <p:spPr>
          <a:xfrm xmlns:a="http://schemas.openxmlformats.org/drawingml/2006/main">
            <a:off x="8422741" y="228600"/>
            <a:ext cx="3137967" cy="5143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C4E093-41A7-4106-A388-FD9427ECA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76225"/>
            <a:ext cx="7239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L18 · WORKED TIMING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D6CF93-61CD-44D8-8F37-8EBEC8BBB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47700"/>
            <a:ext cx="101917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defPPr>
            <a:lvl1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1pPr>
            <a:lvl2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2pPr>
            <a:lvl3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3pPr>
            <a:lvl4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4pPr>
            <a:lvl5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5pPr>
            <a:lvl6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6pPr>
            <a:lvl7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7pPr>
            <a:lvl8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8pPr>
            <a:lvl9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pPr>
            <a:r>
              <a:rPr sz="3225" b="1">
                <a:solidFill>
                  <a:srgbClr val="00263E"/>
                </a:solidFill>
                <a:latin typeface="Tahoma"/>
                <a:ea typeface="Tahoma"/>
                <a:cs typeface="Tahoma"/>
              </a:rPr>
              <a:t>Ripple transition: 011 to 100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1070CD-18D3-469D-9323-B2E6D13D3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14859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20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C48544-ECDC-4A54-A3A1-4ABF9CABC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15050"/>
            <a:ext cx="1219200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F17118-6F5E-431D-A2D3-DD869DE2B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43625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defPPr>
            <a:lvl1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1pPr>
            <a:lvl2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2pPr>
            <a:lvl3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3pPr>
            <a:lvl4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4pPr>
            <a:lvl5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5pPr>
            <a:lvl6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6pPr>
            <a:lvl7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7pPr>
            <a:lvl8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8pPr>
            <a:lvl9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A90F1C"/>
                </a:solidFill>
                <a:latin typeface="Tahoma"/>
                <a:ea typeface="Tahoma"/>
                <a:cs typeface="Tahoma"/>
              </a:rPr>
              <a:t>Textbook: Ch. 7 §7.3, pp. 447–450  |  Companion: lesson-04.html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BB864C-DD8A-4DCD-989C-A0D67B505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6429375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defPPr>
            <a:lvl1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1pPr>
            <a:lvl2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2pPr>
            <a:lvl3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3pPr>
            <a:lvl4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4pPr>
            <a:lvl5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5pPr>
            <a:lvl6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6pPr>
            <a:lvl7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7pPr>
            <a:lvl8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8pPr>
            <a:lvl9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484342"/>
                </a:solidFill>
                <a:latin typeface="Tahoma"/>
                <a:ea typeface="Tahoma"/>
                <a:cs typeface="Tahoma"/>
              </a:rPr>
              <a:t>ELEC 335  |  L18  |  Week 10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5D39A3-D34A-4179-AFB8-661D75D6F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defPPr>
            <a:lvl1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1pPr>
            <a:lvl2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2pPr>
            <a:lvl3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3pPr>
            <a:lvl4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4pPr>
            <a:lvl5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5pPr>
            <a:lvl6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6pPr>
            <a:lvl7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7pPr>
            <a:lvl8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8pPr>
            <a:lvl9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484342"/>
                </a:solidFill>
                <a:latin typeface="Tahoma"/>
                <a:ea typeface="Tahoma"/>
                <a:cs typeface="Tahoma"/>
              </a:rPr>
              <a:t>19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72D5ED-6A5E-4DA4-AA52-FFE124BC6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67500"/>
            <a:ext cx="1219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20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6090E8-EA3F-4F2D-82F3-31C5EF7BD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2009775"/>
            <a:ext cx="19050" cy="2962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9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845F3C-8AF0-4BE3-922E-D298EC3BE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67640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settled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515455-1999-4497-8050-E89FCE5F2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09775"/>
            <a:ext cx="19050" cy="2962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9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1F7B6D-41C4-43D5-9DC6-9E01B7AF3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167640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CLK 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D0F6477-152E-4ECF-8DDF-71CF4097A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2009775"/>
            <a:ext cx="19050" cy="2962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9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4F95B1-BFC8-436C-B9FA-2A572BB67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67640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Q₀ ↓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F9A733-010F-43FE-BADF-8C9FB6E01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009775"/>
            <a:ext cx="19050" cy="2962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9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74FA67-67FD-4F4B-89B2-6A9AE1E88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167640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Q₁ ↓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B927559-DFBD-4DD7-8AB4-DA6E12707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114550"/>
            <a:ext cx="1009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defPPr>
            <a:lvl1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1pPr>
            <a:lvl2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2pPr>
            <a:lvl3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3pPr>
            <a:lvl4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4pPr>
            <a:lvl5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5pPr>
            <a:lvl6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6pPr>
            <a:lvl7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7pPr>
            <a:lvl8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8pPr>
            <a:lvl9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00263E"/>
                </a:solidFill>
                <a:latin typeface="Tahoma"/>
                <a:ea typeface="Tahoma"/>
                <a:cs typeface="Tahoma"/>
              </a:rPr>
              <a:t>Q₂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3BC825C-3F0C-45BE-A942-3F49CA0DD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2457450"/>
            <a:ext cx="19907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0C74379-F0CA-4B5C-93A7-20EE9AAB6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19907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D1ED49E-A129-4DA1-8432-EA50A86A5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2457450"/>
            <a:ext cx="19907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A315D8A-8044-43A6-90E2-FC83AE05B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133600"/>
            <a:ext cx="19907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0E2494F-6A4C-4ECB-A1BF-309B38498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133600"/>
            <a:ext cx="285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F273AB1-6742-4E4A-BC8C-0C7CF44F2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819400"/>
            <a:ext cx="1009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defPPr>
            <a:lvl1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1pPr>
            <a:lvl2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2pPr>
            <a:lvl3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3pPr>
            <a:lvl4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4pPr>
            <a:lvl5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5pPr>
            <a:lvl6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6pPr>
            <a:lvl7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7pPr>
            <a:lvl8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8pPr>
            <a:lvl9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00263E"/>
                </a:solidFill>
                <a:latin typeface="Tahoma"/>
                <a:ea typeface="Tahoma"/>
                <a:cs typeface="Tahoma"/>
              </a:rPr>
              <a:t>Q₁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160699E-BDE2-4FA3-9E2C-640C202BD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2838450"/>
            <a:ext cx="19907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DA408F6-E760-4F26-9F38-9EA83674E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838450"/>
            <a:ext cx="19907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671740B-94C9-478D-9028-0B64F9381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3162300"/>
            <a:ext cx="19907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A93D8AE-FB44-49F3-B75A-28EE78C1D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2838450"/>
            <a:ext cx="285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782B603-3A85-4EA6-8854-735DD421B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162300"/>
            <a:ext cx="19907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180D141-F14F-4C29-9DDB-9103ED785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524250"/>
            <a:ext cx="1009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defPPr>
            <a:lvl1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1pPr>
            <a:lvl2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2pPr>
            <a:lvl3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3pPr>
            <a:lvl4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4pPr>
            <a:lvl5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5pPr>
            <a:lvl6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6pPr>
            <a:lvl7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7pPr>
            <a:lvl8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8pPr>
            <a:lvl9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00263E"/>
                </a:solidFill>
                <a:latin typeface="Tahoma"/>
                <a:ea typeface="Tahoma"/>
                <a:cs typeface="Tahoma"/>
              </a:rPr>
              <a:t>Q₀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A35A76F-20D9-4119-91DD-24611B47D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3543300"/>
            <a:ext cx="19907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0B68D20-AF32-45DF-84DA-7D87D1E54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867150"/>
            <a:ext cx="19907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DF111F6-706F-48C3-9E55-CDC43E44F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543300"/>
            <a:ext cx="285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B75E5D1-3E63-474B-B11F-EE8225B38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3867150"/>
            <a:ext cx="19907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D3FC7BA-71A6-455E-B42E-0586B087C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867150"/>
            <a:ext cx="19907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46CDF5F-24EC-43EC-8729-5546A2DA3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229100"/>
            <a:ext cx="1009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defPPr>
            <a:lvl1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1pPr>
            <a:lvl2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2pPr>
            <a:lvl3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3pPr>
            <a:lvl4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4pPr>
            <a:lvl5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5pPr>
            <a:lvl6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6pPr>
            <a:lvl7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7pPr>
            <a:lvl8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8pPr>
            <a:lvl9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00263E"/>
                </a:solidFill>
                <a:latin typeface="Tahoma"/>
                <a:ea typeface="Tahoma"/>
                <a:cs typeface="Tahoma"/>
              </a:rPr>
              <a:t>CLRₙ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565AEB6-5475-40A9-A2CD-458F1A597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4248150"/>
            <a:ext cx="19907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25D3BF5-AA2B-4019-9816-76066889D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248150"/>
            <a:ext cx="19907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C29E89B-4E68-4489-8863-1C047F709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4248150"/>
            <a:ext cx="19907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725F079-9521-423A-BFBC-181485102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248150"/>
            <a:ext cx="19907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1D8038E-140E-4605-B78A-C9FC9984C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925" y="5229225"/>
            <a:ext cx="88201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21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defPPr>
            <a:lvl1pPr algn="ctr">
              <a:defRPr sz="21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1pPr>
            <a:lvl2pPr algn="ctr">
              <a:defRPr sz="21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2pPr>
            <a:lvl3pPr algn="ctr">
              <a:defRPr sz="21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3pPr>
            <a:lvl4pPr algn="ctr">
              <a:defRPr sz="21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4pPr>
            <a:lvl5pPr algn="ctr">
              <a:defRPr sz="21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5pPr>
            <a:lvl6pPr algn="ctr">
              <a:defRPr sz="21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6pPr>
            <a:lvl7pPr algn="ctr">
              <a:defRPr sz="21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7pPr>
            <a:lvl8pPr algn="ctr">
              <a:defRPr sz="21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8pPr>
            <a:lvl9pPr algn="ctr">
              <a:defRPr sz="21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ctr">
              <a:defRPr sz="21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pPr>
            <a:r>
              <a:rPr sz="2175" b="1">
                <a:solidFill>
                  <a:srgbClr val="A90F1C"/>
                </a:solidFill>
                <a:latin typeface="Tahoma"/>
                <a:ea typeface="Tahoma"/>
                <a:cs typeface="Tahoma"/>
              </a:rPr>
              <a:t>011 → 010 → 000 → 100</a:t>
            </a:r>
          </a:p>
        </p:txBody>
      </p:sp>
    </p:spTree>
    <p:extLst>
      <p:ext uri="{BB962C8B-B14F-4D97-AF65-F5344CB8AC3E}">
        <p14:creationId xmlns:p14="http://schemas.microsoft.com/office/powerpoint/2010/main" val="148536912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890A9D1-CC3F-4B42-8150-682E9A8F568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3ebd95da114e49"/>
          <a:srcRect xmlns:a="http://schemas.openxmlformats.org/drawingml/2006/main" l="0" t="23428" r="0" b="2342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915525" y="0"/>
            <a:ext cx="2276475" cy="1019175"/>
          </a:xfrm>
          <a:prstGeom xmlns:a="http://schemas.openxmlformats.org/drawingml/2006/main" prst="rect">
            <a:avLst/>
          </a:prstGeom>
        </p:spPr>
      </p:pic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0F2D3D-7F4F-416D-9C69-867EFD67620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7abef41fdc4898"/>
          <a:stretch xmlns:a="http://schemas.openxmlformats.org/drawingml/2006/main"/>
        </p:blipFill>
        <p:spPr>
          <a:xfrm xmlns:a="http://schemas.openxmlformats.org/drawingml/2006/main">
            <a:off x="8422741" y="228600"/>
            <a:ext cx="3137967" cy="5143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949361-E08A-42F9-A3A8-1226FC6BC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76225"/>
            <a:ext cx="7239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L18 · WORKED TIMING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405A89-A2B6-495D-BE34-AC69638C4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47700"/>
            <a:ext cx="101917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defPPr>
            <a:lvl1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1pPr>
            <a:lvl2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2pPr>
            <a:lvl3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3pPr>
            <a:lvl4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4pPr>
            <a:lvl5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5pPr>
            <a:lvl6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6pPr>
            <a:lvl7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7pPr>
            <a:lvl8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8pPr>
            <a:lvl9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pPr>
            <a:r>
              <a:rPr sz="3225" b="1">
                <a:solidFill>
                  <a:srgbClr val="00263E"/>
                </a:solidFill>
                <a:latin typeface="Tahoma"/>
                <a:ea typeface="Tahoma"/>
                <a:cs typeface="Tahoma"/>
              </a:rPr>
              <a:t>MOD-6 wrap: 101 to 000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5BA3DA-B81C-48B6-A0CC-11354CF1C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14859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20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2755FC-B316-487D-832D-B28621229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15050"/>
            <a:ext cx="1219200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1683BB-E0DB-4FB4-868D-B68579822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43625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defPPr>
            <a:lvl1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1pPr>
            <a:lvl2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2pPr>
            <a:lvl3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3pPr>
            <a:lvl4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4pPr>
            <a:lvl5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5pPr>
            <a:lvl6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6pPr>
            <a:lvl7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7pPr>
            <a:lvl8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8pPr>
            <a:lvl9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A90F1C"/>
                </a:solidFill>
                <a:latin typeface="Tahoma"/>
                <a:ea typeface="Tahoma"/>
                <a:cs typeface="Tahoma"/>
              </a:rPr>
              <a:t>Textbook: Ch. 7 §7.3, pp. 447–450  |  Companion: lesson-04.html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BB147F-9C5A-4EC7-8CC4-EA2B1F682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6429375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defPPr>
            <a:lvl1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1pPr>
            <a:lvl2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2pPr>
            <a:lvl3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3pPr>
            <a:lvl4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4pPr>
            <a:lvl5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5pPr>
            <a:lvl6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6pPr>
            <a:lvl7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7pPr>
            <a:lvl8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8pPr>
            <a:lvl9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484342"/>
                </a:solidFill>
                <a:latin typeface="Tahoma"/>
                <a:ea typeface="Tahoma"/>
                <a:cs typeface="Tahoma"/>
              </a:rPr>
              <a:t>ELEC 335  |  L18  |  Week 10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76D76C-3DD1-4876-8BEE-F54E679A1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defPPr>
            <a:lvl1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1pPr>
            <a:lvl2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2pPr>
            <a:lvl3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3pPr>
            <a:lvl4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4pPr>
            <a:lvl5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5pPr>
            <a:lvl6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6pPr>
            <a:lvl7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7pPr>
            <a:lvl8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8pPr>
            <a:lvl9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484342"/>
                </a:solidFill>
                <a:latin typeface="Tahoma"/>
                <a:ea typeface="Tahoma"/>
                <a:cs typeface="Tahoma"/>
              </a:rPr>
              <a:t>20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AB7C8D-8FCB-4D1F-BF95-10549F9E8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67500"/>
            <a:ext cx="1219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20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661CA9-891A-4F1C-B1B0-EC45C37FB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2009775"/>
            <a:ext cx="19050" cy="2962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9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C873C9-F012-48A1-8771-CFE561EE9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67640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settled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5012E7-61F8-4DC7-AA21-5DD8F69F5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09775"/>
            <a:ext cx="19050" cy="2962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9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D8B4D1-3A31-45DB-B81E-C84D8F6F2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167640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CLK 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60642D-0F92-4FC2-AB90-D874A35A2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2009775"/>
            <a:ext cx="19050" cy="2962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9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246714-F29B-43B7-902B-54D543023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67640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Q₀ ↓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F1BB0C0-027F-4978-9F4D-F83210DA6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009775"/>
            <a:ext cx="19050" cy="2962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9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EBAF51-8B71-4077-A4B6-F2459326F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167640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ctr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clear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7F64401-D941-4C53-9DD8-EDB32D988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114550"/>
            <a:ext cx="1009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defPPr>
            <a:lvl1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1pPr>
            <a:lvl2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2pPr>
            <a:lvl3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3pPr>
            <a:lvl4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4pPr>
            <a:lvl5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5pPr>
            <a:lvl6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6pPr>
            <a:lvl7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7pPr>
            <a:lvl8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8pPr>
            <a:lvl9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00263E"/>
                </a:solidFill>
                <a:latin typeface="Tahoma"/>
                <a:ea typeface="Tahoma"/>
                <a:cs typeface="Tahoma"/>
              </a:rPr>
              <a:t>Q₂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5666266-AE6D-4AE4-A62A-7A34DB382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2133600"/>
            <a:ext cx="19907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7F3766E-258C-4FCB-80DB-CD74C6045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133600"/>
            <a:ext cx="19907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1B8AFFE-9337-47F7-874A-09635E5F8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2133600"/>
            <a:ext cx="19907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0753709-A79F-4DEA-9BD5-1B4AAE561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457450"/>
            <a:ext cx="19907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F3DDB67-F7F1-4A13-AEA8-912C7E523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133600"/>
            <a:ext cx="285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2357DEF-C1AC-4016-B356-F838605BC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819400"/>
            <a:ext cx="1009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defPPr>
            <a:lvl1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1pPr>
            <a:lvl2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2pPr>
            <a:lvl3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3pPr>
            <a:lvl4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4pPr>
            <a:lvl5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5pPr>
            <a:lvl6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6pPr>
            <a:lvl7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7pPr>
            <a:lvl8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8pPr>
            <a:lvl9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00263E"/>
                </a:solidFill>
                <a:latin typeface="Tahoma"/>
                <a:ea typeface="Tahoma"/>
                <a:cs typeface="Tahoma"/>
              </a:rPr>
              <a:t>Q₁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1D262AF-B664-4868-A00E-8D51C5D3E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3162300"/>
            <a:ext cx="19907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D858E46-64E1-433F-8D81-25CE7762F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162300"/>
            <a:ext cx="19907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61D973B-A67F-4E76-8CB8-1D7EF58F6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2838450"/>
            <a:ext cx="19907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EB7C723-F145-41A1-B1F8-361C78E87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2838450"/>
            <a:ext cx="285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278012B-6F14-447F-8C8A-2F2071E06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162300"/>
            <a:ext cx="19907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9AA2576-AC60-4EBE-B1C8-F5BC18927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838450"/>
            <a:ext cx="285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B7D79C3-727C-443A-B86F-020100F07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524250"/>
            <a:ext cx="1009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defPPr>
            <a:lvl1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1pPr>
            <a:lvl2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2pPr>
            <a:lvl3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3pPr>
            <a:lvl4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4pPr>
            <a:lvl5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5pPr>
            <a:lvl6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6pPr>
            <a:lvl7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7pPr>
            <a:lvl8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8pPr>
            <a:lvl9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00263E"/>
                </a:solidFill>
                <a:latin typeface="Tahoma"/>
                <a:ea typeface="Tahoma"/>
                <a:cs typeface="Tahoma"/>
              </a:rPr>
              <a:t>Q₀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1D355C4-DDCF-4910-8B7F-B01412686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3543300"/>
            <a:ext cx="19907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616AD8E-5823-46EA-A725-6F5B7E2B5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867150"/>
            <a:ext cx="19907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B8014DD-BC8D-48EA-B081-E4C433601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543300"/>
            <a:ext cx="285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01F84E5-6401-4A94-9FAE-3ED095AB2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3867150"/>
            <a:ext cx="19907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F50488A-140D-4A3A-8112-7701A5A3F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867150"/>
            <a:ext cx="19907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3644D91-6DAF-443C-BDEF-12B719B75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229100"/>
            <a:ext cx="1009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defPPr>
            <a:lvl1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1pPr>
            <a:lvl2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2pPr>
            <a:lvl3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3pPr>
            <a:lvl4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4pPr>
            <a:lvl5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5pPr>
            <a:lvl6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6pPr>
            <a:lvl7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7pPr>
            <a:lvl8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8pPr>
            <a:lvl9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00263E"/>
                </a:solidFill>
                <a:latin typeface="Tahoma"/>
                <a:ea typeface="Tahoma"/>
                <a:cs typeface="Tahoma"/>
              </a:rPr>
              <a:t>CLRₙ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38197FC-B522-4F28-9DCD-9B226B909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4248150"/>
            <a:ext cx="19907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22B89BC-E221-4C97-A4CC-51DB3917B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248150"/>
            <a:ext cx="19907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BD769C3-156A-44CF-928F-D6001C165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4572000"/>
            <a:ext cx="19907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F919EFC-E108-4B48-AB94-BE58084C3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4248150"/>
            <a:ext cx="285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AFE25B9-AE67-4289-B141-E413A667D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248150"/>
            <a:ext cx="19907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EED91A8-FC9F-4017-90F7-50D1E9BEA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248150"/>
            <a:ext cx="285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B919504-54E4-40FF-8C43-ECEB9B792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925" y="5229225"/>
            <a:ext cx="88201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ctr">
              <a:defRPr sz="21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defPPr>
            <a:lvl1pPr algn="ctr">
              <a:defRPr sz="21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1pPr>
            <a:lvl2pPr algn="ctr">
              <a:defRPr sz="21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2pPr>
            <a:lvl3pPr algn="ctr">
              <a:defRPr sz="21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3pPr>
            <a:lvl4pPr algn="ctr">
              <a:defRPr sz="21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4pPr>
            <a:lvl5pPr algn="ctr">
              <a:defRPr sz="21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5pPr>
            <a:lvl6pPr algn="ctr">
              <a:defRPr sz="21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6pPr>
            <a:lvl7pPr algn="ctr">
              <a:defRPr sz="21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7pPr>
            <a:lvl8pPr algn="ctr">
              <a:defRPr sz="21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8pPr>
            <a:lvl9pPr algn="ctr">
              <a:defRPr sz="21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ctr">
              <a:defRPr sz="21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pPr>
            <a:r>
              <a:rPr sz="2175" b="1">
                <a:solidFill>
                  <a:srgbClr val="A90F1C"/>
                </a:solidFill>
                <a:latin typeface="Tahoma"/>
                <a:ea typeface="Tahoma"/>
                <a:cs typeface="Tahoma"/>
              </a:rPr>
              <a:t>101 → 100 → 110 → 000</a:t>
            </a:r>
          </a:p>
        </p:txBody>
      </p:sp>
    </p:spTree>
    <p:extLst>
      <p:ext uri="{BB962C8B-B14F-4D97-AF65-F5344CB8AC3E}">
        <p14:creationId xmlns:p14="http://schemas.microsoft.com/office/powerpoint/2010/main" val="769153151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4FA597-B40C-421A-B276-31B6E83A12A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34d2421c774d36"/>
          <a:srcRect xmlns:a="http://schemas.openxmlformats.org/drawingml/2006/main" l="0" t="23428" r="0" b="2342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915525" y="0"/>
            <a:ext cx="2276475" cy="1019175"/>
          </a:xfrm>
          <a:prstGeom xmlns:a="http://schemas.openxmlformats.org/drawingml/2006/main" prst="rect">
            <a:avLst/>
          </a:prstGeom>
        </p:spPr>
      </p:pic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332F77-ABAD-44E1-8EED-D865F004623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0ff223d7964a49"/>
          <a:stretch xmlns:a="http://schemas.openxmlformats.org/drawingml/2006/main"/>
        </p:blipFill>
        <p:spPr>
          <a:xfrm xmlns:a="http://schemas.openxmlformats.org/drawingml/2006/main">
            <a:off x="8422741" y="228600"/>
            <a:ext cx="3137967" cy="5143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96A5D3-0B44-4084-8B98-766DEC32A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76225"/>
            <a:ext cx="7239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L18 · TIMING CAUTION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EDA4BD-164F-42A4-803D-E448057AA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47700"/>
            <a:ext cx="101917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defPPr>
            <a:lvl1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1pPr>
            <a:lvl2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2pPr>
            <a:lvl3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3pPr>
            <a:lvl4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4pPr>
            <a:lvl5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5pPr>
            <a:lvl6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6pPr>
            <a:lvl7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7pPr>
            <a:lvl8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8pPr>
            <a:lvl9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pPr>
            <a:r>
              <a:rPr sz="3225" b="1">
                <a:solidFill>
                  <a:srgbClr val="00263E"/>
                </a:solidFill>
                <a:latin typeface="Tahoma"/>
                <a:ea typeface="Tahoma"/>
                <a:cs typeface="Tahoma"/>
              </a:rPr>
              <a:t>What the ideal drawing hides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E4867E-A19D-4DFD-9586-1E42E5B8D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14859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20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90EF91-3DB0-4297-98D4-C2F9FE299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15050"/>
            <a:ext cx="1219200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E7BCC5-1D42-4E16-9287-07570FDB1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43625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defPPr>
            <a:lvl1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1pPr>
            <a:lvl2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2pPr>
            <a:lvl3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3pPr>
            <a:lvl4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4pPr>
            <a:lvl5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5pPr>
            <a:lvl6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6pPr>
            <a:lvl7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7pPr>
            <a:lvl8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8pPr>
            <a:lvl9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A90F1C"/>
                </a:solidFill>
                <a:latin typeface="Tahoma"/>
                <a:ea typeface="Tahoma"/>
                <a:cs typeface="Tahoma"/>
              </a:rPr>
              <a:t>Textbook: Ch. 7 §7.3, pp. 447–450  |  Companion: lesson-04.html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89529F-7052-4407-B78B-041E89BCB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6429375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defPPr>
            <a:lvl1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1pPr>
            <a:lvl2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2pPr>
            <a:lvl3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3pPr>
            <a:lvl4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4pPr>
            <a:lvl5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5pPr>
            <a:lvl6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6pPr>
            <a:lvl7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7pPr>
            <a:lvl8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8pPr>
            <a:lvl9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484342"/>
                </a:solidFill>
                <a:latin typeface="Tahoma"/>
                <a:ea typeface="Tahoma"/>
                <a:cs typeface="Tahoma"/>
              </a:rPr>
              <a:t>ELEC 335  |  L18  |  Week 10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8A0CDC-0457-4E05-9A72-5700F63FB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defPPr>
            <a:lvl1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1pPr>
            <a:lvl2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2pPr>
            <a:lvl3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3pPr>
            <a:lvl4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4pPr>
            <a:lvl5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5pPr>
            <a:lvl6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6pPr>
            <a:lvl7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7pPr>
            <a:lvl8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8pPr>
            <a:lvl9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484342"/>
                </a:solidFill>
                <a:latin typeface="Tahoma"/>
                <a:ea typeface="Tahoma"/>
                <a:cs typeface="Tahoma"/>
              </a:rPr>
              <a:t>21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9D7D7A-C793-4E07-83C1-42093C58A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67500"/>
            <a:ext cx="1219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20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B86608-0386-4E15-B031-9DC5446F3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704975"/>
            <a:ext cx="7048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55087D-DFCF-4805-83BF-A89B3BBED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666875"/>
            <a:ext cx="9048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defPPr>
            <a:lvl1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1pPr>
            <a:lvl2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2pPr>
            <a:lvl3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3pPr>
            <a:lvl4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4pPr>
            <a:lvl5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5pPr>
            <a:lvl6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6pPr>
            <a:lvl7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7pPr>
            <a:lvl8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8pPr>
            <a:lvl9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pPr>
            <a:r>
              <a:rPr sz="1875" b="0">
                <a:solidFill>
                  <a:srgbClr val="1E252B"/>
                </a:solidFill>
                <a:latin typeface="Tahoma"/>
                <a:ea typeface="Tahoma"/>
                <a:cs typeface="Tahoma"/>
              </a:rPr>
              <a:t>Each stage adds propagation delay; intermediate codes are physically observable.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D723C4-A9E5-47DA-9836-C0289F76C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638425"/>
            <a:ext cx="7048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DC616D-BDA1-47D3-9F74-118F4FBA2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600325"/>
            <a:ext cx="9048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defPPr>
            <a:lvl1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1pPr>
            <a:lvl2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2pPr>
            <a:lvl3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3pPr>
            <a:lvl4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4pPr>
            <a:lvl5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5pPr>
            <a:lvl6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6pPr>
            <a:lvl7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7pPr>
            <a:lvl8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8pPr>
            <a:lvl9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pPr>
            <a:r>
              <a:rPr sz="1875" b="0">
                <a:solidFill>
                  <a:srgbClr val="1E252B"/>
                </a:solidFill>
                <a:latin typeface="Tahoma"/>
                <a:ea typeface="Tahoma"/>
                <a:cs typeface="Tahoma"/>
              </a:rPr>
              <a:t>A combinational decoder connected to ripple outputs may produce a short unwanted pulse.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F25360-BF43-4F98-B32B-07E676AA0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571875"/>
            <a:ext cx="7048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0AAB1B-CCF5-4B4E-8D78-3F09F2586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533775"/>
            <a:ext cx="9048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defPPr>
            <a:lvl1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1pPr>
            <a:lvl2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2pPr>
            <a:lvl3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3pPr>
            <a:lvl4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4pPr>
            <a:lvl5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5pPr>
            <a:lvl6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6pPr>
            <a:lvl7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7pPr>
            <a:lvl8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8pPr>
            <a:lvl9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pPr>
            <a:r>
              <a:rPr sz="1875" b="0">
                <a:solidFill>
                  <a:srgbClr val="1E252B"/>
                </a:solidFill>
                <a:latin typeface="Tahoma"/>
                <a:ea typeface="Tahoma"/>
                <a:cs typeface="Tahoma"/>
              </a:rPr>
              <a:t>The self-terminating clear pulse must exceed the device minimum width.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18837D-E90F-4ABD-84CA-59F998088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505325"/>
            <a:ext cx="7048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CA60E2-CE5C-4506-A8B6-FD0F053D6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467225"/>
            <a:ext cx="9048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defPPr>
            <a:lvl1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1pPr>
            <a:lvl2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2pPr>
            <a:lvl3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3pPr>
            <a:lvl4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4pPr>
            <a:lvl5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5pPr>
            <a:lvl6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6pPr>
            <a:lvl7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7pPr>
            <a:lvl8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8pPr>
            <a:lvl9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pPr>
            <a:r>
              <a:rPr sz="1875" b="0">
                <a:solidFill>
                  <a:srgbClr val="1E252B"/>
                </a:solidFill>
                <a:latin typeface="Tahoma"/>
                <a:ea typeface="Tahoma"/>
                <a:cs typeface="Tahoma"/>
              </a:rPr>
              <a:t>Check power-up initialization and the chosen flip-flop clear polarity.</a:t>
            </a:r>
          </a:p>
        </p:txBody>
      </p:sp>
    </p:spTree>
    <p:extLst>
      <p:ext uri="{BB962C8B-B14F-4D97-AF65-F5344CB8AC3E}">
        <p14:creationId xmlns:p14="http://schemas.microsoft.com/office/powerpoint/2010/main" val="171745534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8CF8DB-8464-4D7B-8F40-BC42D14417D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4d6b9fb3914bf9"/>
          <a:srcRect xmlns:a="http://schemas.openxmlformats.org/drawingml/2006/main" l="0" t="23428" r="0" b="2342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915525" y="0"/>
            <a:ext cx="2276475" cy="1019175"/>
          </a:xfrm>
          <a:prstGeom xmlns:a="http://schemas.openxmlformats.org/drawingml/2006/main" prst="rect">
            <a:avLst/>
          </a:prstGeom>
        </p:spPr>
      </p:pic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AB7217-1A48-403F-B26A-F5AC3D77FF9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3580ffcec041e0"/>
          <a:stretch xmlns:a="http://schemas.openxmlformats.org/drawingml/2006/main"/>
        </p:blipFill>
        <p:spPr>
          <a:xfrm xmlns:a="http://schemas.openxmlformats.org/drawingml/2006/main">
            <a:off x="8422741" y="228600"/>
            <a:ext cx="3137967" cy="5143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FA7EF8-B235-4153-B9EF-A55F65BF5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76225"/>
            <a:ext cx="7239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L18 · PRACTICE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9DEB7C-DBE5-46A7-AD95-32C63E4DA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47700"/>
            <a:ext cx="101917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defPPr>
            <a:lvl1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1pPr>
            <a:lvl2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2pPr>
            <a:lvl3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3pPr>
            <a:lvl4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4pPr>
            <a:lvl5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5pPr>
            <a:lvl6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6pPr>
            <a:lvl7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7pPr>
            <a:lvl8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8pPr>
            <a:lvl9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pPr>
            <a:r>
              <a:rPr sz="3225" b="1">
                <a:solidFill>
                  <a:srgbClr val="00263E"/>
                </a:solidFill>
                <a:latin typeface="Tahoma"/>
                <a:ea typeface="Tahoma"/>
                <a:cs typeface="Tahoma"/>
              </a:rPr>
              <a:t>Predict before revealing the solution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2B653A-63B6-4A46-9814-A01FCC99B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14859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20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FF362D-8978-4296-8851-7E9BBC88C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15050"/>
            <a:ext cx="1219200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CA1CC7-F19E-40FE-99FC-2E8C038E9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43625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defPPr>
            <a:lvl1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1pPr>
            <a:lvl2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2pPr>
            <a:lvl3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3pPr>
            <a:lvl4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4pPr>
            <a:lvl5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5pPr>
            <a:lvl6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6pPr>
            <a:lvl7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7pPr>
            <a:lvl8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8pPr>
            <a:lvl9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A90F1C"/>
                </a:solidFill>
                <a:latin typeface="Tahoma"/>
                <a:ea typeface="Tahoma"/>
                <a:cs typeface="Tahoma"/>
              </a:rPr>
              <a:t>Textbook: Ch. 7 §7.3, pp. 447–450  |  Companion: lesson-04.html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36A364-26D9-4D4B-9091-562FC1799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6429375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defPPr>
            <a:lvl1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1pPr>
            <a:lvl2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2pPr>
            <a:lvl3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3pPr>
            <a:lvl4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4pPr>
            <a:lvl5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5pPr>
            <a:lvl6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6pPr>
            <a:lvl7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7pPr>
            <a:lvl8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8pPr>
            <a:lvl9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484342"/>
                </a:solidFill>
                <a:latin typeface="Tahoma"/>
                <a:ea typeface="Tahoma"/>
                <a:cs typeface="Tahoma"/>
              </a:rPr>
              <a:t>ELEC 335  |  L18  |  Week 10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4CF8DC-7686-4174-8F7A-B7539ABDA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defPPr>
            <a:lvl1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1pPr>
            <a:lvl2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2pPr>
            <a:lvl3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3pPr>
            <a:lvl4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4pPr>
            <a:lvl5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5pPr>
            <a:lvl6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6pPr>
            <a:lvl7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7pPr>
            <a:lvl8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8pPr>
            <a:lvl9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484342"/>
                </a:solidFill>
                <a:latin typeface="Tahoma"/>
                <a:ea typeface="Tahoma"/>
                <a:cs typeface="Tahoma"/>
              </a:rPr>
              <a:t>22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B9C098-9AEF-4E75-A790-17BBDCE27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67500"/>
            <a:ext cx="1219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20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ACB788-83C5-4927-82D2-C719F3100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1962150"/>
            <a:ext cx="54292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4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l">
              <a:defRPr sz="24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l">
              <a:defRPr sz="24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l">
              <a:defRPr sz="24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l">
              <a:defRPr sz="24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l">
              <a:defRPr sz="24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l">
              <a:defRPr sz="24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l">
              <a:defRPr sz="24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l">
              <a:defRPr sz="24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l">
              <a:defRPr sz="24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240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1BBC0D-2240-442A-A531-357D68F5D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1885950"/>
            <a:ext cx="8905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10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defPPr>
            <a:lvl1pPr algn="l">
              <a:defRPr sz="210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1pPr>
            <a:lvl2pPr algn="l">
              <a:defRPr sz="210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2pPr>
            <a:lvl3pPr algn="l">
              <a:defRPr sz="210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3pPr>
            <a:lvl4pPr algn="l">
              <a:defRPr sz="210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4pPr>
            <a:lvl5pPr algn="l">
              <a:defRPr sz="210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5pPr>
            <a:lvl6pPr algn="l">
              <a:defRPr sz="210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6pPr>
            <a:lvl7pPr algn="l">
              <a:defRPr sz="210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7pPr>
            <a:lvl8pPr algn="l">
              <a:defRPr sz="210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8pPr>
            <a:lvl9pPr algn="l">
              <a:defRPr sz="210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pPr>
            <a:r>
              <a:rPr sz="2100" b="0">
                <a:solidFill>
                  <a:srgbClr val="1E252B"/>
                </a:solidFill>
                <a:latin typeface="Tahoma"/>
                <a:ea typeface="Tahoma"/>
                <a:cs typeface="Tahoma"/>
              </a:rPr>
              <a:t>From Q=1 to Q⁺=0, what JK excitation is required?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152951-7CED-4831-95BF-BE6E97DCA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3419475"/>
            <a:ext cx="54292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4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l">
              <a:defRPr sz="24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l">
              <a:defRPr sz="24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l">
              <a:defRPr sz="24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l">
              <a:defRPr sz="24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l">
              <a:defRPr sz="24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l">
              <a:defRPr sz="24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l">
              <a:defRPr sz="24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l">
              <a:defRPr sz="24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l">
              <a:defRPr sz="24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240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CA205F-22EE-4FC6-AEC0-19D61F167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3352800"/>
            <a:ext cx="8905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10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defPPr>
            <a:lvl1pPr algn="l">
              <a:defRPr sz="210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1pPr>
            <a:lvl2pPr algn="l">
              <a:defRPr sz="210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2pPr>
            <a:lvl3pPr algn="l">
              <a:defRPr sz="210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3pPr>
            <a:lvl4pPr algn="l">
              <a:defRPr sz="210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4pPr>
            <a:lvl5pPr algn="l">
              <a:defRPr sz="210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5pPr>
            <a:lvl6pPr algn="l">
              <a:defRPr sz="210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6pPr>
            <a:lvl7pPr algn="l">
              <a:defRPr sz="210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7pPr>
            <a:lvl8pPr algn="l">
              <a:defRPr sz="210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8pPr>
            <a:lvl9pPr algn="l">
              <a:defRPr sz="210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pPr>
            <a:r>
              <a:rPr sz="2100" b="0">
                <a:solidFill>
                  <a:srgbClr val="1E252B"/>
                </a:solidFill>
                <a:latin typeface="Tahoma"/>
                <a:ea typeface="Tahoma"/>
                <a:cs typeface="Tahoma"/>
              </a:rPr>
              <a:t>Why does the MOD-6 ripple design decode 110?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256883-8CA7-4A87-BC67-459FE0E4C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4876800"/>
            <a:ext cx="54292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4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l">
              <a:defRPr sz="24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l">
              <a:defRPr sz="24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l">
              <a:defRPr sz="24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l">
              <a:defRPr sz="24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l">
              <a:defRPr sz="24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l">
              <a:defRPr sz="24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l">
              <a:defRPr sz="24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l">
              <a:defRPr sz="24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l">
              <a:defRPr sz="24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240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C10D04-5072-447C-9183-B82629653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4733925"/>
            <a:ext cx="89058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defPPr>
            <a:lvl1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1pPr>
            <a:lvl2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2pPr>
            <a:lvl3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3pPr>
            <a:lvl4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4pPr>
            <a:lvl5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5pPr>
            <a:lvl6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6pPr>
            <a:lvl7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7pPr>
            <a:lvl8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8pPr>
            <a:lvl9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pPr>
            <a:r>
              <a:rPr sz="2025" b="0">
                <a:solidFill>
                  <a:srgbClr val="1E252B"/>
                </a:solidFill>
                <a:latin typeface="Tahoma"/>
                <a:ea typeface="Tahoma"/>
                <a:cs typeface="Tahoma"/>
              </a:rPr>
              <a:t>Starting at 001, list the temporary and settled codes after CLK ↓.</a:t>
            </a:r>
          </a:p>
        </p:txBody>
      </p:sp>
    </p:spTree>
    <p:extLst>
      <p:ext uri="{BB962C8B-B14F-4D97-AF65-F5344CB8AC3E}">
        <p14:creationId xmlns:p14="http://schemas.microsoft.com/office/powerpoint/2010/main" val="373904483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1F71AFA-E7A4-432F-8D24-90D450771CF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6c3be9798f4b38"/>
          <a:srcRect xmlns:a="http://schemas.openxmlformats.org/drawingml/2006/main" l="0" t="23428" r="0" b="2342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915525" y="0"/>
            <a:ext cx="2276475" cy="1019175"/>
          </a:xfrm>
          <a:prstGeom xmlns:a="http://schemas.openxmlformats.org/drawingml/2006/main" prst="rect">
            <a:avLst/>
          </a:prstGeom>
        </p:spPr>
      </p:pic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6AB62C-BCDD-47CF-9277-1AAA464750A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03986318754c46"/>
          <a:stretch xmlns:a="http://schemas.openxmlformats.org/drawingml/2006/main"/>
        </p:blipFill>
        <p:spPr>
          <a:xfrm xmlns:a="http://schemas.openxmlformats.org/drawingml/2006/main">
            <a:off x="8422741" y="228600"/>
            <a:ext cx="3137967" cy="5143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5BDB83-2334-4650-A4CB-0CEB7CC51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76225"/>
            <a:ext cx="7239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L18 · PRACTICE SOLUTIONS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60EE7A-5483-499F-BDD8-7CC67FE43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47700"/>
            <a:ext cx="101917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defPPr>
            <a:lvl1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1pPr>
            <a:lvl2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2pPr>
            <a:lvl3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3pPr>
            <a:lvl4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4pPr>
            <a:lvl5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5pPr>
            <a:lvl6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6pPr>
            <a:lvl7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7pPr>
            <a:lvl8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8pPr>
            <a:lvl9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pPr>
            <a:r>
              <a:rPr sz="3225" b="1">
                <a:solidFill>
                  <a:srgbClr val="00263E"/>
                </a:solidFill>
                <a:latin typeface="Tahoma"/>
                <a:ea typeface="Tahoma"/>
                <a:cs typeface="Tahoma"/>
              </a:rPr>
              <a:t>Check the rule behind each answer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C85436-D14E-421D-ADBC-7ED4453F8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14859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20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E7D5E4-3183-48EF-801B-12BF03763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15050"/>
            <a:ext cx="1219200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146BF8-92C7-444B-B5EA-1196C3EA9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43625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defPPr>
            <a:lvl1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1pPr>
            <a:lvl2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2pPr>
            <a:lvl3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3pPr>
            <a:lvl4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4pPr>
            <a:lvl5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5pPr>
            <a:lvl6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6pPr>
            <a:lvl7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7pPr>
            <a:lvl8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8pPr>
            <a:lvl9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A90F1C"/>
                </a:solidFill>
                <a:latin typeface="Tahoma"/>
                <a:ea typeface="Tahoma"/>
                <a:cs typeface="Tahoma"/>
              </a:rPr>
              <a:t>Textbook: Ch. 7 §7.3, pp. 447–450  |  Companion: lesson-04.html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ADE23D-85AF-4F6F-A2A4-7C2C38488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6429375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defPPr>
            <a:lvl1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1pPr>
            <a:lvl2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2pPr>
            <a:lvl3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3pPr>
            <a:lvl4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4pPr>
            <a:lvl5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5pPr>
            <a:lvl6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6pPr>
            <a:lvl7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7pPr>
            <a:lvl8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8pPr>
            <a:lvl9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484342"/>
                </a:solidFill>
                <a:latin typeface="Tahoma"/>
                <a:ea typeface="Tahoma"/>
                <a:cs typeface="Tahoma"/>
              </a:rPr>
              <a:t>ELEC 335  |  L18  |  Week 10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286AFF-CBF0-4538-9A96-4D7E3FE33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defPPr>
            <a:lvl1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1pPr>
            <a:lvl2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2pPr>
            <a:lvl3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3pPr>
            <a:lvl4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4pPr>
            <a:lvl5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5pPr>
            <a:lvl6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6pPr>
            <a:lvl7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7pPr>
            <a:lvl8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8pPr>
            <a:lvl9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484342"/>
                </a:solidFill>
                <a:latin typeface="Tahoma"/>
                <a:ea typeface="Tahoma"/>
                <a:cs typeface="Tahoma"/>
              </a:rPr>
              <a:t>23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8744FD-D149-4E7B-AC4F-9BE58E68D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67500"/>
            <a:ext cx="1219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20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56FD25-89FF-4559-B6B7-22381BAA2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" y="1847850"/>
            <a:ext cx="7048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5D7119-EE72-462D-8626-DF01AEDA6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9275" y="1809750"/>
            <a:ext cx="9048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defPPr>
            <a:lvl1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1pPr>
            <a:lvl2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2pPr>
            <a:lvl3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3pPr>
            <a:lvl4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4pPr>
            <a:lvl5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5pPr>
            <a:lvl6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6pPr>
            <a:lvl7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7pPr>
            <a:lvl8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8pPr>
            <a:lvl9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pPr>
            <a:r>
              <a:rPr sz="1950" b="0">
                <a:solidFill>
                  <a:srgbClr val="1E252B"/>
                </a:solidFill>
                <a:latin typeface="Tahoma"/>
                <a:ea typeface="Tahoma"/>
                <a:cs typeface="Tahoma"/>
              </a:rPr>
              <a:t>K=1; J=X. The choice J=K=1 toggles 1 to 0.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67AACF-21D8-41BF-8B93-A075F288A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" y="3038475"/>
            <a:ext cx="7048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D34056-86FD-4E77-8B14-EEE2DA191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9275" y="3000375"/>
            <a:ext cx="9048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defPPr>
            <a:lvl1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1pPr>
            <a:lvl2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2pPr>
            <a:lvl3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3pPr>
            <a:lvl4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4pPr>
            <a:lvl5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5pPr>
            <a:lvl6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6pPr>
            <a:lvl7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7pPr>
            <a:lvl8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8pPr>
            <a:lvl9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pPr>
            <a:r>
              <a:rPr sz="1950" b="0">
                <a:solidFill>
                  <a:srgbClr val="1E252B"/>
                </a:solidFill>
                <a:latin typeface="Tahoma"/>
                <a:ea typeface="Tahoma"/>
                <a:cs typeface="Tahoma"/>
              </a:rPr>
              <a:t>The six valid settled codes end at 101. The next natural code, 110, must reset the counter.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5908A3-CD82-4FB8-8294-C3B1FBAED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" y="4229100"/>
            <a:ext cx="7048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86B190-6F75-4E05-943D-8BB00D73E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9275" y="4191000"/>
            <a:ext cx="9048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defPPr>
            <a:lvl1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1pPr>
            <a:lvl2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2pPr>
            <a:lvl3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3pPr>
            <a:lvl4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4pPr>
            <a:lvl5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5pPr>
            <a:lvl6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6pPr>
            <a:lvl7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7pPr>
            <a:lvl8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8pPr>
            <a:lvl9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pPr>
            <a:r>
              <a:rPr sz="1950" b="0">
                <a:solidFill>
                  <a:srgbClr val="1E252B"/>
                </a:solidFill>
                <a:latin typeface="Tahoma"/>
                <a:ea typeface="Tahoma"/>
                <a:cs typeface="Tahoma"/>
              </a:rPr>
              <a:t>001 → 000 → 010. Q₀ falls, then Q₁ rises. 010 is the next settled count.</a:t>
            </a:r>
          </a:p>
        </p:txBody>
      </p:sp>
    </p:spTree>
    <p:extLst>
      <p:ext uri="{BB962C8B-B14F-4D97-AF65-F5344CB8AC3E}">
        <p14:creationId xmlns:p14="http://schemas.microsoft.com/office/powerpoint/2010/main" val="1587440261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8A42EE-600D-43A4-87FC-32B960C65A6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a856d6b2034077"/>
          <a:srcRect xmlns:a="http://schemas.openxmlformats.org/drawingml/2006/main" l="0" t="23428" r="0" b="2342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915525" y="0"/>
            <a:ext cx="2276475" cy="1019175"/>
          </a:xfrm>
          <a:prstGeom xmlns:a="http://schemas.openxmlformats.org/drawingml/2006/main" prst="rect">
            <a:avLst/>
          </a:prstGeom>
        </p:spPr>
      </p:pic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40DCEE-A913-459D-85DD-033ED352DF7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09d9d7540a444e"/>
          <a:stretch xmlns:a="http://schemas.openxmlformats.org/drawingml/2006/main"/>
        </p:blipFill>
        <p:spPr>
          <a:xfrm xmlns:a="http://schemas.openxmlformats.org/drawingml/2006/main">
            <a:off x="8422741" y="228600"/>
            <a:ext cx="3137967" cy="5143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840256-44A7-4765-9886-CC0C4F6DA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76225"/>
            <a:ext cx="7239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120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120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L18 · CLOSE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8511F9-6920-442A-A9BC-F3ECB2F5D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47700"/>
            <a:ext cx="101917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defPPr>
            <a:lvl1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1pPr>
            <a:lvl2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2pPr>
            <a:lvl3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3pPr>
            <a:lvl4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4pPr>
            <a:lvl5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5pPr>
            <a:lvl6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6pPr>
            <a:lvl7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7pPr>
            <a:lvl8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8pPr>
            <a:lvl9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3225" b="1">
                <a:solidFill>
                  <a:srgbClr val="00263E"/>
                </a:solidFill>
                <a:latin typeface="Tahoma"/>
                <a:ea typeface="Tahoma"/>
                <a:cs typeface="Tahoma"/>
              </a:defRPr>
            </a:pPr>
            <a:r>
              <a:rPr sz="3225" b="1">
                <a:solidFill>
                  <a:srgbClr val="00263E"/>
                </a:solidFill>
                <a:latin typeface="Tahoma"/>
                <a:ea typeface="Tahoma"/>
                <a:cs typeface="Tahoma"/>
              </a:rPr>
              <a:t>What should stay with you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3F9C58-1A61-4E04-8B67-90C309B83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14859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20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9038BD-28F2-463F-927F-994D88A7B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15050"/>
            <a:ext cx="1219200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FD60B0-6058-4BB5-82B0-481458434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43625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defPPr>
            <a:lvl1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1pPr>
            <a:lvl2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2pPr>
            <a:lvl3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3pPr>
            <a:lvl4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4pPr>
            <a:lvl5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5pPr>
            <a:lvl6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6pPr>
            <a:lvl7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7pPr>
            <a:lvl8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8pPr>
            <a:lvl9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A90F1C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A90F1C"/>
                </a:solidFill>
                <a:latin typeface="Tahoma"/>
                <a:ea typeface="Tahoma"/>
                <a:cs typeface="Tahoma"/>
              </a:rPr>
              <a:t>Textbook: Ch. 7 §7.3, pp. 447–450  |  Companion: lesson-04.html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C3444A-87F8-4FE3-97CA-611DC3785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6429375"/>
            <a:ext cx="742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defPPr>
            <a:lvl1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1pPr>
            <a:lvl2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2pPr>
            <a:lvl3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3pPr>
            <a:lvl4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4pPr>
            <a:lvl5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5pPr>
            <a:lvl6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6pPr>
            <a:lvl7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7pPr>
            <a:lvl8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8pPr>
            <a:lvl9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484342"/>
                </a:solidFill>
                <a:latin typeface="Tahoma"/>
                <a:ea typeface="Tahoma"/>
                <a:cs typeface="Tahoma"/>
              </a:rPr>
              <a:t>ELEC 335  |  L18  |  Week 10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89444A-78D2-4FC5-B63F-39FD06065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defPPr>
            <a:lvl1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1pPr>
            <a:lvl2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2pPr>
            <a:lvl3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3pPr>
            <a:lvl4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4pPr>
            <a:lvl5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5pPr>
            <a:lvl6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6pPr>
            <a:lvl7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7pPr>
            <a:lvl8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8pPr>
            <a:lvl9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r">
              <a:defRPr sz="975" b="0">
                <a:solidFill>
                  <a:srgbClr val="484342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484342"/>
                </a:solidFill>
                <a:latin typeface="Tahoma"/>
                <a:ea typeface="Tahoma"/>
                <a:cs typeface="Tahoma"/>
              </a:rPr>
              <a:t>24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C87A58-1871-4720-B2B2-218600287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67500"/>
            <a:ext cx="12192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20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426D4C-D0F8-48B5-9593-1AB4D954F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819275"/>
            <a:ext cx="7048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53DF86-311F-4B9F-A57B-5AD2D1ED1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1781175"/>
            <a:ext cx="9048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defPPr>
            <a:lvl1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1pPr>
            <a:lvl2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2pPr>
            <a:lvl3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3pPr>
            <a:lvl4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4pPr>
            <a:lvl5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5pPr>
            <a:lvl6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6pPr>
            <a:lvl7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7pPr>
            <a:lvl8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8pPr>
            <a:lvl9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pPr>
            <a:r>
              <a:rPr sz="1875" b="0">
                <a:solidFill>
                  <a:srgbClr val="1E252B"/>
                </a:solidFill>
                <a:latin typeface="Tahoma"/>
                <a:ea typeface="Tahoma"/>
                <a:cs typeface="Tahoma"/>
              </a:rPr>
              <a:t>A synchronous MOD-6 D counter uses a common clock and D=Q⁺ from its state table.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F66571-C186-4A3E-8963-983C09813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752725"/>
            <a:ext cx="7048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257E65-17E6-45F2-B9F0-2298E3CA5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714625"/>
            <a:ext cx="9048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defPPr>
            <a:lvl1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1pPr>
            <a:lvl2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2pPr>
            <a:lvl3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3pPr>
            <a:lvl4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4pPr>
            <a:lvl5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5pPr>
            <a:lvl6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6pPr>
            <a:lvl7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7pPr>
            <a:lvl8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8pPr>
            <a:lvl9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pPr>
            <a:r>
              <a:rPr sz="1875" b="0">
                <a:solidFill>
                  <a:srgbClr val="1E252B"/>
                </a:solidFill>
                <a:latin typeface="Tahoma"/>
                <a:ea typeface="Tahoma"/>
                <a:cs typeface="Tahoma"/>
              </a:rPr>
              <a:t>JK commands are hold, reset, set and toggle; its equation is Q⁺=JQ̅+K̅Q.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7E35F8-6A3C-484A-BC4D-73C6F07B1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686175"/>
            <a:ext cx="7048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4D59A2-D172-42B7-97D9-638AE52AD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648075"/>
            <a:ext cx="9048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defPPr>
            <a:lvl1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1pPr>
            <a:lvl2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2pPr>
            <a:lvl3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3pPr>
            <a:lvl4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4pPr>
            <a:lvl5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5pPr>
            <a:lvl6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6pPr>
            <a:lvl7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7pPr>
            <a:lvl8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8pPr>
            <a:lvl9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pPr>
            <a:r>
              <a:rPr sz="1875" b="0">
                <a:solidFill>
                  <a:srgbClr val="1E252B"/>
                </a:solidFill>
                <a:latin typeface="Tahoma"/>
                <a:ea typeface="Tahoma"/>
                <a:cs typeface="Tahoma"/>
              </a:rPr>
              <a:t>A ripple MOD-6 counter cascades falling-edge JK stages with J=K=1.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A7031A3-0052-4337-A294-22235C19F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619625"/>
            <a:ext cx="7048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defPPr>
            <a:lvl1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1pPr>
            <a:lvl2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2pPr>
            <a:lvl3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3pPr>
            <a:lvl4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4pPr>
            <a:lvl5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5pPr>
            <a:lvl6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6pPr>
            <a:lvl7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7pPr>
            <a:lvl8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8pPr>
            <a:lvl9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D3202E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D3202E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D73C69-3D4D-4EC5-A2F8-4F0B9C017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581525"/>
            <a:ext cx="9048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defPPr>
            <a:lvl1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1pPr>
            <a:lvl2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2pPr>
            <a:lvl3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3pPr>
            <a:lvl4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4pPr>
            <a:lvl5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5pPr>
            <a:lvl6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6pPr>
            <a:lvl7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7pPr>
            <a:lvl8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8pPr>
            <a:lvl9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E252B"/>
                </a:solidFill>
                <a:latin typeface="Tahoma"/>
                <a:ea typeface="Tahoma"/>
                <a:cs typeface="Tahoma"/>
              </a:defRPr>
            </a:pPr>
            <a:r>
              <a:rPr sz="1875" b="0">
                <a:solidFill>
                  <a:srgbClr val="1E252B"/>
                </a:solidFill>
                <a:latin typeface="Tahoma"/>
                <a:ea typeface="Tahoma"/>
                <a:cs typeface="Tahoma"/>
              </a:rPr>
              <a:t>The 110 decode clears asynchronously; propagation and pulse width matter.</a:t>
            </a:r>
          </a:p>
        </p:txBody>
      </p:sp>
    </p:spTree>
    <p:extLst>
      <p:ext uri="{BB962C8B-B14F-4D97-AF65-F5344CB8AC3E}">
        <p14:creationId xmlns:p14="http://schemas.microsoft.com/office/powerpoint/2010/main" val="167577966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2026-10-27T10:48:51.4660000Z</dcterms:created>
  <dcterms:modified xsi:type="dcterms:W3CDTF">2026-10-27T10:48:51.4660000Z</dcterms:modified>
</coreProperties>
</file>