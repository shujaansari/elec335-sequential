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a8eb75b344322" /><Relationship Type="http://schemas.openxmlformats.org/officeDocument/2006/relationships/extended-properties" Target="/docProps/app.xml" Id="Rc475bb568b9b490e" /><Relationship Type="http://schemas.openxmlformats.org/officeDocument/2006/relationships/officeDocument" Target="/ppt/presentation.xml" Id="R40e8f50d7628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ea93ec7634b4d"/>
  </p:sldMasterIdLst>
  <p:notesMasterIdLst>
    <p:notesMasterId xmlns:r="http://schemas.openxmlformats.org/officeDocument/2006/relationships" r:id="Reb403f7af8f341c6"/>
  </p:notesMasterIdLst>
  <p:sldIdLst>
    <p:sldId xmlns:r="http://schemas.openxmlformats.org/officeDocument/2006/relationships" id="256" r:id="R8687b8352c2241b8"/>
    <p:sldId xmlns:r="http://schemas.openxmlformats.org/officeDocument/2006/relationships" id="257" r:id="R3ef197452e4447cf"/>
    <p:sldId xmlns:r="http://schemas.openxmlformats.org/officeDocument/2006/relationships" id="258" r:id="R307e4ef94fc446de"/>
    <p:sldId xmlns:r="http://schemas.openxmlformats.org/officeDocument/2006/relationships" id="259" r:id="R5aa6d6aa42ab4cf6"/>
    <p:sldId xmlns:r="http://schemas.openxmlformats.org/officeDocument/2006/relationships" id="260" r:id="Re14b592a56f04005"/>
    <p:sldId xmlns:r="http://schemas.openxmlformats.org/officeDocument/2006/relationships" id="261" r:id="R36729b9eb639468a"/>
    <p:sldId xmlns:r="http://schemas.openxmlformats.org/officeDocument/2006/relationships" id="262" r:id="R591ed841eae44028"/>
    <p:sldId xmlns:r="http://schemas.openxmlformats.org/officeDocument/2006/relationships" id="263" r:id="R9fc1dedb509a4ffd"/>
    <p:sldId xmlns:r="http://schemas.openxmlformats.org/officeDocument/2006/relationships" id="264" r:id="Rcaee8f4737dd49f7"/>
    <p:sldId xmlns:r="http://schemas.openxmlformats.org/officeDocument/2006/relationships" id="265" r:id="R4cb0922a03444f6a"/>
    <p:sldId xmlns:r="http://schemas.openxmlformats.org/officeDocument/2006/relationships" id="266" r:id="Rb642ad03da1d4d40"/>
    <p:sldId xmlns:r="http://schemas.openxmlformats.org/officeDocument/2006/relationships" id="267" r:id="R284ee31965114235"/>
    <p:sldId xmlns:r="http://schemas.openxmlformats.org/officeDocument/2006/relationships" id="268" r:id="Rd64452f76def46e6"/>
    <p:sldId xmlns:r="http://schemas.openxmlformats.org/officeDocument/2006/relationships" id="269" r:id="R00f670a42944485a"/>
    <p:sldId xmlns:r="http://schemas.openxmlformats.org/officeDocument/2006/relationships" id="270" r:id="Rd17b67701fff4b45"/>
    <p:sldId xmlns:r="http://schemas.openxmlformats.org/officeDocument/2006/relationships" id="271" r:id="Rcaada3cc54ab45b8"/>
    <p:sldId xmlns:r="http://schemas.openxmlformats.org/officeDocument/2006/relationships" id="272" r:id="R77259b9ed37f43de"/>
    <p:sldId xmlns:r="http://schemas.openxmlformats.org/officeDocument/2006/relationships" id="273" r:id="R8dce4f45779e4e1d"/>
    <p:sldId xmlns:r="http://schemas.openxmlformats.org/officeDocument/2006/relationships" id="274" r:id="Rd7cc1cd148bf4f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177a3baa174935" /><Relationship Type="http://schemas.openxmlformats.org/officeDocument/2006/relationships/slideMaster" Target="/ppt/slideMasters/slideMaster1.xml" Id="R661ea93ec7634b4d" /><Relationship Type="http://schemas.openxmlformats.org/officeDocument/2006/relationships/notesMaster" Target="/ppt/notesMasters/notesMaster1.xml" Id="Reb403f7af8f341c6" /><Relationship Type="http://schemas.openxmlformats.org/officeDocument/2006/relationships/presProps" Target="/ppt/presProps.xml" Id="R80e25e21ebcb4daf" /><Relationship Type="http://schemas.openxmlformats.org/officeDocument/2006/relationships/tableStyles" Target="/ppt/tableStyles.xml" Id="Rec3f8a1253fd4398" /><Relationship Type="http://schemas.openxmlformats.org/officeDocument/2006/relationships/slide" Target="/ppt/slides/slide1.xml" Id="R8687b8352c2241b8" /><Relationship Type="http://schemas.openxmlformats.org/officeDocument/2006/relationships/slide" Target="/ppt/slides/slide2.xml" Id="R3ef197452e4447cf" /><Relationship Type="http://schemas.openxmlformats.org/officeDocument/2006/relationships/slide" Target="/ppt/slides/slide3.xml" Id="R307e4ef94fc446de" /><Relationship Type="http://schemas.openxmlformats.org/officeDocument/2006/relationships/slide" Target="/ppt/slides/slide4.xml" Id="R5aa6d6aa42ab4cf6" /><Relationship Type="http://schemas.openxmlformats.org/officeDocument/2006/relationships/slide" Target="/ppt/slides/slide5.xml" Id="Re14b592a56f04005" /><Relationship Type="http://schemas.openxmlformats.org/officeDocument/2006/relationships/slide" Target="/ppt/slides/slide6.xml" Id="R36729b9eb639468a" /><Relationship Type="http://schemas.openxmlformats.org/officeDocument/2006/relationships/slide" Target="/ppt/slides/slide7.xml" Id="R591ed841eae44028" /><Relationship Type="http://schemas.openxmlformats.org/officeDocument/2006/relationships/slide" Target="/ppt/slides/slide8.xml" Id="R9fc1dedb509a4ffd" /><Relationship Type="http://schemas.openxmlformats.org/officeDocument/2006/relationships/slide" Target="/ppt/slides/slide9.xml" Id="Rcaee8f4737dd49f7" /><Relationship Type="http://schemas.openxmlformats.org/officeDocument/2006/relationships/slide" Target="/ppt/slides/slide10.xml" Id="R4cb0922a03444f6a" /><Relationship Type="http://schemas.openxmlformats.org/officeDocument/2006/relationships/slide" Target="/ppt/slides/slide11.xml" Id="Rb642ad03da1d4d40" /><Relationship Type="http://schemas.openxmlformats.org/officeDocument/2006/relationships/slide" Target="/ppt/slides/slide12.xml" Id="R284ee31965114235" /><Relationship Type="http://schemas.openxmlformats.org/officeDocument/2006/relationships/slide" Target="/ppt/slides/slide13.xml" Id="Rd64452f76def46e6" /><Relationship Type="http://schemas.openxmlformats.org/officeDocument/2006/relationships/slide" Target="/ppt/slides/slide14.xml" Id="R00f670a42944485a" /><Relationship Type="http://schemas.openxmlformats.org/officeDocument/2006/relationships/slide" Target="/ppt/slides/slide15.xml" Id="Rd17b67701fff4b45" /><Relationship Type="http://schemas.openxmlformats.org/officeDocument/2006/relationships/slide" Target="/ppt/slides/slide16.xml" Id="Rcaada3cc54ab45b8" /><Relationship Type="http://schemas.openxmlformats.org/officeDocument/2006/relationships/slide" Target="/ppt/slides/slide17.xml" Id="R77259b9ed37f43de" /><Relationship Type="http://schemas.openxmlformats.org/officeDocument/2006/relationships/slide" Target="/ppt/slides/slide18.xml" Id="R8dce4f45779e4e1d" /><Relationship Type="http://schemas.openxmlformats.org/officeDocument/2006/relationships/slide" Target="/ppt/slides/slide19.xml" Id="Rd7cc1cd148bf4f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7cfe51a8b0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fef5a529f47ee" /><Relationship Type="http://schemas.openxmlformats.org/officeDocument/2006/relationships/notesMaster" Target="/ppt/notesMasters/notesMaster1.xml" Id="R5c8be6af667044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d9b142dd0747fe" /><Relationship Type="http://schemas.openxmlformats.org/officeDocument/2006/relationships/notesMaster" Target="/ppt/notesMasters/notesMaster1.xml" Id="R7e9cd67b4a1a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a582a2c3dd4e88" /><Relationship Type="http://schemas.openxmlformats.org/officeDocument/2006/relationships/notesMaster" Target="/ppt/notesMasters/notesMaster1.xml" Id="R454dfe76e7d24b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458ab5a7544d7" /><Relationship Type="http://schemas.openxmlformats.org/officeDocument/2006/relationships/notesMaster" Target="/ppt/notesMasters/notesMaster1.xml" Id="Rb56e1d1844f241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2974144fc84048" /><Relationship Type="http://schemas.openxmlformats.org/officeDocument/2006/relationships/notesMaster" Target="/ppt/notesMasters/notesMaster1.xml" Id="R03fd866d84164c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b3289e7a514065" /><Relationship Type="http://schemas.openxmlformats.org/officeDocument/2006/relationships/notesMaster" Target="/ppt/notesMasters/notesMaster1.xml" Id="R87746def99ca45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01f7a9e77e4b9f" /><Relationship Type="http://schemas.openxmlformats.org/officeDocument/2006/relationships/notesMaster" Target="/ppt/notesMasters/notesMaster1.xml" Id="Raf9fa013b45947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d96ac552d45ac" /><Relationship Type="http://schemas.openxmlformats.org/officeDocument/2006/relationships/notesMaster" Target="/ppt/notesMasters/notesMaster1.xml" Id="Rd02d7c2a8ac542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ddf37c40584149" /><Relationship Type="http://schemas.openxmlformats.org/officeDocument/2006/relationships/notesMaster" Target="/ppt/notesMasters/notesMaster1.xml" Id="Rc9eac2539c9c48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586cdb313e4df3" /><Relationship Type="http://schemas.openxmlformats.org/officeDocument/2006/relationships/notesMaster" Target="/ppt/notesMasters/notesMaster1.xml" Id="R21f996bb59354c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f8194d13e04718" /><Relationship Type="http://schemas.openxmlformats.org/officeDocument/2006/relationships/notesMaster" Target="/ppt/notesMasters/notesMaster1.xml" Id="R09291950710243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b5a12d444b4330" /><Relationship Type="http://schemas.openxmlformats.org/officeDocument/2006/relationships/notesMaster" Target="/ppt/notesMasters/notesMaster1.xml" Id="R3bfcc070349d47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5f04128f8d4668" /><Relationship Type="http://schemas.openxmlformats.org/officeDocument/2006/relationships/notesMaster" Target="/ppt/notesMasters/notesMaster1.xml" Id="R5cb3286e96db42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96cb1a0d3245c8" /><Relationship Type="http://schemas.openxmlformats.org/officeDocument/2006/relationships/notesMaster" Target="/ppt/notesMasters/notesMaster1.xml" Id="R621f5b54f8d244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04cb7e59cb4e8d" /><Relationship Type="http://schemas.openxmlformats.org/officeDocument/2006/relationships/notesMaster" Target="/ppt/notesMasters/notesMaster1.xml" Id="R6f43a1c88b7640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3c12dd029d4e5d" /><Relationship Type="http://schemas.openxmlformats.org/officeDocument/2006/relationships/notesMaster" Target="/ppt/notesMasters/notesMaster1.xml" Id="Rb707649d44a642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c176e21b3a94418" /><Relationship Type="http://schemas.openxmlformats.org/officeDocument/2006/relationships/notesMaster" Target="/ppt/notesMasters/notesMaster1.xml" Id="R08d873fa36df4a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fb7efc95824988" /><Relationship Type="http://schemas.openxmlformats.org/officeDocument/2006/relationships/notesMaster" Target="/ppt/notesMasters/notesMaster1.xml" Id="R875af46ce95446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e935eee26f4b29" /><Relationship Type="http://schemas.openxmlformats.org/officeDocument/2006/relationships/notesMaster" Target="/ppt/notesMasters/notesMaster1.xml" Id="Rca37b08ad46c44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Opening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Opening question: How do we separate behavioral reduction from binary coding?</a:t>
            </a:r>
          </a:p>
          <a:p xmlns:a="http://schemas.openxmlformats.org/drawingml/2006/main">
            <a:r>
              <a:t>Outcomes: Refine an output partition to stability | Assign codes after reduction | Compare binary and one-hot implementation costs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Reading map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Learning outcomes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Refine an output partition to stability</a:t>
            </a:r>
          </a:p>
          <a:p xmlns:a="http://schemas.openxmlformats.org/drawingml/2006/main">
            <a:r>
              <a:t>Assign codes after reduction</a:t>
            </a:r>
          </a:p>
          <a:p xmlns:a="http://schemas.openxmlformats.org/drawingml/2006/main">
            <a:r>
              <a:t>Compare binary and one-hot implementation costs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Guiding question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Ask students for an initial answer: How do we separate behavioral reduction from binary coding?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Prerequisite bridge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Output behavior gives an initial partition.</a:t>
            </a:r>
          </a:p>
          <a:p xmlns:a="http://schemas.openxmlformats.org/drawingml/2006/main">
            <a:r>
              <a:t>States in a block must stay compatible under every input.</a:t>
            </a:r>
          </a:p>
          <a:p xmlns:a="http://schemas.openxmlformats.org/drawingml/2006/main">
            <a:r>
              <a:t>State codes are chosen only after the number of states is known.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partition: grouping of states with the same current signature</a:t>
            </a:r>
          </a:p>
          <a:p xmlns:a="http://schemas.openxmlformats.org/drawingml/2006/main">
            <a:r>
              <a:t>refinement: splitting a block by successor blocks</a:t>
            </a:r>
          </a:p>
          <a:p xmlns:a="http://schemas.openxmlformats.org/drawingml/2006/main">
            <a:r>
              <a:t>stable partition: partition that no longer splits</a:t>
            </a:r>
          </a:p>
          <a:p xmlns:a="http://schemas.openxmlformats.org/drawingml/2006/main">
            <a:r>
              <a:t>state assignment: binary or one-hot codes chosen for final states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Plain-language model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Group states by outputs.</a:t>
            </a:r>
          </a:p>
          <a:p xmlns:a="http://schemas.openxmlformats.org/drawingml/2006/main">
            <a:r>
              <a:t>Split any block with different destination-block signatures.</a:t>
            </a:r>
          </a:p>
          <a:p xmlns:a="http://schemas.openxmlformats.org/drawingml/2006/main">
            <a:r>
              <a:t>Repeat to stability, then choose an encoding.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Reference table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Read all columns in the bit order shown. Ask students to predict one row before the worked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Textbook exercise method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Partition states by observable output, then calculate destination-block signatures.</a:t>
            </a:r>
          </a:p>
          <a:p xmlns:a="http://schemas.openxmlformats.org/drawingml/2006/main">
            <a:r>
              <a:t>Split blocks with unequal signatures until the partition stops changing.</a:t>
            </a:r>
          </a:p>
          <a:p xmlns:a="http://schemas.openxmlformats.org/drawingml/2006/main">
            <a:r>
              <a:t>Assign codes to stable classes and compare complete logic and reset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Refine the four-state example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Prompt: Use the state table from Lesson 08. Start with groups of equal Moore output.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P₀={{A,B,C},{D}}.</a:t>
            </a:r>
          </a:p>
          <a:p xmlns:a="http://schemas.openxmlformats.org/drawingml/2006/main">
            <a:r>
              <a:t>Within {A,B,C}, inspect destination blocks for X=0 and X=1.</a:t>
            </a:r>
          </a:p>
          <a:p xmlns:a="http://schemas.openxmlformats.org/drawingml/2006/main">
            <a:r>
              <a:t>A has signature ({A,B,C},{A,B,C}); B and C have ({A,B,C},{D}).</a:t>
            </a:r>
          </a:p>
          <a:p xmlns:a="http://schemas.openxmlformats.org/drawingml/2006/main">
            <a:r>
              <a:t>Split A from {B,C}. Repeating produces no further split.</a:t>
            </a:r>
          </a:p>
          <a:p xmlns:a="http://schemas.openxmlformats.org/drawingml/2006/main">
            <a:r>
              <a:t>Answer: Stable classes are {A}, {B,C}, {D}.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Concept comparison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Binary assignment | Uses fewer storage bits. | Usually needs explicit decoding.</a:t>
            </a:r>
          </a:p>
          <a:p xmlns:a="http://schemas.openxmlformats.org/drawingml/2006/main">
            <a:r>
              <a:t>One-hot assignment | Uses one bit per state. | Often simplifies transition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Interactive model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Advance from output grouping to the stable partition. Then compare binary and one-hot state codes.</a:t>
            </a:r>
          </a:p>
          <a:p xmlns:a="http://schemas.openxmlformats.org/drawingml/2006/main">
            <a:r>
              <a:t>Reveal P₀ and ask students to predict the first split.</a:t>
            </a:r>
          </a:p>
          <a:p xmlns:a="http://schemas.openxmlformats.org/drawingml/2006/main">
            <a:r>
              <a:t>Use destination signatures to justify the split.</a:t>
            </a:r>
          </a:p>
          <a:p xmlns:a="http://schemas.openxmlformats.org/drawingml/2006/main">
            <a:r>
              <a:t>Switch the displayed codes and emphasize that transitions stay the same.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Team activity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Refine the lesson’s initial output partition once. Explain which destination signature separates the states in a split block.</a:t>
            </a:r>
          </a:p>
          <a:p xmlns:a="http://schemas.openxmlformats.org/drawingml/2006/main">
            <a:r>
              <a:t>Deliverable: Before-and-after partitions and one justified split.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Guided example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Prompt: Compare binary and one-hot codes for {A}, {B,C}, {D}.</a:t>
            </a:r>
          </a:p>
          <a:p xmlns:a="http://schemas.openxmlformats.org/drawingml/2006/main">
            <a:r>
              <a:t>First move: Binary needs two flip-flops. One assignment is 00, 01, 10.</a:t>
            </a:r>
          </a:p>
          <a:p xmlns:a="http://schemas.openxmlformats.org/drawingml/2006/main">
            <a:r>
              <a:t>Pause before showing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Assign codes to three reduced states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Steps:</a:t>
            </a:r>
          </a:p>
          <a:p xmlns:a="http://schemas.openxmlformats.org/drawingml/2006/main">
            <a:r>
              <a:t>Binary needs two flip-flops. One assignment is 00, 01, 10.</a:t>
            </a:r>
          </a:p>
          <a:p xmlns:a="http://schemas.openxmlformats.org/drawingml/2006/main">
            <a:r>
              <a:t>One-hot needs three flip-flops. One assignment is 001, 010, 100.</a:t>
            </a:r>
          </a:p>
          <a:p xmlns:a="http://schemas.openxmlformats.org/drawingml/2006/main">
            <a:r>
              <a:t>Write the complete next-state table under each assignment.</a:t>
            </a:r>
          </a:p>
          <a:p xmlns:a="http://schemas.openxmlformats.org/drawingml/2006/main">
            <a:r>
              <a:t>Compare resulting logic and required recovery from invalid codes.</a:t>
            </a:r>
          </a:p>
          <a:p xmlns:a="http://schemas.openxmlformats.org/drawingml/2006/main">
            <a:r>
              <a:t>Answer: The assignment is an implementation choice; both must preserve the three-state transition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Misconception clinic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TEMPTING CLAIM: State codes should be assigned before equivalent states are merged.</a:t>
            </a:r>
          </a:p>
          <a:p xmlns:a="http://schemas.openxmlformats.org/drawingml/2006/main">
            <a:r>
              <a:t>WHY IT FAILS: Reduction can change the number of states and required bits.</a:t>
            </a:r>
          </a:p>
          <a:p xmlns:a="http://schemas.openxmlformats.org/drawingml/2006/main">
            <a:r>
              <a:t>REPAIR: Refine the partition to stability before assigning codes.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Practice questions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Q1: How many flip-flops does binary encoding require for seven states?</a:t>
            </a:r>
          </a:p>
          <a:p xmlns:a="http://schemas.openxmlformats.org/drawingml/2006/main">
            <a:r>
              <a:t>Hint: Find the smallest n with 2ⁿ≥7.</a:t>
            </a:r>
          </a:p>
          <a:p xmlns:a="http://schemas.openxmlformats.org/drawingml/2006/main">
            <a:r>
              <a:t>Answer: Three.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Could A and B share one code if they have the same present output?</a:t>
            </a:r>
          </a:p>
          <a:p xmlns:a="http://schemas.openxmlformats.org/drawingml/2006/main">
            <a:r>
              <a:t>Hint: Use the stable partition, not only P₀.</a:t>
            </a:r>
          </a:p>
          <a:p xmlns:a="http://schemas.openxmlformats.org/drawingml/2006/main">
            <a:r>
              <a:t>Answer: No. They occupy different stable classes because input 1 leads to different output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Practice solutions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Q1: How many flip-flops does binary encoding require for seven states?</a:t>
            </a:r>
          </a:p>
          <a:p xmlns:a="http://schemas.openxmlformats.org/drawingml/2006/main">
            <a:r>
              <a:t>Three.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Q2: Could A and B share one code if they have the same present output?</a:t>
            </a:r>
          </a:p>
          <a:p xmlns:a="http://schemas.openxmlformats.org/drawingml/2006/main">
            <a:r>
              <a:t>No. They occupy different stable classes because input 1 leads to different output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ELEC 335 | Lecture 23 | Week 13</a:t>
            </a:r>
          </a:p>
          <a:p xmlns:a="http://schemas.openxmlformats.org/drawingml/2006/main">
            <a:r>
              <a:t>Closing outcomes</a:t>
            </a:r>
          </a:p>
          <a:p xmlns:a="http://schemas.openxmlformats.org/drawingml/2006/main">
            <a:r>
              <a:t>Reading: Alan B. Marcovitz, Introduction to Logic Design, 3rd ed., Ch. 9 §§9.2–9.4, online chapter pp. 9-10–9-28.</a:t>
            </a:r>
          </a:p>
          <a:p xmlns:a="http://schemas.openxmlformats.org/drawingml/2006/main">
            <a:r>
              <a:t>Companion animation: lesson-09.html</a:t>
            </a:r>
          </a:p>
          <a:p xmlns:a="http://schemas.openxmlformats.org/drawingml/2006/main">
            <a:r>
              <a:t>Refine an output partition to stability</a:t>
            </a:r>
          </a:p>
          <a:p xmlns:a="http://schemas.openxmlformats.org/drawingml/2006/main">
            <a:r>
              <a:t>Assign codes after reduction</a:t>
            </a:r>
          </a:p>
          <a:p xmlns:a="http://schemas.openxmlformats.org/drawingml/2006/main">
            <a:r>
              <a:t>Compare binary and one-hot implementation costs</a:t>
            </a:r>
          </a:p>
          <a:p xmlns:a="http://schemas.openxmlformats.org/drawingml/2006/main">
            <a:r>
              <a:t>Next companion: lesson-10.html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455b2aac142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097f3bc5242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73c85092c43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b97022ae04c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59710c328748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b625ee7024a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5128F7-78BD-4761-89F1-4EC950DE46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91D362-8486-4153-ACC3-6E1E906BF4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BE1A28-8897-4362-86B7-81FE7B7175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433AD9-2A9B-4D37-80C1-F91919517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7DE53F-B703-4135-B838-A4A7892C0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3BB05A-85CA-4C13-A0DF-1605E8653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517104-6421-4BE1-8B79-477239533B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FE018F-D3E0-4B9D-A9E3-D3C1A137E4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EB2740-1DA8-447A-87D4-78DEAC2F4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3160A7-FC1F-4A10-9EFD-6BAF6EC81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12fe3145447ba" /><Relationship Type="http://schemas.openxmlformats.org/officeDocument/2006/relationships/slideLayout" Target="/ppt/slideLayouts/slideLayout1.xml" Id="R036b074ca6fa46df" /><Relationship Type="http://schemas.openxmlformats.org/officeDocument/2006/relationships/slideLayout" Target="/ppt/slideLayouts/slideLayout2.xml" Id="Raeb3a1675166436d" /><Relationship Type="http://schemas.openxmlformats.org/officeDocument/2006/relationships/slideLayout" Target="/ppt/slideLayouts/slideLayout3.xml" Id="R15b3473282d545b7" /><Relationship Type="http://schemas.openxmlformats.org/officeDocument/2006/relationships/slideLayout" Target="/ppt/slideLayouts/slideLayout4.xml" Id="Rdfc5651fa40444c8" /><Relationship Type="http://schemas.openxmlformats.org/officeDocument/2006/relationships/slideLayout" Target="/ppt/slideLayouts/slideLayout5.xml" Id="R63a91268500f4e84" /><Relationship Type="http://schemas.openxmlformats.org/officeDocument/2006/relationships/slideLayout" Target="/ppt/slideLayouts/slideLayout6.xml" Id="R76f39ba7f1fb4c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b074ca6fa46df"/>
    <p:sldLayoutId xmlns:r="http://schemas.openxmlformats.org/officeDocument/2006/relationships" id="2147483650" r:id="Raeb3a1675166436d"/>
    <p:sldLayoutId xmlns:r="http://schemas.openxmlformats.org/officeDocument/2006/relationships" id="2147483651" r:id="R15b3473282d545b7"/>
    <p:sldLayoutId xmlns:r="http://schemas.openxmlformats.org/officeDocument/2006/relationships" id="2147483652" r:id="Rdfc5651fa40444c8"/>
    <p:sldLayoutId xmlns:r="http://schemas.openxmlformats.org/officeDocument/2006/relationships" id="2147483653" r:id="R63a91268500f4e84"/>
    <p:sldLayoutId xmlns:r="http://schemas.openxmlformats.org/officeDocument/2006/relationships" id="2147483654" r:id="R76f39ba7f1fb4c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d5af1527b47df" /><Relationship Type="http://schemas.openxmlformats.org/officeDocument/2006/relationships/image" Target="/ppt/media/image.png" Id="R7597bcf6a8084ba1" /><Relationship Type="http://schemas.openxmlformats.org/officeDocument/2006/relationships/image" Target="/ppt/media/image2.png" Id="R9140f3e2fa3d4ebf" /><Relationship Type="http://schemas.openxmlformats.org/officeDocument/2006/relationships/notesSlide" Target="/ppt/notesSlides/notesSlide1.xml" Id="R068ca06c69124b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3447115a346bd" /><Relationship Type="http://schemas.openxmlformats.org/officeDocument/2006/relationships/image" Target="/ppt/media/image3.png" Id="Rb42a2f635ab041fe" /><Relationship Type="http://schemas.openxmlformats.org/officeDocument/2006/relationships/image" Target="/ppt/media/image4.png" Id="R290808aee6d44e7e" /><Relationship Type="http://schemas.openxmlformats.org/officeDocument/2006/relationships/notesSlide" Target="/ppt/notesSlides/notesSlide2.xml" Id="R31758f8d961245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da73384db44f3" /><Relationship Type="http://schemas.openxmlformats.org/officeDocument/2006/relationships/image" Target="/ppt/media/image5.png" Id="Rb74e30f300584c52" /><Relationship Type="http://schemas.openxmlformats.org/officeDocument/2006/relationships/image" Target="/ppt/media/image6.png" Id="R47c4a5ec68014a7e" /><Relationship Type="http://schemas.openxmlformats.org/officeDocument/2006/relationships/notesSlide" Target="/ppt/notesSlides/notesSlide3.xml" Id="R232e72dd59664d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85d4b136d4d0e" /><Relationship Type="http://schemas.openxmlformats.org/officeDocument/2006/relationships/image" Target="/ppt/media/image7.png" Id="R27e809be00624418" /><Relationship Type="http://schemas.openxmlformats.org/officeDocument/2006/relationships/image" Target="/ppt/media/image8.png" Id="R66e93f848f4c4087" /><Relationship Type="http://schemas.openxmlformats.org/officeDocument/2006/relationships/notesSlide" Target="/ppt/notesSlides/notesSlide4.xml" Id="Rd9e83f8e3e2741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981c2e6644ec5" /><Relationship Type="http://schemas.openxmlformats.org/officeDocument/2006/relationships/image" Target="/ppt/media/image9.png" Id="R2d2e47322cc4458e" /><Relationship Type="http://schemas.openxmlformats.org/officeDocument/2006/relationships/image" Target="/ppt/media/image10.png" Id="R4dec02fd930c42a6" /><Relationship Type="http://schemas.openxmlformats.org/officeDocument/2006/relationships/notesSlide" Target="/ppt/notesSlides/notesSlide5.xml" Id="Rb91229ef2d58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c4e6f6f244f29" /><Relationship Type="http://schemas.openxmlformats.org/officeDocument/2006/relationships/image" Target="/ppt/media/image11.png" Id="R09db769555254ae3" /><Relationship Type="http://schemas.openxmlformats.org/officeDocument/2006/relationships/image" Target="/ppt/media/image12.png" Id="Rdf09fe77531a4b54" /><Relationship Type="http://schemas.openxmlformats.org/officeDocument/2006/relationships/notesSlide" Target="/ppt/notesSlides/notesSlide6.xml" Id="R8b61a6091cc045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5f16bd93b541c2" /><Relationship Type="http://schemas.openxmlformats.org/officeDocument/2006/relationships/image" Target="/ppt/media/image13.png" Id="R41e6cbc673ef49f6" /><Relationship Type="http://schemas.openxmlformats.org/officeDocument/2006/relationships/image" Target="/ppt/media/image14.png" Id="R61b9ebcf8c754637" /><Relationship Type="http://schemas.openxmlformats.org/officeDocument/2006/relationships/notesSlide" Target="/ppt/notesSlides/notesSlide7.xml" Id="R617619fb351f43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fa8c9d5e64cb2" /><Relationship Type="http://schemas.openxmlformats.org/officeDocument/2006/relationships/image" Target="/ppt/media/image15.png" Id="Rcbff29437b9a496d" /><Relationship Type="http://schemas.openxmlformats.org/officeDocument/2006/relationships/image" Target="/ppt/media/image16.png" Id="R572a1c5eb32f42b6" /><Relationship Type="http://schemas.openxmlformats.org/officeDocument/2006/relationships/notesSlide" Target="/ppt/notesSlides/notesSlide8.xml" Id="R3f97b4e62b9e47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1a930109b44b5" /><Relationship Type="http://schemas.openxmlformats.org/officeDocument/2006/relationships/image" Target="/ppt/media/image17.png" Id="Rec7e1f481f4444c2" /><Relationship Type="http://schemas.openxmlformats.org/officeDocument/2006/relationships/image" Target="/ppt/media/image18.png" Id="R2853c860625f4000" /><Relationship Type="http://schemas.openxmlformats.org/officeDocument/2006/relationships/notesSlide" Target="/ppt/notesSlides/notesSlide9.xml" Id="R86b8168254fc46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55ba1912e4dcf" /><Relationship Type="http://schemas.openxmlformats.org/officeDocument/2006/relationships/image" Target="/ppt/media/image19.png" Id="Rc0792c54f19e4021" /><Relationship Type="http://schemas.openxmlformats.org/officeDocument/2006/relationships/image" Target="/ppt/media/image20.png" Id="R7f32cc3c3a2e489a" /><Relationship Type="http://schemas.openxmlformats.org/officeDocument/2006/relationships/notesSlide" Target="/ppt/notesSlides/notesSlide10.xml" Id="R55c3cc0052764f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6eb21d8ed43a8" /><Relationship Type="http://schemas.openxmlformats.org/officeDocument/2006/relationships/image" Target="/ppt/media/image21.png" Id="Ra501f283840741a4" /><Relationship Type="http://schemas.openxmlformats.org/officeDocument/2006/relationships/image" Target="/ppt/media/image22.png" Id="R15bd0a2decc14a62" /><Relationship Type="http://schemas.openxmlformats.org/officeDocument/2006/relationships/notesSlide" Target="/ppt/notesSlides/notesSlide11.xml" Id="R9035aeb630d942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ffb84d227e4643" /><Relationship Type="http://schemas.openxmlformats.org/officeDocument/2006/relationships/image" Target="/ppt/media/image23.png" Id="R9e0f5043536a4e49" /><Relationship Type="http://schemas.openxmlformats.org/officeDocument/2006/relationships/image" Target="/ppt/media/image24.png" Id="Rb5f87b6b900947ba" /><Relationship Type="http://schemas.openxmlformats.org/officeDocument/2006/relationships/notesSlide" Target="/ppt/notesSlides/notesSlide12.xml" Id="R6faf93dcdf1540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178c0b8e84087" /><Relationship Type="http://schemas.openxmlformats.org/officeDocument/2006/relationships/image" Target="/ppt/media/image25.png" Id="R76a431a64bcb4f15" /><Relationship Type="http://schemas.openxmlformats.org/officeDocument/2006/relationships/image" Target="/ppt/media/image26.png" Id="R7647848bb3604a2a" /><Relationship Type="http://schemas.openxmlformats.org/officeDocument/2006/relationships/notesSlide" Target="/ppt/notesSlides/notesSlide13.xml" Id="Raee8ea75abe34a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6b2e7e6fe4b1e" /><Relationship Type="http://schemas.openxmlformats.org/officeDocument/2006/relationships/image" Target="/ppt/media/image27.png" Id="Rfef8167be49e41e9" /><Relationship Type="http://schemas.openxmlformats.org/officeDocument/2006/relationships/image" Target="/ppt/media/image28.png" Id="R36b6582208af4d5b" /><Relationship Type="http://schemas.openxmlformats.org/officeDocument/2006/relationships/notesSlide" Target="/ppt/notesSlides/notesSlide14.xml" Id="R68eb407bb83944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a791158964619" /><Relationship Type="http://schemas.openxmlformats.org/officeDocument/2006/relationships/image" Target="/ppt/media/image29.png" Id="R3ba14297ec3c49f9" /><Relationship Type="http://schemas.openxmlformats.org/officeDocument/2006/relationships/image" Target="/ppt/media/image30.png" Id="R5fc0530860394a63" /><Relationship Type="http://schemas.openxmlformats.org/officeDocument/2006/relationships/notesSlide" Target="/ppt/notesSlides/notesSlide15.xml" Id="R6eac0477eb9440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d0a224bded42c7" /><Relationship Type="http://schemas.openxmlformats.org/officeDocument/2006/relationships/image" Target="/ppt/media/image31.png" Id="R21f27af9c69145df" /><Relationship Type="http://schemas.openxmlformats.org/officeDocument/2006/relationships/image" Target="/ppt/media/image32.png" Id="R54f880459d2740dc" /><Relationship Type="http://schemas.openxmlformats.org/officeDocument/2006/relationships/notesSlide" Target="/ppt/notesSlides/notesSlide16.xml" Id="R7528e11eb91440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31d41364844de" /><Relationship Type="http://schemas.openxmlformats.org/officeDocument/2006/relationships/image" Target="/ppt/media/image33.png" Id="Raf2a6e633f194b2f" /><Relationship Type="http://schemas.openxmlformats.org/officeDocument/2006/relationships/image" Target="/ppt/media/image34.png" Id="Re99c10c4d4574935" /><Relationship Type="http://schemas.openxmlformats.org/officeDocument/2006/relationships/notesSlide" Target="/ppt/notesSlides/notesSlide17.xml" Id="Rd8b18ef6969948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e3b96e6ee4346" /><Relationship Type="http://schemas.openxmlformats.org/officeDocument/2006/relationships/image" Target="/ppt/media/image35.png" Id="R61798b0dc2544c2a" /><Relationship Type="http://schemas.openxmlformats.org/officeDocument/2006/relationships/image" Target="/ppt/media/image36.png" Id="Rb56e93d2d2354b47" /><Relationship Type="http://schemas.openxmlformats.org/officeDocument/2006/relationships/notesSlide" Target="/ppt/notesSlides/notesSlide18.xml" Id="Rc687ef3cb97c41d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83caea21b443e" /><Relationship Type="http://schemas.openxmlformats.org/officeDocument/2006/relationships/image" Target="/ppt/media/image37.png" Id="R3f89eb2097f14506" /><Relationship Type="http://schemas.openxmlformats.org/officeDocument/2006/relationships/image" Target="/ppt/media/image38.png" Id="Rcdfd87abfe9d4be2" /><Relationship Type="http://schemas.openxmlformats.org/officeDocument/2006/relationships/notesSlide" Target="/ppt/notesSlides/notesSlide19.xml" Id="R4e53af20141d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035CC-4E40-4B27-BD86-135FD24B88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7bcf6a8084ba1"/>
          <a:srcRect xmlns:a="http://schemas.openxmlformats.org/drawingml/2006/main" l="28940" t="0" r="289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0"/>
            <a:ext cx="3429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500AB-CFA9-4D81-94B7-F85C463B12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0f3e2fa3d4ebf"/>
          <a:stretch xmlns:a="http://schemas.openxmlformats.org/drawingml/2006/main"/>
        </p:blipFill>
        <p:spPr>
          <a:xfrm xmlns:a="http://schemas.openxmlformats.org/drawingml/2006/main">
            <a:off x="610120" y="457200"/>
            <a:ext cx="627593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602A-C1CB-401E-BE81-0FF1FD5B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9070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ELEC 335  |  Fall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E0CCA-839C-4D37-9863-F8E4513F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38375"/>
            <a:ext cx="778192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42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Partitions and state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0B9EB-93C3-4209-8BE9-4F125DD3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5910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Week 13 · Lecture 1</a:t>
            </a:r>
          </a:p>
          <a:p xmlns:a="http://schemas.openxmlformats.org/drawingml/2006/main">
            <a:pPr algn="l">
              <a:defRPr sz="1800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Chapter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1E115-5D9C-410A-A6C5-D40C09B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8763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64C68-EEF2-4B27-9952-2A7742FA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4238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Digital Logic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25C32-2995-4BD2-8B79-C1EF557A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1980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</p:spTree>
    <p:extLst>
      <p:ext uri="{BB962C8B-B14F-4D97-AF65-F5344CB8AC3E}">
        <p14:creationId xmlns:p14="http://schemas.microsoft.com/office/powerpoint/2010/main" val="258996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833ED-2483-4E67-952A-8915BA66F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2a2f635ab041f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12BE3-77E0-4A12-A9AA-60D24A87D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808aee6d44e7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06326-58F9-405F-A1B2-13E913E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READING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CB08A-6009-4C7B-BE99-4260F205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Where this lecture sits in the course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B836-BAB6-495D-90A5-DC81EBC2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38ABA-2159-42EE-A2A8-106EA4A0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FCA91-745C-4E19-8C9D-5841C7ED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4FBA4-2704-4139-A98E-A2C41EA5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680DF-8DC9-45FA-BE76-FAE03F7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4FE9B-DFB7-4F15-AADA-ECD21A8B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05B80-CFE7-49F7-9817-E9C1F5E3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F575E-437E-4EE7-B81A-8ED65785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0002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6739D-CC9B-422D-9F44-4A86A75C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9526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B9B05-78D8-4383-AA24-6299EF71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88606-07E5-4098-933B-AF441912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004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18499-17AB-4A75-B5BC-016F8093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Interactive companion: Lesson 09, Partitions and state assignment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10683-3086-4380-9054-449E283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DA4BA-3C5D-4047-B060-B4D17F9D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005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7C2EB-E2D4-41D3-A8EE-C19A003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52925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After class: worked examples and practice in the HTML lesson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7C077-97BE-4CFE-A7C6-66AB763A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578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Preparation: read the named section, then use the worked slides to check each design step.</a:t>
            </a:r>
          </a:p>
        </p:txBody>
      </p:sp>
    </p:spTree>
    <p:extLst>
      <p:ext uri="{BB962C8B-B14F-4D97-AF65-F5344CB8AC3E}">
        <p14:creationId xmlns:p14="http://schemas.microsoft.com/office/powerpoint/2010/main" val="377418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5A9A4-CA3D-458D-9471-EA03031402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e30f300584c5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0A145-B64B-43BC-BDE2-396CF0C7C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4a5ec68014a7e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CD87E-E21C-4E60-8730-33EE3164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ECB3C-D4D4-4BB3-ABD0-138D6329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Today's destination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43C0C-3C64-4554-A5EE-B0864C2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6A9C3-4826-4E3D-BF39-CF5C9251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40474-30EE-48D4-924A-4E10971F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98C54-77B1-4565-9D59-95471A81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FFFBA-2ADC-4AB1-8F6A-C98AE973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CD8C9-6C87-4D88-9B6A-796A5F4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BE1B3-14B5-49DD-8712-767F3E33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143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C4F5C-6194-4DCD-B15D-8657E967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8659D-DBF4-481B-92CA-C1342525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914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Refine an output partition to 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A3407-C87D-48BA-9085-83408FF8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F3C7F-7B62-482C-908B-BA58F54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57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Assign codes after reduction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0BE62D-C7C1-4AB1-9607-BFDD1488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6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B49EB-BBA2-4501-9E9D-DBA99CE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00525"/>
            <a:ext cx="8953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binary and one-hot implementation costs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2B79F-2E09-41C9-ACB7-1AB02AA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5530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484342"/>
                </a:solidFill>
                <a:latin typeface="Tahoma"/>
                <a:ea typeface="Tahoma"/>
                <a:cs typeface="Tahoma"/>
              </a:rPr>
              <a:t>Course outcome: State reduction and state assignment</a:t>
            </a:r>
          </a:p>
        </p:txBody>
      </p:sp>
    </p:spTree>
    <p:extLst>
      <p:ext uri="{BB962C8B-B14F-4D97-AF65-F5344CB8AC3E}">
        <p14:creationId xmlns:p14="http://schemas.microsoft.com/office/powerpoint/2010/main" val="20216032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3B8AC-85B5-4D4F-98CE-525EBA05D5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809be00624418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40A60-EDAB-4950-800F-92BCEC432C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93f848f4c408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4BEFC-49B3-4736-AC24-FDB2D8CF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BIG PICTURE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D3B49-9C26-48E2-A0FD-8E5C4AC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question that organizes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E4988-9C0D-4547-8018-3A82288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3B8CE-7886-4C86-ABAA-8594A5C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5B53D-4980-4A02-8876-49F00F38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DE8C3-FDD6-4C9A-9419-4D4DB109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B245E-9EFD-472D-BF54-475F340B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550FF-9616-40D3-BD0D-29FD76E7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97CEF-E037-40D8-963E-DF79E798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102108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560C8-5181-45CF-B2B2-D976F700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162175"/>
            <a:ext cx="876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do we separate behavioral reduction from binary coding?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49EEE-6591-4FED-AB09-C3BC8D86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05350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Keep this question in view as the circuit models and examples develop.</a:t>
            </a:r>
          </a:p>
        </p:txBody>
      </p:sp>
    </p:spTree>
    <p:extLst>
      <p:ext uri="{BB962C8B-B14F-4D97-AF65-F5344CB8AC3E}">
        <p14:creationId xmlns:p14="http://schemas.microsoft.com/office/powerpoint/2010/main" val="1236816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CAC8F9-9105-43A3-88E6-C7221D273C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e47322cc4458e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7F017-6DB5-4C3D-B7D9-1940C332B3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c02fd930c42a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ED892-0AED-46A2-BDC5-079B9D2B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PREREQUISITE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3329D-5B90-4332-93DD-9C5A5621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Start from what you already know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2079A-39FF-4A9C-8579-BEF5CE6A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3D4A1-096D-4CE0-991E-21583A1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58A8D-AF79-45F7-AC03-F3DA32A5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23C6E-B184-41F2-B45D-25E7591E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8F4B2-5B15-4B26-A505-D40DBE95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AD528-3B2F-4574-9BD1-FB45350C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5350D-8E53-40EC-8E59-FC76E46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C15A9-C31B-4B66-AB96-36997E21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4785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A11C6-62EE-4771-8FF9-D18176E9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7165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Output behavior gives an initial partition.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D5800-1547-474E-8BBA-2E7534A8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5D392-48DE-452B-B376-6D2660BC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9484F-D1BD-4259-8F90-89086090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943225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States in a block must stay compatible under every input.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AC654-E8AE-44E7-A092-FC374E6E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C1F79-595E-4287-816D-87F5C748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91000"/>
            <a:ext cx="3905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1E3B8-9F7A-4B68-999F-816DED58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114800"/>
            <a:ext cx="914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codes are chosen only after the number of states is known.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39ADA-D068-468C-AEC0-0DF1D94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Turn to a partner: explain one statement without reading it aloud.</a:t>
            </a:r>
          </a:p>
        </p:txBody>
      </p:sp>
    </p:spTree>
    <p:extLst>
      <p:ext uri="{BB962C8B-B14F-4D97-AF65-F5344CB8AC3E}">
        <p14:creationId xmlns:p14="http://schemas.microsoft.com/office/powerpoint/2010/main" val="531118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69A16-AFCC-4A8E-8415-13A160BAB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b769555254ae3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14546-6DF4-4307-B94B-1A208E1A0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9fe77531a4b54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C1035-5824-4D45-A398-4BECB564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VOCABULARY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D1753-002D-4C0A-AD8B-87817A49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Four words to make precise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9B215-C9D9-45D6-9020-6D3BEF81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DD6EF-93F2-43B4-A05A-9B24EB03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D82B9-4E27-4A1E-A15D-609B8089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54109-C472-4702-ACA0-9B753257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F23E1-0AD6-420A-9B94-41BA9E79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B9207-CF34-4186-8F64-F83D08B8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DC0FD-41AE-4C95-8648-F69139BC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EB104-7829-4F33-A3C2-BE982B16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partition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FAF1C-1C25-4E01-BCA8-93CE5FD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grouping of states with the same current signature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3D79A-9576-485D-A82D-376A6973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5260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5CCEB-3FF6-473A-81BF-E207347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431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refinement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8D4E5-0541-4DAA-A736-683C7F27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4792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splitting a block by successor blocks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4F5B9-3F95-42A2-AF4A-8D34C49F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DC11D-5927-44FF-B07F-C673B940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stable partition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E8D9A2-99DD-4B09-BA00-F5ED7DD9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partition that no longer splits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C9A31-7D2E-4B7D-A9C9-3AB835E3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5857C-22F0-4B4F-9FCA-EFEE5A52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671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state 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58223-8DFB-44E3-AD80-04B3C80D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71975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or one-hot codes chosen for final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0F431-66C1-4DC3-8C14-BE26C950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91175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Use each term when explaining the circuit, table, or timing trace.</a:t>
            </a:r>
          </a:p>
        </p:txBody>
      </p:sp>
    </p:spTree>
    <p:extLst>
      <p:ext uri="{BB962C8B-B14F-4D97-AF65-F5344CB8AC3E}">
        <p14:creationId xmlns:p14="http://schemas.microsoft.com/office/powerpoint/2010/main" val="10596036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4B632-22B4-40A4-84EF-F75FB08F7C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6cbc673ef49f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54679-6945-4ADD-AC1B-DB1ADC6C42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9ebcf8c75463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99905-C5EC-4A4E-9D7A-1E2E8800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PLAIN-LANGUAGE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71D48-1905-4332-9A2F-98E6AA28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258A7-8F84-46EC-B960-6D6BEAF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313A7-2E91-4E57-8DC1-0506F9AB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E6003-EB39-4B74-B166-AB0205DB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5FDDD-01B3-49E0-A553-0769947E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92CB-14E4-454B-9F89-001E6AA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318BC-CB46-4ABB-AE2C-4B1773E2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6344F-ED1A-4BF2-823A-7FF09E7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D6513-7081-47EA-BDF9-B15B684A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6212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Group states by outputs.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79FA9-1EF1-4849-B566-AF2F7FA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1577A-1B1C-4AF7-90F4-ACE9C2C0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19400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Split any block with different destination-block signatures.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72BCA-97CB-476F-B16C-690E1690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9DD69-1787-4C26-A7BD-AA158D51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76675"/>
            <a:ext cx="923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Repeat to stability, then choose an encoding.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FF48D-9778-482A-A792-40E80F0A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38725"/>
            <a:ext cx="97821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6155F4-CE61-4E15-B4C6-8D710725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53025"/>
            <a:ext cx="8924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How do we separate behavioral reduction from binary coding?</a:t>
            </a:r>
          </a:p>
        </p:txBody>
      </p:sp>
    </p:spTree>
    <p:extLst>
      <p:ext uri="{BB962C8B-B14F-4D97-AF65-F5344CB8AC3E}">
        <p14:creationId xmlns:p14="http://schemas.microsoft.com/office/powerpoint/2010/main" val="1346058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5A091-DE7A-4B9B-BF64-5BC9A53E8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f29437b9a496d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C6253-1070-4C8A-97F9-6EEF1F87C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a1c5eb32f42b6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860A-8190-4E52-B261-1F4DF5C1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CE0C3-1AB4-4206-92C0-B764863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The table to keep beside the 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B45CB-B131-4AA1-A315-45D1BAA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80A52-50E5-4A46-A083-0CF692C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D877D-D7AE-4A55-99CA-CA837A0D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37F39-06CE-4365-AC6B-098DED3C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91189-BEE9-4AC7-BAAE-0FC5BEA4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C8485-B658-48C5-9BA0-C5C2AE65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FAFE7-88AD-4004-97BC-B02559D581F6}"/>
              </a:ext>
            </a:extLst>
          </p:cNvPr>
          <p:cNvGraphicFramePr/>
          <p:nvPr/>
        </p:nvGraphicFramePr>
        <p:xfrm>
          <a:off xmlns:a="http://schemas.openxmlformats.org/drawingml/2006/main" x="771525" y="1790700"/>
          <a:ext xmlns:a="http://schemas.openxmlformats.org/drawingml/2006/main" cx="10591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95900"/>
                <a:gridCol w="5295900"/>
              </a:tblGrid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Partition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T w="9525">
                      <a:solidFill>
                        <a:srgbClr val="333333"/>
                      </a:solidFill>
                      <a:prstDash val="solid"/>
                    </a:lnT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00263E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P₀ (output)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{A,B,C} | {D}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P₁ (successor signatures)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{A} | {B,C} | {D}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3F1ED"/>
                    </a:solidFill>
                  </a:tcPr>
                </a:tc>
              </a:tr>
              <a:tr h="542925"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P₂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333333"/>
                      </a:solidFill>
                      <a:prstDash val="solid"/>
                    </a:lnL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47625" rIns="66675" bIns="47625">
                      <a:normAutofit/>
                    </a:bodyPr>
                    <a:lstStyle/>
                    <a:p>
                      <a:pPr algn="ctr"/>
                      <a:r>
                        <a:rPr sz="1425" b="0">
                          <a:solidFill>
                            <a:srgbClr val="1E252B"/>
                          </a:solidFill>
                          <a:latin typeface="Tahoma"/>
                          <a:ea typeface="Tahoma"/>
                          <a:cs typeface="Tahoma"/>
                        </a:rPr>
                        <a:t>No further split: stable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333333"/>
                      </a:solidFill>
                      <a:prstDash val="solid"/>
                    </a:lnR>
                    <a:lnB w="9525">
                      <a:solidFill>
                        <a:srgbClr val="33333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A3BDE-BA2F-457F-885F-7300894A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10200"/>
            <a:ext cx="8801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Name the bit order and control conditions before using a row.</a:t>
            </a:r>
          </a:p>
        </p:txBody>
      </p:sp>
    </p:spTree>
    <p:extLst>
      <p:ext uri="{BB962C8B-B14F-4D97-AF65-F5344CB8AC3E}">
        <p14:creationId xmlns:p14="http://schemas.microsoft.com/office/powerpoint/2010/main" val="1678530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14EF0-2009-4DB3-84A4-20A800C2F8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e1f481f4444c2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0F1ED-B256-48B5-AE65-83871CC60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3c860625f4000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90654-1855-4F3A-BD19-9EE6D040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582D9-1275-4199-BA88-342549D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reliable procedure for exercises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A3FB0-3CC7-4961-AF14-9D590319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EB82D-6C98-4613-962B-2ACCDFA8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77861-AD77-475A-B551-84CF02A0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619A9-4090-49AF-A036-EBA60E96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A4895-1197-49D6-A5CB-E90C00C1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C2D9D-7087-484F-BC58-0F2AF0DF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51E96-5650-48BF-9962-05978C6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CACBE-6FD2-47E0-865E-2BA41883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621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A6966-C82A-4E1C-B2AB-7C6516AE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Partition states by observable output, then calculate destination-block signatures.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AFC20-D5CE-4792-A687-693DCC5D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FF1E8-7C81-4AB0-80BD-277BC10C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0289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92B7B-4FA2-4FF1-BD5F-0753F15E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241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Split blocks with unequal signatures until the partition stops changing.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EEB65-BD19-4F31-A2AF-B1E6D22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195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16AFD-8714-466B-8AD5-EDC51708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42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2B7BA-929C-42F3-B6B3-D56A0268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90975"/>
            <a:ext cx="9315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Assign codes to stable classes and compare complete logic and reset costs.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09AC1-8693-4E72-A645-8B1F1825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953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C6693-8ECC-4627-BED0-C81236E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14950"/>
            <a:ext cx="847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Complete the table or trace, then verify the circuit one row at a time.</a:t>
            </a:r>
          </a:p>
        </p:txBody>
      </p:sp>
    </p:spTree>
    <p:extLst>
      <p:ext uri="{BB962C8B-B14F-4D97-AF65-F5344CB8AC3E}">
        <p14:creationId xmlns:p14="http://schemas.microsoft.com/office/powerpoint/2010/main" val="1563952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C739A-364F-4531-B775-D86D20162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92c54f19e4021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6C9C1-E087-4C9B-8514-B55907848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2cc3c3a2e489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DB067-F73B-4498-BA1D-47C551F8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WORKED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D0A9B-A540-4EF1-8283-E33AD45B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Refine the four-state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D5CB5-087B-41B8-9894-37937724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B6D3A-979C-470A-8B97-63546293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68A68-89D7-4E7B-BD32-21188912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CF6C6-C0DE-402C-953A-096168D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27F52-65CA-42FA-8F68-F37DE30E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984A5-C0DB-48E7-8A81-921D2088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057F8-404F-4A25-A9DD-8BA533E5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76400"/>
            <a:ext cx="107537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EB7E0-50E3-4625-B94A-86A3979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81175"/>
            <a:ext cx="1021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Use the state table from Lesson 08. Start with groups of equal Moore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84E40-2DB6-4C32-962B-1AC0F287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8130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70B29A-5F88-4B44-8504-F75C06C8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6225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P₀={{A,B,C},{D}}.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2D541-9758-434D-ACE0-19207AEF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0517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DC659-74ED-4927-90D8-5FE81979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28612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Within {A,B,C}, inspect destination blocks for X=0 and X=1.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69F3A-6B21-4BE2-B9BA-5716AB7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926A4-4099-4C2E-850B-814E246C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10000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 has signature ({A,B,C},{A,B,C}); B and C have ({A,B,C},{D}).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DF0B4-5A85-4EFC-9129-71A65F52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52925"/>
            <a:ext cx="44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18D02-C67D-40C2-AE30-AC69B1C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33875"/>
            <a:ext cx="9525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Split A from {B,C}. Repeating produces no further split.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0C799-207C-481E-809C-BD4D31C2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14AF47-2B8A-4D3D-B921-87DB5000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Stable classes are {A}, {B,C}, {D}.</a:t>
            </a:r>
          </a:p>
        </p:txBody>
      </p:sp>
    </p:spTree>
    <p:extLst>
      <p:ext uri="{BB962C8B-B14F-4D97-AF65-F5344CB8AC3E}">
        <p14:creationId xmlns:p14="http://schemas.microsoft.com/office/powerpoint/2010/main" val="370200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9705A-A7AD-440F-A9A9-CE4822528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1f283840741a4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B0C84-2E6D-46CA-9191-DA110F11CC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d0a2decc14a6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6C3A0-CB10-4E22-B824-F702745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92EFE-7B4F-4D86-A0D1-93B7A93C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Two designs to 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1EDC-D2AE-4757-AC75-941E330C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5050B-85EF-4203-9272-4D90F036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F753C-589E-484F-B09D-DE9AFCE4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55D78-E995-40CA-8947-0DDE6097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37829-07E1-4655-8ABC-68DC806D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48639-84AE-408E-B182-7111614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305803-B96D-4C51-B3EE-8425442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19050" cy="2943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A0B0A-0544-445E-A78F-FB47914D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Binary assignment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98FBB-4D6C-4181-B028-8746296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Uses fewer storage bits.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0817-B5BF-4336-A356-CC2DAFEA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Usually needs explicit decoding.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DAB81-6E57-41B9-9F6F-2CD881C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81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One-hot assignment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83BED-D1CA-455A-9B26-541A1B22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431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Uses one bit per state.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1DCF2-DAA6-40E0-B7FD-81FDCFA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857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Often simplifies transition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191E2-0D6E-4755-895E-AB5784D6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E6407-5E9D-456D-89C6-E5C8ED0A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53025"/>
            <a:ext cx="962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Explain the difference using behavior and timing, then test one case.</a:t>
            </a:r>
          </a:p>
        </p:txBody>
      </p:sp>
    </p:spTree>
    <p:extLst>
      <p:ext uri="{BB962C8B-B14F-4D97-AF65-F5344CB8AC3E}">
        <p14:creationId xmlns:p14="http://schemas.microsoft.com/office/powerpoint/2010/main" val="2100490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D204A5-DBD5-4F94-BE9E-BFE9D3553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f5043536a4e4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38072-6EB2-436F-9453-DBE3D2D8E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87b6b900947b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841EA-9B49-4837-B5D9-24EF65E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INTERACTIVE COMPANION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E2BE5-9469-411B-8015-E9C27495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Partition refinement and encoding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A2CA4-2C8E-41B9-949E-A434C358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1EEB4-ED19-4A3B-ACA0-2D7AB9C1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979E3-0A7C-431F-A75A-7ED7D3F4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17316-63FA-4C93-AA89-5FF011EA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08737-8E49-4AA7-8C15-E0E7D14C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F0A5E-C4E0-42F8-9837-D055A8C2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4AEFF-9138-4571-92C1-B5B4CA9B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0861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72B32-0AA3-4E36-B4B4-E6D92DA0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95600"/>
            <a:ext cx="28765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{A,B,C}  {D}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A72E3-28F9-4331-A034-A501633F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914650"/>
            <a:ext cx="74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6F3A7-66F7-4ABB-B9B9-ED30561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19400"/>
            <a:ext cx="36099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35C2E-3846-446B-97BE-1C197A89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3400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{A}  {B,C}  {D}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985B3-1AA2-44B7-A6F1-8AE4E63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91000"/>
            <a:ext cx="8267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Refine until every block has one successor signature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E6270-C15B-4B13-924D-C327601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529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Advance from output grouping to the stable partition. Then compare binary and one-hot state codes.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6290D-015B-496F-AA60-4A6E437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14975"/>
            <a:ext cx="9334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Open lesson-09.html for the animated model and state-by-state controls.</a:t>
            </a:r>
          </a:p>
        </p:txBody>
      </p:sp>
    </p:spTree>
    <p:extLst>
      <p:ext uri="{BB962C8B-B14F-4D97-AF65-F5344CB8AC3E}">
        <p14:creationId xmlns:p14="http://schemas.microsoft.com/office/powerpoint/2010/main" val="1983404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9FDB6-6AAF-469F-82A1-410322A0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0505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1B9C6-BF31-4A13-9257-E4617AF5B8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431a64bcb4f15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B8764-B078-44BC-86CA-C52D54CFD8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7848bb3604a2a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46867-0E07-4248-B276-10774E41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79057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3089D-20E7-4087-95D4-7174173B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04975"/>
            <a:ext cx="1238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L23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TEAM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293BB-F4F4-46FD-9DA9-C0E7A091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781050"/>
            <a:ext cx="7877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Apply the method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E427B-BC62-4795-833D-5E33BEB3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90725"/>
            <a:ext cx="828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Refine the lesson’s initial output partition once. Explain which destination signature separates the states in a split block.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9D5CF-D3E6-42E6-93AD-A059FEB0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62325"/>
            <a:ext cx="79914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Partition states by observable output, then calculate destination-block signatures.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557A4-7FCE-4CC4-BC1B-6717CA08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8160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692A2-4088-4F9D-8D4E-57C125F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91150"/>
            <a:ext cx="1590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DELIVERABLE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FAAB9-0FB4-47B2-BBB1-BBE7B823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67325"/>
            <a:ext cx="6200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Before-and-after partitions and one justified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66149-DED6-462A-A560-FB455EC0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15050"/>
            <a:ext cx="9886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F4306-3A5E-4965-8D5F-77FF2CE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143625"/>
            <a:ext cx="862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15E5D-D557-40C3-939B-DA4AC64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L23  |  Week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A8291-69A8-468B-9165-960D27D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42937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Digital Logic Design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0DBDD-6D07-4B15-B8CD-43C78B19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12E9B-B3E7-455E-B4F1-C6E54375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17723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FD849-F138-4947-8570-D7E1E9C6C0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8167be49e41e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130D1-5A01-472F-941A-806E74956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6582208af4d5b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808CA-E5A2-4234-BAD6-A8F815B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GUIDED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77535-44E0-4E62-9828-B34D6A26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Try the first move before 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DA299-9549-4667-A1C6-F37B7B61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44FF4-AED9-4DB3-BB2F-5C37FE6C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55F8E-797C-4F24-AC44-29C26262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33563-4B32-488B-83F0-9B0337F0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04614-51E1-4687-AA30-6118E11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8A932-49CA-4AA4-9289-C307B76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6841C-407D-4CA4-B1C7-DE9D7A0A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1628775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DEDE5-3EE2-43E7-8C78-96CC46ED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914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23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Compare binary and one-hot codes for {A}, {B,C}, {D}.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263774-0189-4043-A760-8D182597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971925"/>
            <a:ext cx="4067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YOUR FIRST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471BA-01E8-45FB-A174-1569AA9D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05300"/>
            <a:ext cx="8858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needs two flip-flops. One assignment is 00, 01, 10.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0519D-1C6B-48A9-91CA-501ECD03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429250"/>
            <a:ext cx="881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Pause for 60–90 seconds. Write, then compare with a partner.</a:t>
            </a:r>
          </a:p>
        </p:txBody>
      </p:sp>
    </p:spTree>
    <p:extLst>
      <p:ext uri="{BB962C8B-B14F-4D97-AF65-F5344CB8AC3E}">
        <p14:creationId xmlns:p14="http://schemas.microsoft.com/office/powerpoint/2010/main" val="5616123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714DF4-19E8-4298-856F-44B373075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14297ec3c49f9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11AAA-34E7-44BF-84AD-98B2FAF6A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0530860394a63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F23AD-101E-4C54-B584-2E86E638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GUIDED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B5736-259C-45DC-B12C-FA148C77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Now make every step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F4D8D-C5C7-4C09-BF02-55D32433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13A70-8B0A-4F29-87F5-4B324600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164F2-1E4B-4023-97F7-346C99C0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A6CC1-D077-409C-8A53-AFA02E6D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A6FF0-AE68-492A-8A2E-3E3D0B43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3D9BE-937D-48FB-9081-FE7E674C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834CE-7F73-481E-A93D-A79697F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240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D6758-4BAB-4CE1-8891-1ECCB776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7526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2347F-7E52-47EA-BF02-2B5C8A74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6764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Binary needs two flip-flops. One assignment is 00, 01, 10.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53B42-F2B6-4773-BE96-708AB879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4C959-569C-48A7-9200-2EAADF86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336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7F379-753F-4CE3-A556-D3A240CD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4574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One-hot needs three flip-flops. One assignment is 001, 010, 100.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0093D-2501-4AA4-82D0-1A706C7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DBE091-F7E0-478A-A0A3-58CA551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1470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30C16-9B72-406B-A17B-C9321E0D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23850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Write the complete next-state table under each assignment.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E8189-BD08-4E18-A859-50F677D9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523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F81D8-C747-4609-B908-3D22B0DA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371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7BB6B-9230-461D-A331-7FDA074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19550"/>
            <a:ext cx="916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resulting logic and required recovery from invalid codes.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DCA705-E9CB-45A8-9E36-CEF858BE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993457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9EF5B-4931-42F5-ABB9-39C9C2CA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72075"/>
            <a:ext cx="9001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The assignment is an implementation choice; both must preserve the three-state transition behavior.</a:t>
            </a:r>
          </a:p>
        </p:txBody>
      </p:sp>
    </p:spTree>
    <p:extLst>
      <p:ext uri="{BB962C8B-B14F-4D97-AF65-F5344CB8AC3E}">
        <p14:creationId xmlns:p14="http://schemas.microsoft.com/office/powerpoint/2010/main" val="16859162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5960D-A313-4E8E-A9E4-1D83930EA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f27af9c69145df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D4087-2546-433C-97B5-EB1334AF9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880459d2740dc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3995C-B1EF-4CEA-97DC-6232B381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MISCONCEPTION CLINIC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287D9-4429-4EB3-9D3B-1AE96BB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A tempting mistake to remove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1CC29-84CA-46D0-9B9B-7442DF0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5F1AF-AAAF-400C-8B4C-190F9C0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A16C2-C3B9-4477-8C87-A41D176E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A6E94-98E9-4540-885D-7428D977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BC7E2-5A12-445D-9C56-5BB1A4EA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3F5B1-6DB3-4141-9585-A40585E4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D7897-3C81-42B9-9680-DD9020E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20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99402-691D-4BD4-91B3-2124BE53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145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TEMPTING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12B91-CD3F-4593-903D-D5BA9E2E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764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State codes should be assigned before equivalent states are merged.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59CB7-1087-4616-85F5-B74535F9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11EB4-7F4A-46F2-9DFB-0C6C977B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718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E5AB52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E5AB52"/>
                </a:solidFill>
                <a:latin typeface="Tahoma"/>
                <a:ea typeface="Tahoma"/>
                <a:cs typeface="Tahoma"/>
              </a:rPr>
              <a:t>WHY IT FAILS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8214F-2388-4874-8C1A-91A44C96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337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Reduction can change the number of states and required bits.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C0775-C32F-433A-96E3-C75E7C4E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439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263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221C5-C523-4676-A52E-F29FDB11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29125"/>
            <a:ext cx="2038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REPAIR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7D9BA-D880-465D-A639-2277B377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91025"/>
            <a:ext cx="7677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Refine the partition to stability before assigning codes.</a:t>
            </a:r>
          </a:p>
        </p:txBody>
      </p:sp>
    </p:spTree>
    <p:extLst>
      <p:ext uri="{BB962C8B-B14F-4D97-AF65-F5344CB8AC3E}">
        <p14:creationId xmlns:p14="http://schemas.microsoft.com/office/powerpoint/2010/main" val="4144969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1F9AF-BDF9-4E27-9476-1DA2220E0A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a6e633f194b2f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F2603-E046-4B13-8622-B724C2730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c10c4d4574935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4D0F2-1999-4006-B9CE-31CDC8D5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ONE-MINUTE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2A7A7E-0189-421A-80DF-D88CA33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Close the book: can you apply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E002-EB7F-4B57-A288-8CF621D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F0FC4-6787-4C11-96D1-E4A8AA1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A30AB-A48E-4AC2-ACEF-8800E8D6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067AB-5DEE-4EE3-858C-8ABB0AA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25356-7048-4540-8626-0217805F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266B9-3185-4F8F-8C4D-FA9028A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12C23-F764-4778-96F2-3C449D11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376DC-F1D6-4EB7-9361-5DC24686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How many flip-flops does binary encoding require for seven states?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CA97A-8BFF-4241-A4AD-3A11B722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657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639A3-9CF4-49F6-A4FD-7F1532F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9296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Could A and B share one code if they have the same present output?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FDD20-1F96-4E7F-B0B5-EBE8C79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8640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Answer without notes, then compare your reasoning with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8729618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13C27F-8748-4237-B7EC-24732465A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98b0dc2544c2a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50F0C-0F91-44A1-90CA-BD9D05D08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e93d2d2354b47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ADAE6-5D75-4F22-A87E-135884AC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PRACTICE SOLUTIONS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7FF3F-CC08-4BAE-80B8-EB00E0EA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Check the rule behind each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9B0AD-7406-4833-B473-9152B30F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600DB-B6A0-4CD5-A808-DF5B79E6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1FA48-863A-4A1E-BB05-535B7493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89071-C5F9-4B83-8BD2-4BF01B1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49C1C-C912-4CAD-AF9C-84268EC9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E0A0A9-7C98-4541-8710-942C5980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5D486-1FEB-46EE-9988-AD557A5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82F1A-5D61-4786-A70C-C6413A93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4787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7560A-0486-438C-9A8C-74805671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5740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Three.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5BEDC-ABD0-4A98-B2BC-EBE7B5C6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C9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B857F-0DC4-44D0-8734-2C722B4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857625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Q2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1C014-1CCF-4B59-977A-6D4CDDF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67150"/>
            <a:ext cx="885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No. They occupy different stable classes because input 1 leads to different output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797B8-538B-4236-8BEE-7084826B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553075"/>
            <a:ext cx="86963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Return to the reference table if your answer used a different rule.</a:t>
            </a:r>
          </a:p>
        </p:txBody>
      </p:sp>
    </p:spTree>
    <p:extLst>
      <p:ext uri="{BB962C8B-B14F-4D97-AF65-F5344CB8AC3E}">
        <p14:creationId xmlns:p14="http://schemas.microsoft.com/office/powerpoint/2010/main" val="875683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172E1-A277-4D3F-95CC-E2E2A68CC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9eb2097f14506"/>
          <a:srcRect xmlns:a="http://schemas.openxmlformats.org/drawingml/2006/main" l="0" t="23428" r="0" b="234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15525" y="0"/>
            <a:ext cx="2276475" cy="1019175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2B5BB-12D0-4B9D-B265-40C26364FB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d87abfe9d4be2"/>
          <a:stretch xmlns:a="http://schemas.openxmlformats.org/drawingml/2006/main"/>
        </p:blipFill>
        <p:spPr>
          <a:xfrm xmlns:a="http://schemas.openxmlformats.org/drawingml/2006/main">
            <a:off x="8422741" y="228600"/>
            <a:ext cx="3137967" cy="514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39BA0-E2D2-44B7-86E5-F4D944B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"/>
            <a:ext cx="723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L23 ·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2A2F5-3059-4991-BDEB-D58D2873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971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3225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What should stay with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EDD4F-5BFF-4430-9393-DF398413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485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3D905-5A92-4BBF-AD2D-2C49D9FE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B609C-63DC-4DD5-8B6C-97A30D00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90F1C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A90F1C"/>
                </a:solidFill>
                <a:latin typeface="Tahoma"/>
                <a:ea typeface="Tahoma"/>
                <a:cs typeface="Tahoma"/>
              </a:rPr>
              <a:t>Textbook: Ch. 9 §§9.2–9.4, online chapter pp. 9-10–9-28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BF0B4-C993-4DBA-BCF6-F94DCD0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29375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ELEC 335  |  L23  |  Week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8A277-F148-4D95-B153-FD55B191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484342"/>
                </a:solidFill>
                <a:latin typeface="Tahoma"/>
                <a:ea typeface="Tahoma"/>
                <a:cs typeface="Tahoma"/>
              </a:defRPr>
            </a:pPr>
            <a:r>
              <a:rPr sz="975" b="0">
                <a:solidFill>
                  <a:srgbClr val="484342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EAADA-306B-4752-BDB8-D047A5A6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E8DC0-190A-40E9-945C-6337E92A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2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47B06-EA29-4913-82D8-1E90CAA2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52B"/>
                </a:solidFill>
                <a:latin typeface="Tahoma"/>
                <a:ea typeface="Tahoma"/>
                <a:cs typeface="Tahoma"/>
              </a:rPr>
              <a:t>Refine an output partition to stability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5CD2F-676C-4AE4-8E03-DEF7884A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CFDB4-0742-445D-92ED-B2CDF4DD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432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Assign codes after reduction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A7D17-34D7-4133-AB03-5A8A7CBC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047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C1045-740F-48D6-8CDB-7EF9B569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33800"/>
            <a:ext cx="985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252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52B"/>
                </a:solidFill>
                <a:latin typeface="Tahoma"/>
                <a:ea typeface="Tahoma"/>
                <a:cs typeface="Tahoma"/>
              </a:rPr>
              <a:t>Compare binary and one-hot implementation costs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EDAD7-DB7E-4D70-AA4A-903C99E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72050"/>
            <a:ext cx="9725025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3F1ED"/>
          </a:solidFill>
          <a:ln xmlns:a="http://schemas.openxmlformats.org/drawingml/2006/main" w="19050">
            <a:solidFill>
              <a:srgbClr val="E5AB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53A56-A1D9-4D74-8604-CB0E615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81600"/>
            <a:ext cx="962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D3202E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D3202E"/>
                </a:solidFill>
                <a:latin typeface="Tahoma"/>
                <a:ea typeface="Tahoma"/>
                <a:cs typeface="Tahoma"/>
              </a:rPr>
              <a:t>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71F1E-2925-4428-9F00-0BDBABA1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78581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0263E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00263E"/>
                </a:solidFill>
                <a:latin typeface="Tahoma"/>
                <a:ea typeface="Tahoma"/>
                <a:cs typeface="Tahoma"/>
              </a:rPr>
              <a:t>Next: Integrated sequential design workshop. Use lesson-10.html to preview its model.</a:t>
            </a:r>
          </a:p>
        </p:txBody>
      </p:sp>
    </p:spTree>
    <p:extLst>
      <p:ext uri="{BB962C8B-B14F-4D97-AF65-F5344CB8AC3E}">
        <p14:creationId xmlns:p14="http://schemas.microsoft.com/office/powerpoint/2010/main" val="1069515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2026-10-13T11:24:55.5480000Z</dcterms:created>
  <dcterms:modified xsi:type="dcterms:W3CDTF">2026-10-13T11:24:55.5480000Z</dcterms:modified>
</coreProperties>
</file>