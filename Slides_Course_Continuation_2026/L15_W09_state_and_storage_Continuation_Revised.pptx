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fb845852a48b8" /><Relationship Type="http://schemas.openxmlformats.org/officeDocument/2006/relationships/extended-properties" Target="/docProps/app.xml" Id="Rab7de5e67e324594" /><Relationship Type="http://schemas.openxmlformats.org/officeDocument/2006/relationships/officeDocument" Target="/ppt/presentation.xml" Id="R95a7b305a80d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2c1c28b484590"/>
  </p:sldMasterIdLst>
  <p:notesMasterIdLst>
    <p:notesMasterId xmlns:r="http://schemas.openxmlformats.org/officeDocument/2006/relationships" r:id="R1599bf9c5a964311"/>
  </p:notesMasterIdLst>
  <p:sldIdLst>
    <p:sldId xmlns:r="http://schemas.openxmlformats.org/officeDocument/2006/relationships" id="256" r:id="R1a5f32c2ab52422d"/>
    <p:sldId xmlns:r="http://schemas.openxmlformats.org/officeDocument/2006/relationships" id="257" r:id="Rfb8f3634867f411e"/>
    <p:sldId xmlns:r="http://schemas.openxmlformats.org/officeDocument/2006/relationships" id="258" r:id="Rcca2f68721624f33"/>
    <p:sldId xmlns:r="http://schemas.openxmlformats.org/officeDocument/2006/relationships" id="259" r:id="R617235701d494b7d"/>
    <p:sldId xmlns:r="http://schemas.openxmlformats.org/officeDocument/2006/relationships" id="260" r:id="R7fdb4840683e47a2"/>
    <p:sldId xmlns:r="http://schemas.openxmlformats.org/officeDocument/2006/relationships" id="261" r:id="R77c6d20eafce4a2b"/>
    <p:sldId xmlns:r="http://schemas.openxmlformats.org/officeDocument/2006/relationships" id="262" r:id="R892b117319794450"/>
    <p:sldId xmlns:r="http://schemas.openxmlformats.org/officeDocument/2006/relationships" id="263" r:id="R56095f2ddf8d462d"/>
    <p:sldId xmlns:r="http://schemas.openxmlformats.org/officeDocument/2006/relationships" id="264" r:id="Re96f79ec112d4cf1"/>
    <p:sldId xmlns:r="http://schemas.openxmlformats.org/officeDocument/2006/relationships" id="265" r:id="Rb1b685f98cf54667"/>
    <p:sldId xmlns:r="http://schemas.openxmlformats.org/officeDocument/2006/relationships" id="266" r:id="R284640b1a93a46e2"/>
    <p:sldId xmlns:r="http://schemas.openxmlformats.org/officeDocument/2006/relationships" id="267" r:id="R2a664d51016b437e"/>
    <p:sldId xmlns:r="http://schemas.openxmlformats.org/officeDocument/2006/relationships" id="268" r:id="R110eb74f9a2d4e7e"/>
    <p:sldId xmlns:r="http://schemas.openxmlformats.org/officeDocument/2006/relationships" id="269" r:id="Rd0a4754da42e42d5"/>
    <p:sldId xmlns:r="http://schemas.openxmlformats.org/officeDocument/2006/relationships" id="270" r:id="R4525fc0bea3449d7"/>
    <p:sldId xmlns:r="http://schemas.openxmlformats.org/officeDocument/2006/relationships" id="271" r:id="R516b7363b83e4715"/>
    <p:sldId xmlns:r="http://schemas.openxmlformats.org/officeDocument/2006/relationships" id="272" r:id="R4e42dfd7582b4417"/>
    <p:sldId xmlns:r="http://schemas.openxmlformats.org/officeDocument/2006/relationships" id="273" r:id="Rf93bc5d61a4f4db1"/>
    <p:sldId xmlns:r="http://schemas.openxmlformats.org/officeDocument/2006/relationships" id="274" r:id="Rbbafa9c36c6a4c0b"/>
    <p:sldId xmlns:r="http://schemas.openxmlformats.org/officeDocument/2006/relationships" id="275" r:id="R153ef8e3cc1048bc"/>
    <p:sldId xmlns:r="http://schemas.openxmlformats.org/officeDocument/2006/relationships" id="276" r:id="R86091ce7a3194083"/>
    <p:sldId xmlns:r="http://schemas.openxmlformats.org/officeDocument/2006/relationships" id="277" r:id="R4d0c3e397f984aa3"/>
    <p:sldId xmlns:r="http://schemas.openxmlformats.org/officeDocument/2006/relationships" id="278" r:id="R52c0a0513324422b"/>
    <p:sldId xmlns:r="http://schemas.openxmlformats.org/officeDocument/2006/relationships" id="279" r:id="R72722f9896bb4b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6f9a105344508" /><Relationship Type="http://schemas.openxmlformats.org/officeDocument/2006/relationships/slideMaster" Target="/ppt/slideMasters/slideMaster1.xml" Id="R4222c1c28b484590" /><Relationship Type="http://schemas.openxmlformats.org/officeDocument/2006/relationships/notesMaster" Target="/ppt/notesMasters/notesMaster1.xml" Id="R1599bf9c5a964311" /><Relationship Type="http://schemas.openxmlformats.org/officeDocument/2006/relationships/presProps" Target="/ppt/presProps.xml" Id="R1c5c55915618498b" /><Relationship Type="http://schemas.openxmlformats.org/officeDocument/2006/relationships/tableStyles" Target="/ppt/tableStyles.xml" Id="Rce7d3ccf21924c66" /><Relationship Type="http://schemas.openxmlformats.org/officeDocument/2006/relationships/slide" Target="/ppt/slides/slide1.xml" Id="R1a5f32c2ab52422d" /><Relationship Type="http://schemas.openxmlformats.org/officeDocument/2006/relationships/slide" Target="/ppt/slides/slide2.xml" Id="Rfb8f3634867f411e" /><Relationship Type="http://schemas.openxmlformats.org/officeDocument/2006/relationships/slide" Target="/ppt/slides/slide3.xml" Id="Rcca2f68721624f33" /><Relationship Type="http://schemas.openxmlformats.org/officeDocument/2006/relationships/slide" Target="/ppt/slides/slide4.xml" Id="R617235701d494b7d" /><Relationship Type="http://schemas.openxmlformats.org/officeDocument/2006/relationships/slide" Target="/ppt/slides/slide5.xml" Id="R7fdb4840683e47a2" /><Relationship Type="http://schemas.openxmlformats.org/officeDocument/2006/relationships/slide" Target="/ppt/slides/slide6.xml" Id="R77c6d20eafce4a2b" /><Relationship Type="http://schemas.openxmlformats.org/officeDocument/2006/relationships/slide" Target="/ppt/slides/slide7.xml" Id="R892b117319794450" /><Relationship Type="http://schemas.openxmlformats.org/officeDocument/2006/relationships/slide" Target="/ppt/slides/slide8.xml" Id="R56095f2ddf8d462d" /><Relationship Type="http://schemas.openxmlformats.org/officeDocument/2006/relationships/slide" Target="/ppt/slides/slide9.xml" Id="Re96f79ec112d4cf1" /><Relationship Type="http://schemas.openxmlformats.org/officeDocument/2006/relationships/slide" Target="/ppt/slides/slide10.xml" Id="Rb1b685f98cf54667" /><Relationship Type="http://schemas.openxmlformats.org/officeDocument/2006/relationships/slide" Target="/ppt/slides/slide11.xml" Id="R284640b1a93a46e2" /><Relationship Type="http://schemas.openxmlformats.org/officeDocument/2006/relationships/slide" Target="/ppt/slides/slide12.xml" Id="R2a664d51016b437e" /><Relationship Type="http://schemas.openxmlformats.org/officeDocument/2006/relationships/slide" Target="/ppt/slides/slide13.xml" Id="R110eb74f9a2d4e7e" /><Relationship Type="http://schemas.openxmlformats.org/officeDocument/2006/relationships/slide" Target="/ppt/slides/slide14.xml" Id="Rd0a4754da42e42d5" /><Relationship Type="http://schemas.openxmlformats.org/officeDocument/2006/relationships/slide" Target="/ppt/slides/slide15.xml" Id="R4525fc0bea3449d7" /><Relationship Type="http://schemas.openxmlformats.org/officeDocument/2006/relationships/slide" Target="/ppt/slides/slide16.xml" Id="R516b7363b83e4715" /><Relationship Type="http://schemas.openxmlformats.org/officeDocument/2006/relationships/slide" Target="/ppt/slides/slide17.xml" Id="R4e42dfd7582b4417" /><Relationship Type="http://schemas.openxmlformats.org/officeDocument/2006/relationships/slide" Target="/ppt/slides/slide18.xml" Id="Rf93bc5d61a4f4db1" /><Relationship Type="http://schemas.openxmlformats.org/officeDocument/2006/relationships/slide" Target="/ppt/slides/slide19.xml" Id="Rbbafa9c36c6a4c0b" /><Relationship Type="http://schemas.openxmlformats.org/officeDocument/2006/relationships/slide" Target="/ppt/slides/slide20.xml" Id="R153ef8e3cc1048bc" /><Relationship Type="http://schemas.openxmlformats.org/officeDocument/2006/relationships/slide" Target="/ppt/slides/slide21.xml" Id="R86091ce7a3194083" /><Relationship Type="http://schemas.openxmlformats.org/officeDocument/2006/relationships/slide" Target="/ppt/slides/slide22.xml" Id="R4d0c3e397f984aa3" /><Relationship Type="http://schemas.openxmlformats.org/officeDocument/2006/relationships/slide" Target="/ppt/slides/slide23.xml" Id="R52c0a0513324422b" /><Relationship Type="http://schemas.openxmlformats.org/officeDocument/2006/relationships/slide" Target="/ppt/slides/slide24.xml" Id="R72722f9896bb4b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40054f84bd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ec0b61a1974098" /><Relationship Type="http://schemas.openxmlformats.org/officeDocument/2006/relationships/notesMaster" Target="/ppt/notesMasters/notesMaster1.xml" Id="R77e67433b1dd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a6642b0b4431c" /><Relationship Type="http://schemas.openxmlformats.org/officeDocument/2006/relationships/notesMaster" Target="/ppt/notesMasters/notesMaster1.xml" Id="R80b08b704d87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bd39744d24668" /><Relationship Type="http://schemas.openxmlformats.org/officeDocument/2006/relationships/notesMaster" Target="/ppt/notesMasters/notesMaster1.xml" Id="Rcee95aceed26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1871e4452a48c1" /><Relationship Type="http://schemas.openxmlformats.org/officeDocument/2006/relationships/notesMaster" Target="/ppt/notesMasters/notesMaster1.xml" Id="Rb0ed37dcae80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9689308e0c4c5f" /><Relationship Type="http://schemas.openxmlformats.org/officeDocument/2006/relationships/notesMaster" Target="/ppt/notesMasters/notesMaster1.xml" Id="Re160575a52674f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5c11fcfa4f4751" /><Relationship Type="http://schemas.openxmlformats.org/officeDocument/2006/relationships/notesMaster" Target="/ppt/notesMasters/notesMaster1.xml" Id="R72bd8f76a592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bd9f0b6ed34db7" /><Relationship Type="http://schemas.openxmlformats.org/officeDocument/2006/relationships/notesMaster" Target="/ppt/notesMasters/notesMaster1.xml" Id="R60585782a9734b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72b7889094152" /><Relationship Type="http://schemas.openxmlformats.org/officeDocument/2006/relationships/notesMaster" Target="/ppt/notesMasters/notesMaster1.xml" Id="Rae27d3e5ab5f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5608300ce64597" /><Relationship Type="http://schemas.openxmlformats.org/officeDocument/2006/relationships/notesMaster" Target="/ppt/notesMasters/notesMaster1.xml" Id="R8f81f016276549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185c9e015d4787" /><Relationship Type="http://schemas.openxmlformats.org/officeDocument/2006/relationships/notesMaster" Target="/ppt/notesMasters/notesMaster1.xml" Id="Rc83d03bfa88b42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002e07b76b4410" /><Relationship Type="http://schemas.openxmlformats.org/officeDocument/2006/relationships/notesMaster" Target="/ppt/notesMasters/notesMaster1.xml" Id="R9de3ebd0021d4e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f9c37819704520" /><Relationship Type="http://schemas.openxmlformats.org/officeDocument/2006/relationships/notesMaster" Target="/ppt/notesMasters/notesMaster1.xml" Id="R08f4ac82c99f4d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240f1c968f4f1b" /><Relationship Type="http://schemas.openxmlformats.org/officeDocument/2006/relationships/notesMaster" Target="/ppt/notesMasters/notesMaster1.xml" Id="R91549ca8651442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1f05fae1964e51" /><Relationship Type="http://schemas.openxmlformats.org/officeDocument/2006/relationships/notesMaster" Target="/ppt/notesMasters/notesMaster1.xml" Id="R068baa2f1905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a696df6dfc476b" /><Relationship Type="http://schemas.openxmlformats.org/officeDocument/2006/relationships/notesMaster" Target="/ppt/notesMasters/notesMaster1.xml" Id="Rd3cad129ad484f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740b3eadb24185" /><Relationship Type="http://schemas.openxmlformats.org/officeDocument/2006/relationships/notesMaster" Target="/ppt/notesMasters/notesMaster1.xml" Id="Rdcc3cc6caf4c48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48d6fc9e164764" /><Relationship Type="http://schemas.openxmlformats.org/officeDocument/2006/relationships/notesMaster" Target="/ppt/notesMasters/notesMaster1.xml" Id="R713f78efccce43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c0e036fa2c444f" /><Relationship Type="http://schemas.openxmlformats.org/officeDocument/2006/relationships/notesMaster" Target="/ppt/notesMasters/notesMaster1.xml" Id="R333762a1eeb245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1d350a76394658" /><Relationship Type="http://schemas.openxmlformats.org/officeDocument/2006/relationships/notesMaster" Target="/ppt/notesMasters/notesMaster1.xml" Id="R2d8cc443711d4d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794962a5a2480e" /><Relationship Type="http://schemas.openxmlformats.org/officeDocument/2006/relationships/notesMaster" Target="/ppt/notesMasters/notesMaster1.xml" Id="R55dfc35cef7a4e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8f4c9338144af2" /><Relationship Type="http://schemas.openxmlformats.org/officeDocument/2006/relationships/notesMaster" Target="/ppt/notesMasters/notesMaster1.xml" Id="Rd4ac945c17034c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a377d85c5f46da" /><Relationship Type="http://schemas.openxmlformats.org/officeDocument/2006/relationships/notesMaster" Target="/ppt/notesMasters/notesMaster1.xml" Id="R3d3ffd170c5346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3b63d6fc0d47ac" /><Relationship Type="http://schemas.openxmlformats.org/officeDocument/2006/relationships/notesMaster" Target="/ppt/notesMasters/notesMaster1.xml" Id="R200b7628f1dd46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3eb3ae529041ad" /><Relationship Type="http://schemas.openxmlformats.org/officeDocument/2006/relationships/notesMaster" Target="/ppt/notesMasters/notesMaster1.xml" Id="Ra7ebb9b1ea16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Opening question: When does stored information change?</a:t>
            </a:r>
          </a:p>
          <a:p xmlns:a="http://schemas.openxmlformats.org/drawingml/2006/main">
            <a:r>
              <a:t>Outcomes: Separate present state Q from next state Q⁺ | Compare a transparent latch with an edge-triggered flip-flop | Apply D, T, JK and SR characteristic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Separate present state Q from next state Q⁺</a:t>
            </a:r>
          </a:p>
          <a:p xmlns:a="http://schemas.openxmlformats.org/drawingml/2006/main">
            <a:r>
              <a:t>Compare a transparent latch with an edge-triggered flip-flop</a:t>
            </a:r>
          </a:p>
          <a:p xmlns:a="http://schemas.openxmlformats.org/drawingml/2006/main">
            <a:r>
              <a:t>Apply D, T, JK and SR characteristic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Ask students for an initial answer: When does stored information change?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Combinational outputs depend on the current input values.</a:t>
            </a:r>
          </a:p>
          <a:p xmlns:a="http://schemas.openxmlformats.org/drawingml/2006/main">
            <a:r>
              <a:t>A feedback path can preserve information from an earlier interval.</a:t>
            </a:r>
          </a:p>
          <a:p xmlns:a="http://schemas.openxmlformats.org/drawingml/2006/main">
            <a:r>
              <a:t>A clock or enable determines when stored information may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present state: the stored value before the controlling event</a:t>
            </a:r>
          </a:p>
          <a:p xmlns:a="http://schemas.openxmlformats.org/drawingml/2006/main">
            <a:r>
              <a:t>next state: the value stored after the controlling event</a:t>
            </a:r>
          </a:p>
          <a:p xmlns:a="http://schemas.openxmlformats.org/drawingml/2006/main">
            <a:r>
              <a:t>latch: storage controlled by an active level</a:t>
            </a:r>
          </a:p>
          <a:p xmlns:a="http://schemas.openxmlformats.org/drawingml/2006/main">
            <a:r>
              <a:t>flip-flop: storage sampled at an active clock edge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Name the present state and input.</a:t>
            </a:r>
          </a:p>
          <a:p xmlns:a="http://schemas.openxmlformats.org/drawingml/2006/main">
            <a:r>
              <a:t>Identify the active level or edge.</a:t>
            </a:r>
          </a:p>
          <a:p xmlns:a="http://schemas.openxmlformats.org/drawingml/2006/main">
            <a:r>
              <a:t>Apply the device rule, then hold the result until the next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Present and next state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Q is the stored bit just before an event. Q⁺, also written Q*, is its next value. For an edge-triggered D flip-flop, sample D at the active edge. The physical output settles after propagation delay and holds between edges. For a level-sensitive latch, a valid control level permits an update without a clock 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D flip-flop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The D input supplies the desired next-state bit. Sample D at the active edge; Q then updates after device propagation delay. Example: Q=0 and D=1 at the edge gives Q⁺=1. D can change between edges without changing 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T flip-flop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T=0 means no state change. T=1 requests a toggle, so Q⁺=Q⊕T. Example: Q=1 and T=1 gives Q⁺=0. T flip-flops are useful in counters, with the triggering edge specified.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JK flip-flop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J=1 alone sets Q. K=1 alone resets Q. J=K=0 holds. J=K=1 toggles. The controls are read at the active clock edge. From Q=1 with J=0 and K=1, Q⁺=0.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Basic active-high SR latch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For an active-high SR latch: 00 holds, 10 sets, 01 resets, and 11 is forbidden because the complementary outputs cease to be valid and the released state can be uncertain. Q may change as soon as a valid request propagates. A clocked SR flip-flop applies controls at the specified edge. An active-low NAND latch has different asserted levels; always check polarity.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Identify the storage device, active level or edge, and initial state.</a:t>
            </a:r>
          </a:p>
          <a:p xmlns:a="http://schemas.openxmlformats.org/drawingml/2006/main">
            <a:r>
              <a:t>Mark the input value at every controlling event before computing Q⁺.</a:t>
            </a:r>
          </a:p>
          <a:p xmlns:a="http://schemas.openxmlformats.org/drawingml/2006/main">
            <a:r>
              <a:t>Use the characteristic rule one event at a time, then draw the held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Trace a D flip-flop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Prompt: Initially Q=0. D is 1 before edge 1, changes to 0 after that edge, and returns to 1 before edge 3. Find Q after three rising edges.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At edge 1, D=1, so Q⁺=1.</a:t>
            </a:r>
          </a:p>
          <a:p xmlns:a="http://schemas.openxmlformats.org/drawingml/2006/main">
            <a:r>
              <a:t>At edge 2, D=0, so Q⁺=0.</a:t>
            </a:r>
          </a:p>
          <a:p xmlns:a="http://schemas.openxmlformats.org/drawingml/2006/main">
            <a:r>
              <a:t>At edge 3, D=1, so Q⁺=1.</a:t>
            </a:r>
          </a:p>
          <a:p xmlns:a="http://schemas.openxmlformats.org/drawingml/2006/main">
            <a:r>
              <a:t>Between edges Q holds, even when D changes.</a:t>
            </a:r>
          </a:p>
          <a:p xmlns:a="http://schemas.openxmlformats.org/drawingml/2006/main">
            <a:r>
              <a:t>Answer: The sequence after the edges is 1, 0,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D latch | Follows D while enable is active. | Holds when enable is inactive.</a:t>
            </a:r>
          </a:p>
          <a:p xmlns:a="http://schemas.openxmlformats.org/drawingml/2006/main">
            <a:r>
              <a:t>D flip-flop | Samples D at its active edge. | Holds between active edges.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Change the input between edges. Only the active edge updates these clocked devices. The asynchronous SR latch appears in Lesson 04.</a:t>
            </a:r>
          </a:p>
          <a:p xmlns:a="http://schemas.openxmlformats.org/drawingml/2006/main">
            <a:r>
              <a:t>Pause the laboratory between edges and change D twice. Ask whether Q follows.</a:t>
            </a:r>
          </a:p>
          <a:p xmlns:a="http://schemas.openxmlformats.org/drawingml/2006/main">
            <a:r>
              <a:t>Switch between D and T modes. Have students predict Q⁺ before pressing Clock.</a:t>
            </a:r>
          </a:p>
          <a:p xmlns:a="http://schemas.openxmlformats.org/drawingml/2006/main">
            <a:r>
              <a:t>Write Q and Q⁺ in separate columns throughout the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Given one D waveform and three rising clock edges, sketch both latch and flip-flop outputs. Mark the intervals when each output may change.</a:t>
            </a:r>
          </a:p>
          <a:p xmlns:a="http://schemas.openxmlformats.org/drawingml/2006/main">
            <a:r>
              <a:t>Deliverable: Two timing traces with every controlling event labelled.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Prompt: A JK flip-flop has Q=1, J=0 and K=1. Determine Q⁺.</a:t>
            </a:r>
          </a:p>
          <a:p xmlns:a="http://schemas.openxmlformats.org/drawingml/2006/main">
            <a:r>
              <a:t>First move: The control pair JK=01 requests reset.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Use a characteristic equation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The control pair JK=01 requests reset.</a:t>
            </a:r>
          </a:p>
          <a:p xmlns:a="http://schemas.openxmlformats.org/drawingml/2006/main">
            <a:r>
              <a:t>Substitute into Q⁺=JQ′+K′Q.</a:t>
            </a:r>
          </a:p>
          <a:p xmlns:a="http://schemas.openxmlformats.org/drawingml/2006/main">
            <a:r>
              <a:t>Q⁺=0·0+0·1=0.</a:t>
            </a:r>
          </a:p>
          <a:p xmlns:a="http://schemas.openxmlformats.org/drawingml/2006/main">
            <a:r>
              <a:t>Answer: Q⁺=0.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TEMPTING CLAIM: A flip-flop follows D for the entire high clock level.</a:t>
            </a:r>
          </a:p>
          <a:p xmlns:a="http://schemas.openxmlformats.org/drawingml/2006/main">
            <a:r>
              <a:t>WHY IT FAILS: A clock edge is a sampling event, while a latch responds throughout its active level.</a:t>
            </a:r>
          </a:p>
          <a:p xmlns:a="http://schemas.openxmlformats.org/drawingml/2006/main">
            <a:r>
              <a:t>REPAIR: Mark the active edge and sample D only there.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Q1: A T flip-flop has Q=1 and T=1. What is Q⁺?</a:t>
            </a:r>
          </a:p>
          <a:p xmlns:a="http://schemas.openxmlformats.org/drawingml/2006/main">
            <a:r>
              <a:t>Hint: T=1 requests a toggle.</a:t>
            </a:r>
          </a:p>
          <a:p xmlns:a="http://schemas.openxmlformats.org/drawingml/2006/main">
            <a:r>
              <a:t>Answer: Q⁺=Q⊕T=1⊕1=0.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D latch has enable=1. D changes 0→1 before enable falls. What is Q just before enable falls?</a:t>
            </a:r>
          </a:p>
          <a:p xmlns:a="http://schemas.openxmlformats.org/drawingml/2006/main">
            <a:r>
              <a:t>Hint: The latch is transparent during the active level.</a:t>
            </a:r>
          </a:p>
          <a:p xmlns:a="http://schemas.openxmlformats.org/drawingml/2006/main">
            <a:r>
              <a:t>Answer: Q=1, assuming D has settled. After enable falls, the latch holds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Q1: A T flip-flop has Q=1 and T=1. What is Q⁺?</a:t>
            </a:r>
          </a:p>
          <a:p xmlns:a="http://schemas.openxmlformats.org/drawingml/2006/main">
            <a:r>
              <a:t>Q⁺=Q⊕T=1⊕1=0.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D latch has enable=1. D changes 0→1 before enable falls. What is Q just before enable falls?</a:t>
            </a:r>
          </a:p>
          <a:p xmlns:a="http://schemas.openxmlformats.org/drawingml/2006/main">
            <a:r>
              <a:t>Q=1, assuming D has settled. After enable falls, the latch holds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15 | Week 9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6 §§6.1–6.3, pp. 365–380.</a:t>
            </a:r>
          </a:p>
          <a:p xmlns:a="http://schemas.openxmlformats.org/drawingml/2006/main">
            <a:r>
              <a:t>Companion animation: lesson-01.html</a:t>
            </a:r>
          </a:p>
          <a:p xmlns:a="http://schemas.openxmlformats.org/drawingml/2006/main">
            <a:r>
              <a:t>Separate present state Q from next state Q⁺</a:t>
            </a:r>
          </a:p>
          <a:p xmlns:a="http://schemas.openxmlformats.org/drawingml/2006/main">
            <a:r>
              <a:t>Compare a transparent latch with an edge-triggered flip-flop</a:t>
            </a:r>
          </a:p>
          <a:p xmlns:a="http://schemas.openxmlformats.org/drawingml/2006/main">
            <a:r>
              <a:t>Apply D, T, JK and SR characteristic rules</a:t>
            </a:r>
          </a:p>
          <a:p xmlns:a="http://schemas.openxmlformats.org/drawingml/2006/main">
            <a:r>
              <a:t>Next companion: lesson-02.html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b1d92111d43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aef84c9ad49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956768b104b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95cbdfb5f4e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7ed62166949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e60668adf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F7BF5F-E23D-4261-87B9-32ABF1A00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A0C929-DB44-40FF-A4D6-780ABE3ED9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DEB4FE-3A0E-4E4C-AE9E-847C9C15F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0E3A48-7652-43BE-BC3C-ED06C4179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0B3EE2-9588-4A47-85C8-05B3A38DD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B840D4-21B6-4292-AE25-28DAFB40B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32AFA-3252-4898-ACA5-C8D6ED291F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2E87BD-1F84-45A0-8A52-C6AC69F8FF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DD0598-F508-4924-BC3A-93E72FC72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D3B3A3-8254-452B-BB73-0B9173E7C4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9efed28f44029" /><Relationship Type="http://schemas.openxmlformats.org/officeDocument/2006/relationships/slideLayout" Target="/ppt/slideLayouts/slideLayout1.xml" Id="Ra92cebfbd2f14b37" /><Relationship Type="http://schemas.openxmlformats.org/officeDocument/2006/relationships/slideLayout" Target="/ppt/slideLayouts/slideLayout2.xml" Id="R47078dbffcde4abc" /><Relationship Type="http://schemas.openxmlformats.org/officeDocument/2006/relationships/slideLayout" Target="/ppt/slideLayouts/slideLayout3.xml" Id="R4db0f15c92e448db" /><Relationship Type="http://schemas.openxmlformats.org/officeDocument/2006/relationships/slideLayout" Target="/ppt/slideLayouts/slideLayout4.xml" Id="R87b9b758afe14ba6" /><Relationship Type="http://schemas.openxmlformats.org/officeDocument/2006/relationships/slideLayout" Target="/ppt/slideLayouts/slideLayout5.xml" Id="R6cb2e2bae7594ae2" /><Relationship Type="http://schemas.openxmlformats.org/officeDocument/2006/relationships/slideLayout" Target="/ppt/slideLayouts/slideLayout6.xml" Id="R4b1689110f0f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cebfbd2f14b37"/>
    <p:sldLayoutId xmlns:r="http://schemas.openxmlformats.org/officeDocument/2006/relationships" id="2147483650" r:id="R47078dbffcde4abc"/>
    <p:sldLayoutId xmlns:r="http://schemas.openxmlformats.org/officeDocument/2006/relationships" id="2147483651" r:id="R4db0f15c92e448db"/>
    <p:sldLayoutId xmlns:r="http://schemas.openxmlformats.org/officeDocument/2006/relationships" id="2147483652" r:id="R87b9b758afe14ba6"/>
    <p:sldLayoutId xmlns:r="http://schemas.openxmlformats.org/officeDocument/2006/relationships" id="2147483653" r:id="R6cb2e2bae7594ae2"/>
    <p:sldLayoutId xmlns:r="http://schemas.openxmlformats.org/officeDocument/2006/relationships" id="2147483654" r:id="R4b1689110f0f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167afeb344294" /><Relationship Type="http://schemas.openxmlformats.org/officeDocument/2006/relationships/image" Target="/ppt/media/image.png" Id="R95f1b04a14734382" /><Relationship Type="http://schemas.openxmlformats.org/officeDocument/2006/relationships/image" Target="/ppt/media/image2.png" Id="R6445f9d75f9645d9" /><Relationship Type="http://schemas.openxmlformats.org/officeDocument/2006/relationships/notesSlide" Target="/ppt/notesSlides/notesSlide1.xml" Id="R6ab9a2b6b694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f9c3ca8e5497f" /><Relationship Type="http://schemas.openxmlformats.org/officeDocument/2006/relationships/image" Target="/ppt/media/image3.png" Id="R316d416c73ab462f" /><Relationship Type="http://schemas.openxmlformats.org/officeDocument/2006/relationships/image" Target="/ppt/media/image4.png" Id="R31b43e8f138e48fd" /><Relationship Type="http://schemas.openxmlformats.org/officeDocument/2006/relationships/notesSlide" Target="/ppt/notesSlides/notesSlide2.xml" Id="R2cedc89973e34a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78808261d4ed4" /><Relationship Type="http://schemas.openxmlformats.org/officeDocument/2006/relationships/image" Target="/ppt/media/image5.png" Id="R3e4412fa6fbc4b23" /><Relationship Type="http://schemas.openxmlformats.org/officeDocument/2006/relationships/image" Target="/ppt/media/image6.png" Id="R2701bb3ecc8e4a3e" /><Relationship Type="http://schemas.openxmlformats.org/officeDocument/2006/relationships/notesSlide" Target="/ppt/notesSlides/notesSlide3.xml" Id="Raf736109d40448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b02e282e742e7" /><Relationship Type="http://schemas.openxmlformats.org/officeDocument/2006/relationships/image" Target="/ppt/media/image7.png" Id="R5bec00edca2a44bd" /><Relationship Type="http://schemas.openxmlformats.org/officeDocument/2006/relationships/image" Target="/ppt/media/image8.png" Id="Rfafb2da1469445e1" /><Relationship Type="http://schemas.openxmlformats.org/officeDocument/2006/relationships/notesSlide" Target="/ppt/notesSlides/notesSlide4.xml" Id="R6628ec4a0f8f42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aec2b3ce54039" /><Relationship Type="http://schemas.openxmlformats.org/officeDocument/2006/relationships/image" Target="/ppt/media/image9.png" Id="R322d7ae5e6dc4431" /><Relationship Type="http://schemas.openxmlformats.org/officeDocument/2006/relationships/image" Target="/ppt/media/image10.png" Id="R1b4b4b2463f44c8f" /><Relationship Type="http://schemas.openxmlformats.org/officeDocument/2006/relationships/notesSlide" Target="/ppt/notesSlides/notesSlide5.xml" Id="R84e336b694a0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8af60d1fe4403" /><Relationship Type="http://schemas.openxmlformats.org/officeDocument/2006/relationships/image" Target="/ppt/media/image11.png" Id="R082b265d52bc40b9" /><Relationship Type="http://schemas.openxmlformats.org/officeDocument/2006/relationships/image" Target="/ppt/media/image12.png" Id="R280a36e486234119" /><Relationship Type="http://schemas.openxmlformats.org/officeDocument/2006/relationships/notesSlide" Target="/ppt/notesSlides/notesSlide6.xml" Id="R43a51035b7c746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dab82a79644f4" /><Relationship Type="http://schemas.openxmlformats.org/officeDocument/2006/relationships/image" Target="/ppt/media/image13.png" Id="Rfbc760a80fa64bed" /><Relationship Type="http://schemas.openxmlformats.org/officeDocument/2006/relationships/image" Target="/ppt/media/image14.png" Id="R7c351d9ceeb84400" /><Relationship Type="http://schemas.openxmlformats.org/officeDocument/2006/relationships/notesSlide" Target="/ppt/notesSlides/notesSlide7.xml" Id="Rabd1cd6484bf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d56a0f9e74458" /><Relationship Type="http://schemas.openxmlformats.org/officeDocument/2006/relationships/image" Target="/ppt/media/image15.png" Id="Rf74ce96c35764282" /><Relationship Type="http://schemas.openxmlformats.org/officeDocument/2006/relationships/image" Target="/ppt/media/image16.png" Id="Rd3046e3db4184ea7" /><Relationship Type="http://schemas.openxmlformats.org/officeDocument/2006/relationships/notesSlide" Target="/ppt/notesSlides/notesSlide8.xml" Id="R649c737f322341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11b2816a94caa" /><Relationship Type="http://schemas.openxmlformats.org/officeDocument/2006/relationships/image" Target="/ppt/media/image17.png" Id="R73862897fbc54f1d" /><Relationship Type="http://schemas.openxmlformats.org/officeDocument/2006/relationships/image" Target="/ppt/media/image18.png" Id="Rf2bc478dfa7a4189" /><Relationship Type="http://schemas.openxmlformats.org/officeDocument/2006/relationships/notesSlide" Target="/ppt/notesSlides/notesSlide9.xml" Id="R84f4a186350941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1ee92165d4a95" /><Relationship Type="http://schemas.openxmlformats.org/officeDocument/2006/relationships/image" Target="/ppt/media/image19.png" Id="R7b621b5a854f429b" /><Relationship Type="http://schemas.openxmlformats.org/officeDocument/2006/relationships/image" Target="/ppt/media/image20.png" Id="Rb91fd638a09c49a8" /><Relationship Type="http://schemas.openxmlformats.org/officeDocument/2006/relationships/notesSlide" Target="/ppt/notesSlides/notesSlide10.xml" Id="R6613c2fceb9343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6b4d96fa84f6d" /><Relationship Type="http://schemas.openxmlformats.org/officeDocument/2006/relationships/image" Target="/ppt/media/image21.png" Id="Recd2c82eee214a43" /><Relationship Type="http://schemas.openxmlformats.org/officeDocument/2006/relationships/image" Target="/ppt/media/image22.png" Id="R61c0a3bbf9a543f1" /><Relationship Type="http://schemas.openxmlformats.org/officeDocument/2006/relationships/notesSlide" Target="/ppt/notesSlides/notesSlide11.xml" Id="R75c64ba85c2544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3594c32b14e08" /><Relationship Type="http://schemas.openxmlformats.org/officeDocument/2006/relationships/image" Target="/ppt/media/image23.png" Id="Rcaa17c73cb1147b0" /><Relationship Type="http://schemas.openxmlformats.org/officeDocument/2006/relationships/image" Target="/ppt/media/image24.png" Id="R01464d69162b4ed6" /><Relationship Type="http://schemas.openxmlformats.org/officeDocument/2006/relationships/notesSlide" Target="/ppt/notesSlides/notesSlide12.xml" Id="Rd0a481719eca41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564001e824953" /><Relationship Type="http://schemas.openxmlformats.org/officeDocument/2006/relationships/image" Target="/ppt/media/image25.png" Id="Rf5ca7f0f2cd14313" /><Relationship Type="http://schemas.openxmlformats.org/officeDocument/2006/relationships/image" Target="/ppt/media/image26.png" Id="R02976970984e4b96" /><Relationship Type="http://schemas.openxmlformats.org/officeDocument/2006/relationships/notesSlide" Target="/ppt/notesSlides/notesSlide13.xml" Id="Rcc7a8530239843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838d82c784e44" /><Relationship Type="http://schemas.openxmlformats.org/officeDocument/2006/relationships/image" Target="/ppt/media/image27.png" Id="Re554e5d0524c4395" /><Relationship Type="http://schemas.openxmlformats.org/officeDocument/2006/relationships/image" Target="/ppt/media/image28.png" Id="R64272cb8cc9b4ca4" /><Relationship Type="http://schemas.openxmlformats.org/officeDocument/2006/relationships/notesSlide" Target="/ppt/notesSlides/notesSlide14.xml" Id="R13bde3a3962847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bd345769741f3" /><Relationship Type="http://schemas.openxmlformats.org/officeDocument/2006/relationships/image" Target="/ppt/media/image29.png" Id="Re476132fa98941eb" /><Relationship Type="http://schemas.openxmlformats.org/officeDocument/2006/relationships/image" Target="/ppt/media/image30.png" Id="R3bd210acd3224b4d" /><Relationship Type="http://schemas.openxmlformats.org/officeDocument/2006/relationships/notesSlide" Target="/ppt/notesSlides/notesSlide15.xml" Id="R23a5a26ce4344a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df6be27d944e8" /><Relationship Type="http://schemas.openxmlformats.org/officeDocument/2006/relationships/image" Target="/ppt/media/image31.png" Id="Ra4dfeca7ac2b4bac" /><Relationship Type="http://schemas.openxmlformats.org/officeDocument/2006/relationships/image" Target="/ppt/media/image32.png" Id="Re0db530c986941c0" /><Relationship Type="http://schemas.openxmlformats.org/officeDocument/2006/relationships/notesSlide" Target="/ppt/notesSlides/notesSlide16.xml" Id="R7a317990f51d47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9f5c1db9647ae" /><Relationship Type="http://schemas.openxmlformats.org/officeDocument/2006/relationships/image" Target="/ppt/media/image33.png" Id="R74d892608ba54df0" /><Relationship Type="http://schemas.openxmlformats.org/officeDocument/2006/relationships/image" Target="/ppt/media/image34.png" Id="R626e3914cb22495e" /><Relationship Type="http://schemas.openxmlformats.org/officeDocument/2006/relationships/notesSlide" Target="/ppt/notesSlides/notesSlide17.xml" Id="R408d48d90a134f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0c09e533f4bfb" /><Relationship Type="http://schemas.openxmlformats.org/officeDocument/2006/relationships/image" Target="/ppt/media/image35.png" Id="R0e3ba3f471874bb7" /><Relationship Type="http://schemas.openxmlformats.org/officeDocument/2006/relationships/image" Target="/ppt/media/image36.png" Id="R08c346d2428f4e71" /><Relationship Type="http://schemas.openxmlformats.org/officeDocument/2006/relationships/notesSlide" Target="/ppt/notesSlides/notesSlide18.xml" Id="R4bb7735e8c1548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7ab65aed54332" /><Relationship Type="http://schemas.openxmlformats.org/officeDocument/2006/relationships/image" Target="/ppt/media/image37.png" Id="Rdd83b879f7eb461c" /><Relationship Type="http://schemas.openxmlformats.org/officeDocument/2006/relationships/image" Target="/ppt/media/image38.png" Id="R09b71669b2634e93" /><Relationship Type="http://schemas.openxmlformats.org/officeDocument/2006/relationships/notesSlide" Target="/ppt/notesSlides/notesSlide19.xml" Id="R9858b56a5e2443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04cab4cc14e34" /><Relationship Type="http://schemas.openxmlformats.org/officeDocument/2006/relationships/image" Target="/ppt/media/image39.png" Id="Rb565f46ae2e14397" /><Relationship Type="http://schemas.openxmlformats.org/officeDocument/2006/relationships/image" Target="/ppt/media/image40.png" Id="R973d2a7d108d4bd7" /><Relationship Type="http://schemas.openxmlformats.org/officeDocument/2006/relationships/notesSlide" Target="/ppt/notesSlides/notesSlide20.xml" Id="Rc122fe8b1ace45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745eccb904fcb" /><Relationship Type="http://schemas.openxmlformats.org/officeDocument/2006/relationships/image" Target="/ppt/media/image41.png" Id="R4d26a0becbe54328" /><Relationship Type="http://schemas.openxmlformats.org/officeDocument/2006/relationships/image" Target="/ppt/media/image42.png" Id="R3f3536aedfa245bc" /><Relationship Type="http://schemas.openxmlformats.org/officeDocument/2006/relationships/notesSlide" Target="/ppt/notesSlides/notesSlide21.xml" Id="Rba2abd23e5284f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86b96720f4068" /><Relationship Type="http://schemas.openxmlformats.org/officeDocument/2006/relationships/image" Target="/ppt/media/image43.png" Id="Rfcce1ea2286c4c8e" /><Relationship Type="http://schemas.openxmlformats.org/officeDocument/2006/relationships/image" Target="/ppt/media/image44.png" Id="R26edb54c2f1e4d59" /><Relationship Type="http://schemas.openxmlformats.org/officeDocument/2006/relationships/notesSlide" Target="/ppt/notesSlides/notesSlide22.xml" Id="Rd1dc53a5e69748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4158f546c466b" /><Relationship Type="http://schemas.openxmlformats.org/officeDocument/2006/relationships/image" Target="/ppt/media/image45.png" Id="R11261ad2c7f14a53" /><Relationship Type="http://schemas.openxmlformats.org/officeDocument/2006/relationships/image" Target="/ppt/media/image46.png" Id="R7e682b2b5df94c7b" /><Relationship Type="http://schemas.openxmlformats.org/officeDocument/2006/relationships/notesSlide" Target="/ppt/notesSlides/notesSlide23.xml" Id="Re2b6142a521e4d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795210b324434" /><Relationship Type="http://schemas.openxmlformats.org/officeDocument/2006/relationships/image" Target="/ppt/media/image47.png" Id="Rfd11b91e876e4cd0" /><Relationship Type="http://schemas.openxmlformats.org/officeDocument/2006/relationships/image" Target="/ppt/media/image48.png" Id="Rc1cebd00059d407e" /><Relationship Type="http://schemas.openxmlformats.org/officeDocument/2006/relationships/notesSlide" Target="/ppt/notesSlides/notesSlide24.xml" Id="R981de02bad0c43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D5A80-709A-4572-96EC-BEA049BF8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1b04a14734382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65435-6BB9-4D40-9FDC-0A5BBC913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5f9d75f9645d9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1A63D-F38D-48A8-AD52-4920375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6F7B-0D60-4313-B492-CAC5B7E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State, latches and flip-flops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F12BD-031C-413B-AEB6-32A7762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9 · Lecture 1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609BE-3279-46AF-8CFB-4970E31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E3B90-F237-4128-8E5F-B5F4F87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24F44-4506-4A6F-8712-E21865F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</p:spTree>
    <p:extLst>
      <p:ext uri="{BB962C8B-B14F-4D97-AF65-F5344CB8AC3E}">
        <p14:creationId xmlns:p14="http://schemas.microsoft.com/office/powerpoint/2010/main" val="603446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55259-CC17-467B-9636-E516DFE8D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416c73ab462f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8817E-762D-462F-8902-95FD08FDE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43e8f138e48f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1448B-0FDA-4CFB-862D-58604E46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45851-BCAA-4C6D-B588-C252AC43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E840-27BB-4E96-8498-664AEA5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8A517-E0C1-46C3-A880-25F32AE5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6F84C-8588-4351-844F-96AABA0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A40D8-A388-4E34-A4CA-1F58639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92F5C-FA76-401C-B9B1-4A63469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D4EA4-B239-4469-B2A1-CE467D6D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D3B8F-F724-4132-BD06-4E608C2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08E4E-124B-4DCE-A758-92CE9BB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417A0-B905-4FA4-85FA-7164E05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BDCF3-F370-42EE-B4B2-C15B070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9B34-F568-4444-A187-FA8FC8A5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15D6B-4871-43C7-A289-E7A0BE7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01, State, latches and flip-flops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6B1FB-AAF5-43DC-BE62-7A09A823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FB4A9-B5F9-4D29-86D5-D254B07A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46552-ABDE-42EA-9A8B-5BD63DC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9FC58-1417-49CF-AF8C-37ABBABE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353939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E633A-BC6C-4DD8-B94A-62ACE8638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412fa6fbc4b2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BAAC3-543D-448E-8324-1ABC6DB55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bb3ecc8e4a3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31304-98D7-4011-ACDA-E12939B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AAB84-0BC7-476A-BD43-2C7DEB8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30AF-3A53-4E4A-BA40-3C4A52E8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03EA4-3DD4-4F66-A906-08AFAFF5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459F9-05C4-45DE-885B-0E20FC39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E3B27-3B68-4E4F-86D5-996A8D48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45DA2-A271-449B-A227-1D081FC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4525F-1B6F-45B4-A78F-581AE1E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CA0F0-EB11-45B2-9EC9-87300E4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6E989-EC78-4D03-93A1-3858858E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DCB85-4E0C-4B6D-98F9-3555F9A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present state Q from next state Q⁺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7EB5A-8E66-4336-9972-0C1F47BD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0CBAF-99FA-4DB3-A32F-9695D65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a transparent latch with an edge-triggered flip-flop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9184A-A2D6-4541-BC7A-36329DAE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D907B-AAE6-4604-8B8F-A3DFFF1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D, T, JK and SR characteristic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BD9C9-1AE5-43F0-A760-DC4CB7AF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Flip-flops and sequential behavior</a:t>
            </a:r>
          </a:p>
        </p:txBody>
      </p:sp>
    </p:spTree>
    <p:extLst>
      <p:ext uri="{BB962C8B-B14F-4D97-AF65-F5344CB8AC3E}">
        <p14:creationId xmlns:p14="http://schemas.microsoft.com/office/powerpoint/2010/main" val="1015299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EC455-1212-4DE6-B5DA-5BC9A3579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c00edca2a44b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D0BF5-0909-40F6-877A-F884E50E8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b2da1469445e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7FF0-E487-4F23-B568-8BA203A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99D6F-81B8-4305-87A3-F81DD45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1B616-B32D-4A04-BE4D-E3FB6695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804A5-6A37-4DB0-9B8D-AE279ED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83F6-DF1F-408A-8DB5-E238E97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6715F-AE9B-4FB8-BCD0-4CB4E2E8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3CED6-73E8-4D4C-B857-1FAAE48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2DC0C-B774-45F1-A990-07C4E170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2D3DA-DBF0-4637-A42A-5FC8916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07288-4D3D-46AE-864B-99C9F170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When does stored information change?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EB759-96E5-4F74-B013-82E7816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341677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1B922-571A-4233-B24E-4E4D50E97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d7ae5e6dc443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6392-9412-48B0-B58E-1CA3E7438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b4b2463f44c8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6DDE8-9D62-452A-9BBB-58EBEEA3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F927B-768C-42F4-B680-1490E95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A279C-D78E-4157-967A-8B4A78A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7CD74-B8EA-4C88-B429-13DA0D0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9C28C-DB79-408C-8C97-581577C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F423-3FD3-4335-BCEB-A7C9C06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520DA-DAD5-4064-9A51-1162AEE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A2C5A-867A-48D9-99D8-67185034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17B7-DE2B-4A7D-ABD8-C7C4EF2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C809C-1966-4ECB-9ED2-D4AA03C6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2F131-EE38-4833-A6B5-415E706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Combinational outputs depend on the current input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B7C2F-2F1E-447B-A17A-C178ABCA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6D74C-DA87-47E0-AECF-6BBE569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8E9BF-74C8-479F-AF83-B65E46F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feedback path can preserve information from an earlier interval.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F8600-470C-4191-B515-6B24171E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048E2-E37C-4092-A67F-D55C139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F0134-0465-41BC-8698-B9E0CF9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clock or enable determines when stored information may 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1D0C0-91EA-467A-8D03-AD27F15B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510487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7DD1F-0B00-40CA-A084-963AFDEF9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b265d52bc40b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2358B-6589-4189-A621-4FD030A4F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a36e48623411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8CF5D-A9D4-4B21-9C53-7E53D16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42A6B-564F-4416-A9B0-23D973F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121BC-3DD1-47C6-8842-7AF5A85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D5972-EE01-40C5-9E72-B81581C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9158D-11E9-4550-B60C-3EA433F9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F3F65-17DD-4B1C-A2DB-F78F1757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9A679-78F8-4288-B9AB-6D7FAC0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B6313-30CB-428A-BF7A-877189D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6DCB4-C389-4BA6-BE6D-380B4D5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4B1C0-1B3B-4223-A203-39AAB59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present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E1A7E-1317-4F25-8962-2D6BA96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stored value before the controlling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3F286-C73F-422A-8312-1957AB5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01863-98DE-495F-ABE3-AB6C2ED7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5F54A-7281-4157-90AF-7C0349CE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value stored after the controlling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709AD-3022-411A-AD39-CBFBE0D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4E5DA-BC30-4978-BDA5-7F80D768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latch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4C1E2-E827-4168-8C69-285FA002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storage controlled by an active level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183CA-8486-4779-9E07-6722B21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92597-E77B-4ED4-A323-F97058A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flip-flop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4A356-A9F6-4304-9D18-6A6604E7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storage sampled at an active clock 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08376-330B-431D-AFCD-EA05A0F6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918351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C1AEC-9B73-4281-8612-304A627C5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760a80fa64be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B526A-B448-4405-AF8D-A1DE36B73D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51d9ceeb8440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AAC28-DA3A-4126-B5E6-A2A44CAD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DBF5D-5F92-4668-9A0A-902D04DF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176D0-AB11-4AB9-9067-69D26DE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ED50F-7644-4338-BDAE-F84AF23D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B38B4-931C-44A8-B891-A1B5E69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9F46-FC98-44B1-81C9-6697AFE3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FDC9C-7218-47B8-8677-55745FB2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3092C-CEC6-481D-86C4-F1D727E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7F2F4-A3D5-4A96-9A4D-6F8E9AA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6FEAE-652D-4749-82B7-92AA86ED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the present state and input.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7336B-6E9C-460E-B5DE-E255FB2A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8AE1E-1E7B-4E5E-8604-30D216C1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the active level or edge.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3DE4E-0D76-4ECB-B112-A71ED87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9FAB5-5248-4A5B-9C9A-E39F9EB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the device rule, then hold the result until the next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C1E6-B7A3-49AA-B9F6-8A7BFC3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76902-2804-4F7F-985A-566A4D0A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When does stored information change?</a:t>
            </a:r>
          </a:p>
        </p:txBody>
      </p:sp>
    </p:spTree>
    <p:extLst>
      <p:ext uri="{BB962C8B-B14F-4D97-AF65-F5344CB8AC3E}">
        <p14:creationId xmlns:p14="http://schemas.microsoft.com/office/powerpoint/2010/main" val="963351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87465-57D0-4341-9318-30CF3CD4B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ce96c3576428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FD730-FEAB-4334-9FA3-E3CB0A8E9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46e3db4184ea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0FDFA-4140-4A4A-97B0-C8F9392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1DD21-F37A-47A0-81D9-03104A2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397C-8434-4F0A-A555-779C8C8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DF84-A21A-4C1F-B3E0-DC040C7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839E7-33A3-4E9A-BB19-67646FBC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18CA-2394-4DC3-A130-85625C3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B703A-7C1D-4519-A02D-330D744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B13EE-3932-4DF5-91E7-32C3F39E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2ED1C-4461-44FE-AB92-83FF12ADFA32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Device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Next-state 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 flip-flop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Q⁺=D at the active edge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T flip-flop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 hold; 1 toggle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JK flip-flop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J,K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00 hold; 01 reset; 10 set; 11 toggle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Active-high SR latch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S,R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00 hold; 01 reset; 10 set; 11 invalid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E923-19BA-45C5-B9A9-BFE7564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928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D, T and JK are clocked here. The basic SR device is a level-sensitive latch.</a:t>
            </a:r>
          </a:p>
        </p:txBody>
      </p:sp>
    </p:spTree>
    <p:extLst>
      <p:ext uri="{BB962C8B-B14F-4D97-AF65-F5344CB8AC3E}">
        <p14:creationId xmlns:p14="http://schemas.microsoft.com/office/powerpoint/2010/main" val="1945947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496BF-66BE-4E5A-87C8-E61BE4EF8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62897fbc54f1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497B3-6695-4B21-ABCD-13E9DF729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c478dfa7a418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192A8-9DD7-476E-A321-CC43538C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STATE NOTATION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51BE2-6826-43A8-A67E-B0C9BAE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 is present state; Q⁺ is next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1523C-00A6-4225-A056-5EE5A61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0365D-C1DF-49DE-B5B3-7EA4F0F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8E86-5190-44E0-855E-0EAD21B9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CA23D-C6B3-4F77-A409-96BE6E32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52AF3-B134-4235-AF94-F0CBE1A2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F6F96-FBC7-4BFE-99F4-9DCF698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C1AD3-87FB-4B45-A6E6-9344B7F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76425"/>
            <a:ext cx="2428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7A9C0-EB5A-4DA1-B195-1960471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71675"/>
            <a:ext cx="95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9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92971-D00E-472E-8D20-4781B29E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stored before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EA0CB-EF4F-4B3E-89F6-1A020A7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controlling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C492F-821F-4A57-AE1E-8C5C438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38425"/>
            <a:ext cx="476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A1803-A64D-4927-8FF6-D7EB2474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76425"/>
            <a:ext cx="2428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5DBA4-F466-47B8-9BA1-FFDC77C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Q⁺ (Q*)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114EE-C00C-4191-BD6B-189FF09A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76500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stored after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CB64E-802D-4E27-B9BB-869FBF5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14725"/>
            <a:ext cx="9677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Q⁺ is the value that will be stored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599DB-9822-4F27-BE88-81FE0AF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9934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flip-flop responds at an active clock edge; a latch responds during an active level.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29142-1312-4FC9-8317-AAEA7EA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993457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9FDDD-8A4E-4EBE-91CD-6826C8F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9258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Example: Q=0 and D=1 before a rising edge. At that edge, Q⁺=1; Q then holds 1 until the next edge.</a:t>
            </a:r>
          </a:p>
        </p:txBody>
      </p:sp>
    </p:spTree>
    <p:extLst>
      <p:ext uri="{BB962C8B-B14F-4D97-AF65-F5344CB8AC3E}">
        <p14:creationId xmlns:p14="http://schemas.microsoft.com/office/powerpoint/2010/main" val="1703826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67527-96EA-4342-B7FB-0A8F494D0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21b5a854f429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E7EA1-DCD5-4C2B-A826-5F5A8C49B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fd638a09c49a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9DC83-1FAC-4044-9921-9FBBD367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D FLIP-FLOP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39064-BF76-4077-96D8-8D628A71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 copies the data input at the active 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F4192-3C39-4A23-A174-D4171F99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D08FC-563C-49BA-B299-25CEE2B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D8B03-F7B2-4E32-9EFD-DE157E38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F98D0-7103-4BFB-B647-944813A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8A02B-A724-4B53-A2A1-562CB2F5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C5308-BEF8-4237-A09C-851B0CB5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D6337-DE7D-4CE6-92DE-BA789D43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14500"/>
            <a:ext cx="1042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 means data. A D flip-flop has one data input and one stored output Q.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F7614-28AE-45D4-B73E-8A7C5246AACE}"/>
              </a:ext>
            </a:extLst>
          </p:cNvPr>
          <p:cNvGraphicFramePr/>
          <p:nvPr/>
        </p:nvGraphicFramePr>
        <p:xfrm>
          <a:off xmlns:a="http://schemas.openxmlformats.org/drawingml/2006/main" x="847725" y="2514600"/>
          <a:ext xmlns:a="http://schemas.openxmlformats.org/drawingml/2006/main" cx="59055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8500"/>
                <a:gridCol w="1968500"/>
                <a:gridCol w="1968500"/>
              </a:tblGrid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Present 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 at edge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 Q⁺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8B413-6A00-48C4-9E20-3718AC7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431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9F61B-0467-4AA3-86D5-04527DB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813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Q⁺ = 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51B00-D3FD-46A7-931F-7DFF515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95700"/>
            <a:ext cx="389572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old Q does not alter the copied value. Between edges, Q holds.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20862-E30D-4E1D-8E52-5ECC92F4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10458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D4143-1A1A-477D-A062-16C4686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976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Example: Q=0, D=1 at a rising edge. The new Q is 1.</a:t>
            </a:r>
          </a:p>
        </p:txBody>
      </p:sp>
    </p:spTree>
    <p:extLst>
      <p:ext uri="{BB962C8B-B14F-4D97-AF65-F5344CB8AC3E}">
        <p14:creationId xmlns:p14="http://schemas.microsoft.com/office/powerpoint/2010/main" val="331168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39726-A281-40BA-AA80-4D282F48D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2c82eee214a4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575DD-5DF6-4EF9-89F5-5E83E31C3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0a3bbf9a543f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95F5C-1780-4661-977B-2AB8D4B9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T FLIP-FLOP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B0E2-1917-4CFB-A50E-0D97A885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 chooses hold or toggle at the active 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17FD3-9B8C-4051-9367-C903D890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81BB3-6A0E-486E-8A19-B47F0D5E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60383-8287-4725-81D5-9DDB6B04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1EB5F-52D1-4316-AD0B-2D449858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3880D-6834-4809-86C2-F519149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10D76-C1ED-4B37-ABEC-E158E7A2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8179-10B7-4FCB-82E9-136548A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14500"/>
            <a:ext cx="1042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 means toggle. T=0 holds the stored bit; T=1 complements it.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28A4F-E46D-454E-B6A7-2FF9AC6EADEE}"/>
              </a:ext>
            </a:extLst>
          </p:cNvPr>
          <p:cNvGraphicFramePr/>
          <p:nvPr/>
        </p:nvGraphicFramePr>
        <p:xfrm>
          <a:off xmlns:a="http://schemas.openxmlformats.org/drawingml/2006/main" x="847725" y="2514600"/>
          <a:ext xmlns:a="http://schemas.openxmlformats.org/drawingml/2006/main" cx="59055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8500"/>
                <a:gridCol w="1968500"/>
                <a:gridCol w="1968500"/>
              </a:tblGrid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Present 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T at edge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 Q⁺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F0B08-61B1-4363-82F6-82ED329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431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E5B85-18C6-448A-B533-AE658022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813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Q⁺ = Q ⊕ 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D9F0D-A9C5-4BDD-B2FB-77A3762B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95700"/>
            <a:ext cx="389572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toggle changes 0 to 1 or 1 to 0. The output holds between edges.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83CB2-C4C9-465D-92D6-06E5E4F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10458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36180-D5A5-4FEF-87BC-427AE54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976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Example: Q=1, T=1 at a rising edge. The new Q is 0.</a:t>
            </a:r>
          </a:p>
        </p:txBody>
      </p:sp>
    </p:spTree>
    <p:extLst>
      <p:ext uri="{BB962C8B-B14F-4D97-AF65-F5344CB8AC3E}">
        <p14:creationId xmlns:p14="http://schemas.microsoft.com/office/powerpoint/2010/main" val="541311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DA608-10F7-45AD-848B-6CC9EC9E2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17c73cb1147b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C6CE4-F6B1-48D9-985E-8DD69CE8E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64d69162b4ed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7B0B1-0F85-46FB-B54D-4930C4D8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JK FLIP-FLOP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C49-8D97-45CB-8C45-15B35815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J and K choose hold, reset, set or toggle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3C54-4EFC-45EF-98AA-13C92AA8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D2371-8801-4639-A77E-2FE029B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BC1C8-7FB5-4FCD-8A07-E80EE171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AD169-BF68-4AA2-9506-047EBB3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C5203-E020-4477-9DCB-7D35DFBC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91D83-7370-4844-A9C8-4A719F8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DD7C2-9D64-4EB3-B6C6-894B45DF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29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J is the set control and K is the reset control. Both are sampled at the active edge.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18658-E841-4E4A-9B82-77D75E251562}"/>
              </a:ext>
            </a:extLst>
          </p:cNvPr>
          <p:cNvGraphicFramePr/>
          <p:nvPr/>
        </p:nvGraphicFramePr>
        <p:xfrm>
          <a:off xmlns:a="http://schemas.openxmlformats.org/drawingml/2006/main" x="781050" y="2524125"/>
          <a:ext xmlns:a="http://schemas.openxmlformats.org/drawingml/2006/main" cx="106299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  <a:gridCol w="2125980"/>
              </a:tblGrid>
              <a:tr h="54102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J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Command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Q⁺ if Q=0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Q⁺ if Q=1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102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hold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reset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102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toggle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13424-70B0-4550-89F3-C62EA499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00675"/>
            <a:ext cx="10420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4D485-170E-42E3-9E22-FBDFF89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991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Equation: Q⁺=JQ′+K′Q. Example: Q=1, J=0, K=1 gives Q⁺=0.</a:t>
            </a:r>
          </a:p>
        </p:txBody>
      </p:sp>
    </p:spTree>
    <p:extLst>
      <p:ext uri="{BB962C8B-B14F-4D97-AF65-F5344CB8AC3E}">
        <p14:creationId xmlns:p14="http://schemas.microsoft.com/office/powerpoint/2010/main" val="6432745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A1C21-0A3A-451C-83FB-876EBE6E9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a7f0f2cd1431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42272-AED2-44BA-B883-9A39623E3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76970984e4b9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F8E0F-480E-41C0-82FA-F9B96F6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SR LATCH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851BF-D5E9-4736-8FAC-D7CD225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Set and reset control a basic SR latch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63774-5713-4D2B-A526-96CAEEFE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25331-109D-455F-8A97-285CBC9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ECC7D-FE29-48A4-AA4A-BAA6AC9F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D1BE7-F54B-41D1-8A6B-008BE15A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C1949-0DB5-4D4E-9E64-43F59061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D5B8F-4602-4F0F-B46D-79AC221E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7EDBC-3110-4313-B4AE-3D88F132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85925"/>
            <a:ext cx="1042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 means set and R means reset. This table is for an active-high SR latch.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E11C-A7C8-434A-89D7-3238FB281935}"/>
              </a:ext>
            </a:extLst>
          </p:cNvPr>
          <p:cNvGraphicFramePr/>
          <p:nvPr/>
        </p:nvGraphicFramePr>
        <p:xfrm>
          <a:off xmlns:a="http://schemas.openxmlformats.org/drawingml/2006/main" x="857250" y="2438400"/>
          <a:ext xmlns:a="http://schemas.openxmlformats.org/drawingml/2006/main" cx="104584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4613"/>
                <a:gridCol w="2614613"/>
                <a:gridCol w="2614613"/>
                <a:gridCol w="2614613"/>
              </a:tblGrid>
              <a:tr h="54483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Command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Next 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483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hold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reset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483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invalid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undefined after release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8C25A-5479-42E6-91E8-314DEB5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 latch responds when S or R is asserted; it does not wait for a clock 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7D012-97A7-4FE7-A9FB-53AE6F70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57850"/>
            <a:ext cx="1023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clocked SR flip-flop samples similar requests at its edge. Always check the device and input polarity.</a:t>
            </a:r>
          </a:p>
        </p:txBody>
      </p:sp>
    </p:spTree>
    <p:extLst>
      <p:ext uri="{BB962C8B-B14F-4D97-AF65-F5344CB8AC3E}">
        <p14:creationId xmlns:p14="http://schemas.microsoft.com/office/powerpoint/2010/main" val="2022295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2A85E-0102-4AFB-B195-48D5C9428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4e5d0524c439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9382A-0CDB-4D57-A7C2-707E79C53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72cb8cc9b4ca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E5039-22E6-49DE-BE35-49FD2CCB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A796C-9825-4D90-9B8C-83BBF6C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8D62D-A519-4D29-918A-D09BB8FD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667C6-D71C-4740-80A8-F8D705A5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7B86A-0203-42B1-BD71-FBD9A18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8E617-CB06-4293-9868-2BD42ED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22125-21D9-46E5-AC2E-518808A5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1EB8A-EB45-4306-AACA-2A86639E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41523-FE93-4523-92F1-0141803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EFBFB-298D-423A-8AF4-8CEABE9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95FF1-5218-4174-85F7-A00F828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the storage device, active level or edge, and initial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CCD35-E819-4E39-94CC-5141822F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3B202-0B2A-4E2E-A679-6ADC041F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172CB-08D4-4EC9-801F-B5E2724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the input value at every controlling event before computing Q⁺.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F8DB1-595A-42BE-B318-2E323981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F1DAF-C9B2-45D1-AAE8-D3E397C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CCC90-17F7-4D76-9D25-737C373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 the characteristic rule one event at a time, then draw the held intervals.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D4AAA-4BEE-4942-86B7-2A53324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634AA-7C98-4499-AF20-0BFC3B8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2196233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62B18-90DE-414F-A835-50F6C0093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6132fa98941e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E5CA1-277B-45F7-B665-023BE0446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210acd3224b4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1DB04-64D1-499E-8E26-7885F9B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4F87C-8F05-43F5-A89B-8578B3A3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Trace a D flip-flop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91EEF-A9F5-47D6-9DBA-5233B64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EB9EA-B082-46A9-B622-4D34B7C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8A719-68DF-49F2-AB7B-53594548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3FC5B-2B04-4938-9822-8ADE69C6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7633C-B51A-4DDF-AE79-5E77233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2C9E0-EBAA-41D6-B96C-0C0D751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2E8C6-8F3B-478C-ACB0-7171406A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F62B0-C48B-423A-81E1-96B367E3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Initially Q=0. D is 1 before edge 1, changes to 0 after that edge, and returns to 1 before edge 3. Find Q after three rising edges.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B3747-E1F1-497F-9226-A852C8F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E394D-773A-4002-BF60-D027DE6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At edge 1, D=1, so Q⁺=1.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E8783-8F1F-406F-B15C-FBCF698E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DC218-419D-42F2-A55D-61545779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At edge 2, D=0, so Q⁺=0.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51133-1E5B-42C1-96B8-9E85E3B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08E3D-ECFB-4488-882A-E94AAA9E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At edge 3, D=1, so Q⁺=1.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60F81-DC8B-4B18-8548-504DBA2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DC11A-9220-4675-AF4B-A20A6FCE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Between edges Q holds, even when D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BCB73-6884-4408-BF9E-3FEEA49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CDABB-61F7-4A58-8D5E-F5D3DD96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sequence after the edges is 1, 0, 1.</a:t>
            </a:r>
          </a:p>
        </p:txBody>
      </p:sp>
    </p:spTree>
    <p:extLst>
      <p:ext uri="{BB962C8B-B14F-4D97-AF65-F5344CB8AC3E}">
        <p14:creationId xmlns:p14="http://schemas.microsoft.com/office/powerpoint/2010/main" val="687698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BFDCF-E6CC-438C-9B92-CA3D71752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eca7ac2b4ba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72F02-DE6C-47C7-95F3-6489D539C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b530c986941c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31623-7E37-4E29-AFA2-C2E0713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3D045-A881-48DD-BDDE-71387F7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04C80-2A95-4B8A-9F66-758BEB0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49864-8D59-493A-9728-83D7D84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ECDA4-A3B2-46BC-B839-A85AD8A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7FC25-51A7-43B7-B4B8-DCF2E68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A7CF1-1021-4731-8392-F0E043F9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EF1A0-F55F-4A97-B01A-D9E7E859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0561-51F7-4B4E-AF5B-C309366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908D2-2179-43D6-80A8-DB9BD64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 latch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2B9AA-4071-4CEA-BB60-F02E445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Follows D while enable is active.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11546-3061-4458-AB03-572A235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Holds when enable is inactive.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1D60D-4EEA-4D80-89E2-8670571F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 flip-flop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F815F-0699-45B6-9B09-6058F5B8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Samples D at its active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C6922-C7A2-4236-A702-CAE576F3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Holds between active edges.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3D7B1-C638-4959-9A8C-EE74322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408D1-75EF-4F9B-862D-3506BDAD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352095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11A48-39E1-4563-9DD8-AC0D7C101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892608ba54df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E6A8F-18EB-4F67-A4C5-1380B3B77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e3914cb22495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EC241-460F-4284-A9C0-DCC9A3E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13FB3-7BCE-4A0F-B0B1-1DE972D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Clock-edge laboratory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9E5D4-52CA-4161-A666-CCA8756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A717E-932F-4F95-AB3B-381B66D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37250-9683-476C-AAAC-332DD14F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E773-CCA2-4FC9-BC66-A065E66E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52578-3D90-4D78-AD06-D11B1E9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82ADE-084C-418C-85A2-6ABE376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E9AE7-5266-4C56-AB0C-94E6D74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19400"/>
            <a:ext cx="15240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14A4C-D28B-4B9D-B022-FC5F6B52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1314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04D24-1A5C-48AA-9605-469A4319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600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E6874-5759-4D56-8DEF-7B6209AA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19400"/>
            <a:ext cx="25431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8EDD5-73AC-4478-A825-DDBCE36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95600"/>
            <a:ext cx="2333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 flip-flop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2CCD5-5BC6-4B9C-88B6-1E35645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600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E2A77-0DFF-4730-8E46-99E471E7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19400"/>
            <a:ext cx="15240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6ABAC-603E-43B1-856F-A564611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1314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328AB-CAC4-4D4C-A9C2-2ABB3FD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Clock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1DD1D-86A5-4BA4-AAF5-F1A817E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Change the input between edges. Only the active edge updates these clocked devices. The asynchronous SR latch appears in Lesson 04.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03EC9-EE42-46CB-B7D0-7A15EFF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lesson-01.html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589552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661EA-8863-4007-9E18-471C3F5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5A6AC-8F3F-44B0-9B48-1A6A7E54F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ba3f471874bb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5EDE-B804-4209-8BEC-B0E39F7EC2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346d2428f4e7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63713-4D82-4539-AA13-4D0AAC9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F536-2E4E-4588-B185-B903999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L15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93213-5C0D-4FB9-8AD7-0B4C5E21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10784-21EE-4B5B-BAA1-82E70808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Given one D waveform and three rising clock edges, sketch both latch and flip-flop outputs. Mark the intervals when each output may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445A-0840-4A51-90C6-694A2ABC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the storage device, active level or edge, and initial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4916D-54E6-465E-BCFC-557A745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CEEC0-2D85-4E33-8B3B-7BD4BB4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FA97D-40F1-4276-893F-74A7B7A1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timing traces with every controlling event labelled.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A6C0B-CAA8-4326-800B-1CC84248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8FFFA-948E-41BB-9F7F-538C6BB5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C0FAA-6A20-4DFE-ACB4-8FD25759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L15  |  Week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7E402-9258-49FB-A72B-7DB0F68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8FE3A-F849-4956-B408-6D1F85D0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3A329-87BB-4B0F-8F42-234C6C08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06032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C059A-FB27-4622-BABE-D60F52FB7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b879f7eb461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22721-5CC2-476B-B020-844D2533A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71669b2634e9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F1053-4EB3-4E9B-ABED-8CA9E7A8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3A8D2-3703-49BF-9321-9E2AB758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3C36E-F4EF-410E-8A6B-09D5878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9A8B0-A5A6-4ACF-980A-5228D8C6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387AC-3DA6-4EFA-A1F1-8E22EDA5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9845E-6542-4CB2-BD43-94F6287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691B-F940-4F28-AF26-2F11013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C0681-23A0-4B2E-96CD-108F788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9046-FFCF-4D90-B08B-08BACC91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DCFF9-59C9-41ED-9886-4A38B04F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JK flip-flop has Q=1, J=0 and K=1. Determine Q⁺.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89725-0C9E-4DEB-92FB-1F3A606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19BBD-24F1-4412-954F-4535861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control pair JK=01 requests reset.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406A5-6E45-4110-B85A-3B576595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5962450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F1ED2-5152-4E95-8741-082269B7B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5f46ae2e1439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5C73-4AC6-401A-B456-82EE8E203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d2a7d108d4bd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41547-A6E0-4A04-B58C-BEDF6DA4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A1126-873A-4700-BE2D-CE3DE61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AD576-B49B-4D57-904C-5342475D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CDD43-80BC-4DA4-8B2B-D68EAB39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3EAB3-F822-42F2-8D52-7ECFA9DE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15366-A002-4FF8-8785-34B30547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85E2B-65AE-4577-92D7-89CB142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9EBFB-56EF-4FE7-86C8-794696D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4BF83-0A76-46B2-B506-0DA1557C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7CB46-8520-4AC4-B5A1-465626E2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2D6E2-0624-4C57-BB32-5CC6249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control pair JK=01 requests reset.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13112-C1D7-4735-BB83-8A45784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6F234-034A-4210-8262-EDB1495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F466A-98F2-4222-B392-F529DAC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Substitute into Q⁺=JQ′+K′Q.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14F21-08C6-429E-B316-077B63B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813C5-C3B2-4AC4-92CF-3219E020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34ACD-23BF-445A-A0A4-C2D10ED8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Q⁺=0·0+0·1=0.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A07F4-7026-41B1-AC2C-47017EC8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E1BA6-8658-42C9-8554-9C39C45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Q⁺=0.</a:t>
            </a:r>
          </a:p>
        </p:txBody>
      </p:sp>
    </p:spTree>
    <p:extLst>
      <p:ext uri="{BB962C8B-B14F-4D97-AF65-F5344CB8AC3E}">
        <p14:creationId xmlns:p14="http://schemas.microsoft.com/office/powerpoint/2010/main" val="18022187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3E2B9-8D8F-4F2E-A917-E67EBF97B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6a0becbe5432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D7EEA-DD4B-4CC6-BFB2-12DC75E60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536aedfa245b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E2CB4-1192-4030-86D8-67DAF4D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B44E7-9202-40D5-AF94-C3FEF04A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8F18E-3D0A-467B-A11F-73C9F80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8C8D5-C016-4415-BB79-E611E4E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4B96C-3004-4A08-886F-189E68B7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A9A02-421F-4736-B51D-24D08FE5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3370F-131D-40D4-A63E-83A4751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9AE83-6C6A-4EA6-9910-9CDC309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67205-F0FA-43E7-B127-B69A811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85FE1-DD91-453F-8490-433F7EF8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746D5-8096-45EC-BFE7-34959985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flip-flop follows D for the entire high clock level.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E8292-9419-4AA6-AFAF-AFE03EA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F6A7E-1AC5-4F53-BAA2-CAE4C954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C0006-015B-487C-A27A-1798AAB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clock edge is a sampling event, while a latch responds throughout its active level.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72C89-E3B6-428E-B1F5-A15CC763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E1222-13F6-49C5-91AC-F5F18F7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C2BF5-907E-4863-B565-A696546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the active edge and sample D only there.</a:t>
            </a:r>
          </a:p>
        </p:txBody>
      </p:sp>
    </p:spTree>
    <p:extLst>
      <p:ext uri="{BB962C8B-B14F-4D97-AF65-F5344CB8AC3E}">
        <p14:creationId xmlns:p14="http://schemas.microsoft.com/office/powerpoint/2010/main" val="21083715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8BFB4-DE4B-4C30-9BD0-8377501D5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e1ea2286c4c8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E8D7D-AED2-4410-9E14-44E0BF073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db54c2f1e4d5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FA0C-8599-4914-9082-BB5F0BAC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A099A-FF97-4C7F-BB88-0CC0777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FD51A-476F-461D-9884-CFDD4BA6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C044D-7599-421E-BD03-57FC2F21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34BE2-E9FB-4172-BA47-089CFCE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BCCC0-A613-4FC0-8B82-CED0FD1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33184-F0BB-49AA-8B6A-CE1B8C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25717-3A08-4DE6-A0FF-9F8E9F9C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74311-E4B1-4469-8F03-D463A77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A6929-0F26-4830-BA5F-33D16C6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 flip-flop has Q=1 and T=1. What is Q⁺?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5742A-D582-45AC-BDFB-74D9DE4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1E0EA-BE34-4815-B4ED-61F7624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D latch has enable=1. D changes 0→1 before enable falls. What is Q just before enable falls?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71108-655E-4E20-914F-78DB555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3502260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94E82-72BB-4348-9D88-A004784D2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61ad2c7f14a5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76C6E-303F-4FDA-B599-D9364BA86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82b2b5df94c7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B0C11-DFCA-4480-90A5-D28E2DAD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B1AFE-9A2E-4A5F-B2CE-45DBC53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534B2-B326-4E31-A11C-5EA8BD2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B6A8D-AAA2-48C2-9855-4E0CF00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E6F34-B33E-49F8-8E42-E3F78490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719EB-3DC4-45A7-9973-38EB517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A18E8-BBC0-4CD7-ABCA-6F3E9A50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AB06A-A38C-4C2E-A449-41BE164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D65F1-5A8A-4446-B0E1-A161574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90C17-4CC8-4D45-9DA3-955A6656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C4879-1CF9-450C-AD45-9DBFAFC3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Q⁺=Q⊕T=1⊕1=0.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AACE3-5F66-4971-9A96-68C1B180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FABEF-35E1-413E-8AAF-E871BB8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31CF3-CE34-4247-BC4C-117F0BB9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Q=1, assuming D has settled. After enable falls, the latch holds 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2ADFD-BD19-4F19-9B0A-0376EE4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8119206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D44BC-BB35-4648-89EA-90D280020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1b91e876e4cd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4F83-A054-484F-A971-288285682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ebd00059d407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B741-7AB5-4992-8588-FA4C7800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L15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7D4F8-6F2A-4123-9EC4-235887E5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BD90E-40D0-4C00-9082-316C69A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345CB-1120-417D-97C9-980CC64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D508E-25F3-4BA7-9A89-0B234DA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6 §§6.1–6.3, pp. 365–380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BD4C9-C5DD-4B7C-97E0-9DD5E61C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L15  |  Week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2222-7B27-4597-B929-099F3AC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8B23E-9416-4A6F-B608-7112063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5C636-DB9A-4DC4-BB64-DC8ECD8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88263-0D3B-4598-B6C7-2C4EEDB9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present state Q from next state Q⁺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383D8-924C-4D9F-9CE0-0AD3CF43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A448B-8393-45A2-8DAE-1142B016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a transparent latch with an edge-triggered flip-flop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9B417-6406-4611-897B-5339FFA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8948F-8198-42A0-A15B-62C126C3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D, T, JK and SR characteristic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BAD0C-95D8-43F9-9FF9-007DA0D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65E8A-39B1-408E-907C-03EF158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20AD4-CEC1-444F-901B-9DA5AFA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Sequential circuit analysis. Use lesson-02.html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35124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2026-10-14T05:29:54.8230000Z</dcterms:created>
  <dcterms:modified xsi:type="dcterms:W3CDTF">2026-10-14T05:29:54.8230000Z</dcterms:modified>
</coreProperties>
</file>