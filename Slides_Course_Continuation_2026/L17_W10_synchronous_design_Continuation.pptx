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0e5b48aa5a04bb2" /><Relationship Type="http://schemas.openxmlformats.org/officeDocument/2006/relationships/extended-properties" Target="/docProps/app.xml" Id="R3a3a23a774ac4cf5" /><Relationship Type="http://schemas.openxmlformats.org/officeDocument/2006/relationships/officeDocument" Target="/ppt/presentation.xml" Id="R88253a044c56477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aab1f0cef3842bf"/>
  </p:sldMasterIdLst>
  <p:notesMasterIdLst>
    <p:notesMasterId xmlns:r="http://schemas.openxmlformats.org/officeDocument/2006/relationships" r:id="R59cf6a8d37dd47c4"/>
  </p:notesMasterIdLst>
  <p:sldIdLst>
    <p:sldId xmlns:r="http://schemas.openxmlformats.org/officeDocument/2006/relationships" id="256" r:id="Rfaf75c14e1234c89"/>
    <p:sldId xmlns:r="http://schemas.openxmlformats.org/officeDocument/2006/relationships" id="257" r:id="Rb39d937f1f7a4fda"/>
    <p:sldId xmlns:r="http://schemas.openxmlformats.org/officeDocument/2006/relationships" id="258" r:id="R8a93d960fc6143f7"/>
    <p:sldId xmlns:r="http://schemas.openxmlformats.org/officeDocument/2006/relationships" id="259" r:id="R2186002048064b08"/>
    <p:sldId xmlns:r="http://schemas.openxmlformats.org/officeDocument/2006/relationships" id="260" r:id="R2d87ab7427104362"/>
    <p:sldId xmlns:r="http://schemas.openxmlformats.org/officeDocument/2006/relationships" id="261" r:id="R0959b514132a486f"/>
    <p:sldId xmlns:r="http://schemas.openxmlformats.org/officeDocument/2006/relationships" id="262" r:id="R59dd5cbb90cf4e5d"/>
    <p:sldId xmlns:r="http://schemas.openxmlformats.org/officeDocument/2006/relationships" id="263" r:id="Rc87d483df4344c69"/>
    <p:sldId xmlns:r="http://schemas.openxmlformats.org/officeDocument/2006/relationships" id="264" r:id="Ref45961c519445e0"/>
    <p:sldId xmlns:r="http://schemas.openxmlformats.org/officeDocument/2006/relationships" id="265" r:id="R80eeec8ac1384f00"/>
    <p:sldId xmlns:r="http://schemas.openxmlformats.org/officeDocument/2006/relationships" id="266" r:id="Rdda1e22305724502"/>
    <p:sldId xmlns:r="http://schemas.openxmlformats.org/officeDocument/2006/relationships" id="267" r:id="Rb82f733953aa4c5b"/>
    <p:sldId xmlns:r="http://schemas.openxmlformats.org/officeDocument/2006/relationships" id="268" r:id="R8180b83c188f47bb"/>
    <p:sldId xmlns:r="http://schemas.openxmlformats.org/officeDocument/2006/relationships" id="269" r:id="R270975dbd40d43db"/>
    <p:sldId xmlns:r="http://schemas.openxmlformats.org/officeDocument/2006/relationships" id="270" r:id="Re98cca8440924512"/>
    <p:sldId xmlns:r="http://schemas.openxmlformats.org/officeDocument/2006/relationships" id="271" r:id="R8fce4f4fa4a64415"/>
    <p:sldId xmlns:r="http://schemas.openxmlformats.org/officeDocument/2006/relationships" id="272" r:id="R552f2e9421b847ac"/>
    <p:sldId xmlns:r="http://schemas.openxmlformats.org/officeDocument/2006/relationships" id="273" r:id="R8ecc1c8b6c85430b"/>
    <p:sldId xmlns:r="http://schemas.openxmlformats.org/officeDocument/2006/relationships" id="274" r:id="R37aa5f503d834a4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69eabf1290948e0" /><Relationship Type="http://schemas.openxmlformats.org/officeDocument/2006/relationships/slideMaster" Target="/ppt/slideMasters/slideMaster1.xml" Id="R5aab1f0cef3842bf" /><Relationship Type="http://schemas.openxmlformats.org/officeDocument/2006/relationships/notesMaster" Target="/ppt/notesMasters/notesMaster1.xml" Id="R59cf6a8d37dd47c4" /><Relationship Type="http://schemas.openxmlformats.org/officeDocument/2006/relationships/presProps" Target="/ppt/presProps.xml" Id="R78749a2bdfa94afa" /><Relationship Type="http://schemas.openxmlformats.org/officeDocument/2006/relationships/tableStyles" Target="/ppt/tableStyles.xml" Id="R071f6b3a55c549ac" /><Relationship Type="http://schemas.openxmlformats.org/officeDocument/2006/relationships/slide" Target="/ppt/slides/slide1.xml" Id="Rfaf75c14e1234c89" /><Relationship Type="http://schemas.openxmlformats.org/officeDocument/2006/relationships/slide" Target="/ppt/slides/slide2.xml" Id="Rb39d937f1f7a4fda" /><Relationship Type="http://schemas.openxmlformats.org/officeDocument/2006/relationships/slide" Target="/ppt/slides/slide3.xml" Id="R8a93d960fc6143f7" /><Relationship Type="http://schemas.openxmlformats.org/officeDocument/2006/relationships/slide" Target="/ppt/slides/slide4.xml" Id="R2186002048064b08" /><Relationship Type="http://schemas.openxmlformats.org/officeDocument/2006/relationships/slide" Target="/ppt/slides/slide5.xml" Id="R2d87ab7427104362" /><Relationship Type="http://schemas.openxmlformats.org/officeDocument/2006/relationships/slide" Target="/ppt/slides/slide6.xml" Id="R0959b514132a486f" /><Relationship Type="http://schemas.openxmlformats.org/officeDocument/2006/relationships/slide" Target="/ppt/slides/slide7.xml" Id="R59dd5cbb90cf4e5d" /><Relationship Type="http://schemas.openxmlformats.org/officeDocument/2006/relationships/slide" Target="/ppt/slides/slide8.xml" Id="Rc87d483df4344c69" /><Relationship Type="http://schemas.openxmlformats.org/officeDocument/2006/relationships/slide" Target="/ppt/slides/slide9.xml" Id="Ref45961c519445e0" /><Relationship Type="http://schemas.openxmlformats.org/officeDocument/2006/relationships/slide" Target="/ppt/slides/slide10.xml" Id="R80eeec8ac1384f00" /><Relationship Type="http://schemas.openxmlformats.org/officeDocument/2006/relationships/slide" Target="/ppt/slides/slide11.xml" Id="Rdda1e22305724502" /><Relationship Type="http://schemas.openxmlformats.org/officeDocument/2006/relationships/slide" Target="/ppt/slides/slide12.xml" Id="Rb82f733953aa4c5b" /><Relationship Type="http://schemas.openxmlformats.org/officeDocument/2006/relationships/slide" Target="/ppt/slides/slide13.xml" Id="R8180b83c188f47bb" /><Relationship Type="http://schemas.openxmlformats.org/officeDocument/2006/relationships/slide" Target="/ppt/slides/slide14.xml" Id="R270975dbd40d43db" /><Relationship Type="http://schemas.openxmlformats.org/officeDocument/2006/relationships/slide" Target="/ppt/slides/slide15.xml" Id="Re98cca8440924512" /><Relationship Type="http://schemas.openxmlformats.org/officeDocument/2006/relationships/slide" Target="/ppt/slides/slide16.xml" Id="R8fce4f4fa4a64415" /><Relationship Type="http://schemas.openxmlformats.org/officeDocument/2006/relationships/slide" Target="/ppt/slides/slide17.xml" Id="R552f2e9421b847ac" /><Relationship Type="http://schemas.openxmlformats.org/officeDocument/2006/relationships/slide" Target="/ppt/slides/slide18.xml" Id="R8ecc1c8b6c85430b" /><Relationship Type="http://schemas.openxmlformats.org/officeDocument/2006/relationships/slide" Target="/ppt/slides/slide19.xml" Id="R37aa5f503d834a4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dc59f7b3112479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da4a00bec3a40ec" /><Relationship Type="http://schemas.openxmlformats.org/officeDocument/2006/relationships/notesMaster" Target="/ppt/notesMasters/notesMaster1.xml" Id="Raeb404e41f86421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4ec2bc05cba41cb" /><Relationship Type="http://schemas.openxmlformats.org/officeDocument/2006/relationships/notesMaster" Target="/ppt/notesMasters/notesMaster1.xml" Id="R080811c3bab3444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2fcdbb98ef640b1" /><Relationship Type="http://schemas.openxmlformats.org/officeDocument/2006/relationships/notesMaster" Target="/ppt/notesMasters/notesMaster1.xml" Id="R9954aa410a644d1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27e2be3d8c14bbe" /><Relationship Type="http://schemas.openxmlformats.org/officeDocument/2006/relationships/notesMaster" Target="/ppt/notesMasters/notesMaster1.xml" Id="R687232a230ea479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4e4bae45c8f4654" /><Relationship Type="http://schemas.openxmlformats.org/officeDocument/2006/relationships/notesMaster" Target="/ppt/notesMasters/notesMaster1.xml" Id="Raccb221afb594e8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55716c171ee44a9" /><Relationship Type="http://schemas.openxmlformats.org/officeDocument/2006/relationships/notesMaster" Target="/ppt/notesMasters/notesMaster1.xml" Id="Rbc555660760544f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5534fc3a9284be5" /><Relationship Type="http://schemas.openxmlformats.org/officeDocument/2006/relationships/notesMaster" Target="/ppt/notesMasters/notesMaster1.xml" Id="R5ac6fbff3e3d420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2d67fc9c7354941" /><Relationship Type="http://schemas.openxmlformats.org/officeDocument/2006/relationships/notesMaster" Target="/ppt/notesMasters/notesMaster1.xml" Id="Rcc578501a805407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fad95be060042bc" /><Relationship Type="http://schemas.openxmlformats.org/officeDocument/2006/relationships/notesMaster" Target="/ppt/notesMasters/notesMaster1.xml" Id="R35b5d1b3e69b4c8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775af3d0eff44a1" /><Relationship Type="http://schemas.openxmlformats.org/officeDocument/2006/relationships/notesMaster" Target="/ppt/notesMasters/notesMaster1.xml" Id="Rc40dabcab521465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1a4be10fce24637" /><Relationship Type="http://schemas.openxmlformats.org/officeDocument/2006/relationships/notesMaster" Target="/ppt/notesMasters/notesMaster1.xml" Id="Rcb8a9141f3a448f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bacc2a07e314045" /><Relationship Type="http://schemas.openxmlformats.org/officeDocument/2006/relationships/notesMaster" Target="/ppt/notesMasters/notesMaster1.xml" Id="R2602b615b2524b7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78436f92d434c21" /><Relationship Type="http://schemas.openxmlformats.org/officeDocument/2006/relationships/notesMaster" Target="/ppt/notesMasters/notesMaster1.xml" Id="R99d5a6aafcd24c4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bd9c85acf864510" /><Relationship Type="http://schemas.openxmlformats.org/officeDocument/2006/relationships/notesMaster" Target="/ppt/notesMasters/notesMaster1.xml" Id="Rf55a5ab6ec7b4b7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76f5b6d2e7146a1" /><Relationship Type="http://schemas.openxmlformats.org/officeDocument/2006/relationships/notesMaster" Target="/ppt/notesMasters/notesMaster1.xml" Id="R8f2700453994435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d726d3dd6bb44ba" /><Relationship Type="http://schemas.openxmlformats.org/officeDocument/2006/relationships/notesMaster" Target="/ppt/notesMasters/notesMaster1.xml" Id="Ra70e43d1f363474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ceccf400ab44f2a" /><Relationship Type="http://schemas.openxmlformats.org/officeDocument/2006/relationships/notesMaster" Target="/ppt/notesMasters/notesMaster1.xml" Id="R7337006c28b84f3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c20497bffdb411a" /><Relationship Type="http://schemas.openxmlformats.org/officeDocument/2006/relationships/notesMaster" Target="/ppt/notesMasters/notesMaster1.xml" Id="R7f026dc8fdc141e5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f09e4db4c7ac4702" /><Relationship Type="http://schemas.openxmlformats.org/officeDocument/2006/relationships/notesMaster" Target="/ppt/notesMasters/notesMaster1.xml" Id="Rfd5b63c51a844c4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ELEC 335 | Lecture 17 | Week 10</a:t>
            </a:r>
          </a:p>
          <a:p xmlns:a="http://schemas.openxmlformats.org/drawingml/2006/main">
            <a:r>
              <a:t>Opening</a:t>
            </a:r>
          </a:p>
          <a:p xmlns:a="http://schemas.openxmlformats.org/drawingml/2006/main">
            <a:r>
              <a:t>Reading: Alan B. Marcovitz, Introduction to Logic Design, 3rd ed., Ch. 7 §§7.1–7.2, pp. 420–447.</a:t>
            </a:r>
          </a:p>
          <a:p xmlns:a="http://schemas.openxmlformats.org/drawingml/2006/main">
            <a:r>
              <a:t>Companion animation: lesson-03.html</a:t>
            </a:r>
          </a:p>
          <a:p xmlns:a="http://schemas.openxmlformats.org/drawingml/2006/main">
            <a:r>
              <a:t>Opening question: What input must each flip-flop receive to make a specified transition?</a:t>
            </a:r>
          </a:p>
          <a:p xmlns:a="http://schemas.openxmlformats.org/drawingml/2006/main">
            <a:r>
              <a:t>Outcomes: Use D, T and JK excitation requirements | Design a synchronous modulus-six counter | Specify recovery from unused encodings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ELEC 335 | Lecture 17 | Week 10</a:t>
            </a:r>
          </a:p>
          <a:p xmlns:a="http://schemas.openxmlformats.org/drawingml/2006/main">
            <a:r>
              <a:t>Reading map</a:t>
            </a:r>
          </a:p>
          <a:p xmlns:a="http://schemas.openxmlformats.org/drawingml/2006/main">
            <a:r>
              <a:t>Reading: Alan B. Marcovitz, Introduction to Logic Design, 3rd ed., Ch. 7 §§7.1–7.2, pp. 420–447.</a:t>
            </a:r>
          </a:p>
          <a:p xmlns:a="http://schemas.openxmlformats.org/drawingml/2006/main">
            <a:r>
              <a:t>Companion animation: lesson-03.html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ELEC 335 | Lecture 17 | Week 10</a:t>
            </a:r>
          </a:p>
          <a:p xmlns:a="http://schemas.openxmlformats.org/drawingml/2006/main">
            <a:r>
              <a:t>Learning outcomes</a:t>
            </a:r>
          </a:p>
          <a:p xmlns:a="http://schemas.openxmlformats.org/drawingml/2006/main">
            <a:r>
              <a:t>Reading: Alan B. Marcovitz, Introduction to Logic Design, 3rd ed., Ch. 7 §§7.1–7.2, pp. 420–447.</a:t>
            </a:r>
          </a:p>
          <a:p xmlns:a="http://schemas.openxmlformats.org/drawingml/2006/main">
            <a:r>
              <a:t>Companion animation: lesson-03.html</a:t>
            </a:r>
          </a:p>
          <a:p xmlns:a="http://schemas.openxmlformats.org/drawingml/2006/main">
            <a:r>
              <a:t>Use D, T and JK excitation requirements</a:t>
            </a:r>
          </a:p>
          <a:p xmlns:a="http://schemas.openxmlformats.org/drawingml/2006/main">
            <a:r>
              <a:t>Design a synchronous modulus-six counter</a:t>
            </a:r>
          </a:p>
          <a:p xmlns:a="http://schemas.openxmlformats.org/drawingml/2006/main">
            <a:r>
              <a:t>Specify recovery from unused encodings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ELEC 335 | Lecture 17 | Week 10</a:t>
            </a:r>
          </a:p>
          <a:p xmlns:a="http://schemas.openxmlformats.org/drawingml/2006/main">
            <a:r>
              <a:t>Guiding question</a:t>
            </a:r>
          </a:p>
          <a:p xmlns:a="http://schemas.openxmlformats.org/drawingml/2006/main">
            <a:r>
              <a:t>Reading: Alan B. Marcovitz, Introduction to Logic Design, 3rd ed., Ch. 7 §§7.1–7.2, pp. 420–447.</a:t>
            </a:r>
          </a:p>
          <a:p xmlns:a="http://schemas.openxmlformats.org/drawingml/2006/main">
            <a:r>
              <a:t>Companion animation: lesson-03.html</a:t>
            </a:r>
          </a:p>
          <a:p xmlns:a="http://schemas.openxmlformats.org/drawingml/2006/main">
            <a:r>
              <a:t>Ask students for an initial answer: What input must each flip-flop receive to make a specified transition?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ELEC 335 | Lecture 17 | Week 10</a:t>
            </a:r>
          </a:p>
          <a:p xmlns:a="http://schemas.openxmlformats.org/drawingml/2006/main">
            <a:r>
              <a:t>Prerequisite bridge</a:t>
            </a:r>
          </a:p>
          <a:p xmlns:a="http://schemas.openxmlformats.org/drawingml/2006/main">
            <a:r>
              <a:t>Reading: Alan B. Marcovitz, Introduction to Logic Design, 3rd ed., Ch. 7 §§7.1–7.2, pp. 420–447.</a:t>
            </a:r>
          </a:p>
          <a:p xmlns:a="http://schemas.openxmlformats.org/drawingml/2006/main">
            <a:r>
              <a:t>Companion animation: lesson-03.html</a:t>
            </a:r>
          </a:p>
          <a:p xmlns:a="http://schemas.openxmlformats.org/drawingml/2006/main">
            <a:r>
              <a:t>A state table specifies a desired next state.</a:t>
            </a:r>
          </a:p>
          <a:p xmlns:a="http://schemas.openxmlformats.org/drawingml/2006/main">
            <a:r>
              <a:t>A D flip-flop copies its input to Q at the edge.</a:t>
            </a:r>
          </a:p>
          <a:p xmlns:a="http://schemas.openxmlformats.org/drawingml/2006/main">
            <a:r>
              <a:t>A three-bit register has eight possible binary codes.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ELEC 335 | Lecture 17 | Week 10</a:t>
            </a:r>
          </a:p>
          <a:p xmlns:a="http://schemas.openxmlformats.org/drawingml/2006/main">
            <a:r>
              <a:t>Vocabulary</a:t>
            </a:r>
          </a:p>
          <a:p xmlns:a="http://schemas.openxmlformats.org/drawingml/2006/main">
            <a:r>
              <a:t>Reading: Alan B. Marcovitz, Introduction to Logic Design, 3rd ed., Ch. 7 §§7.1–7.2, pp. 420–447.</a:t>
            </a:r>
          </a:p>
          <a:p xmlns:a="http://schemas.openxmlformats.org/drawingml/2006/main">
            <a:r>
              <a:t>Companion animation: lesson-03.html</a:t>
            </a:r>
          </a:p>
          <a:p xmlns:a="http://schemas.openxmlformats.org/drawingml/2006/main">
            <a:r>
              <a:t>excitation: input required for a specified Q to Q⁺ change</a:t>
            </a:r>
          </a:p>
          <a:p xmlns:a="http://schemas.openxmlformats.org/drawingml/2006/main">
            <a:r>
              <a:t>modulus: number of states in a counter cycle</a:t>
            </a:r>
          </a:p>
          <a:p xmlns:a="http://schemas.openxmlformats.org/drawingml/2006/main">
            <a:r>
              <a:t>synchronous counter: stages driven by one shared clock</a:t>
            </a:r>
          </a:p>
          <a:p xmlns:a="http://schemas.openxmlformats.org/drawingml/2006/main">
            <a:r>
              <a:t>unused encoding: bit pattern outside the intended count sequence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ELEC 335 | Lecture 17 | Week 10</a:t>
            </a:r>
          </a:p>
          <a:p xmlns:a="http://schemas.openxmlformats.org/drawingml/2006/main">
            <a:r>
              <a:t>Plain-language model</a:t>
            </a:r>
          </a:p>
          <a:p xmlns:a="http://schemas.openxmlformats.org/drawingml/2006/main">
            <a:r>
              <a:t>Reading: Alan B. Marcovitz, Introduction to Logic Design, 3rd ed., Ch. 7 §§7.1–7.2, pp. 420–447.</a:t>
            </a:r>
          </a:p>
          <a:p xmlns:a="http://schemas.openxmlformats.org/drawingml/2006/main">
            <a:r>
              <a:t>Companion animation: lesson-03.html</a:t>
            </a:r>
          </a:p>
          <a:p xmlns:a="http://schemas.openxmlformats.org/drawingml/2006/main">
            <a:r>
              <a:t>Write the full desired state sequence.</a:t>
            </a:r>
          </a:p>
          <a:p xmlns:a="http://schemas.openxmlformats.org/drawingml/2006/main">
            <a:r>
              <a:t>Assign every unused encoding a defined recovery.</a:t>
            </a:r>
          </a:p>
          <a:p xmlns:a="http://schemas.openxmlformats.org/drawingml/2006/main">
            <a:r>
              <a:t>Convert Q to Q⁺ changes into flip-flop inputs and verify.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ELEC 335 | Lecture 17 | Week 10</a:t>
            </a:r>
          </a:p>
          <a:p xmlns:a="http://schemas.openxmlformats.org/drawingml/2006/main">
            <a:r>
              <a:t>Reference table</a:t>
            </a:r>
          </a:p>
          <a:p xmlns:a="http://schemas.openxmlformats.org/drawingml/2006/main">
            <a:r>
              <a:t>Reading: Alan B. Marcovitz, Introduction to Logic Design, 3rd ed., Ch. 7 §§7.1–7.2, pp. 420–447.</a:t>
            </a:r>
          </a:p>
          <a:p xmlns:a="http://schemas.openxmlformats.org/drawingml/2006/main">
            <a:r>
              <a:t>Companion animation: lesson-03.html</a:t>
            </a:r>
          </a:p>
          <a:p xmlns:a="http://schemas.openxmlformats.org/drawingml/2006/main">
            <a:r>
              <a:t>Read all columns in the bit order shown. Ask students to predict one row before the worked example.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ELEC 335 | Lecture 17 | Week 10</a:t>
            </a:r>
          </a:p>
          <a:p xmlns:a="http://schemas.openxmlformats.org/drawingml/2006/main">
            <a:r>
              <a:t>Textbook exercise method</a:t>
            </a:r>
          </a:p>
          <a:p xmlns:a="http://schemas.openxmlformats.org/drawingml/2006/main">
            <a:r>
              <a:t>Reading: Alan B. Marcovitz, Introduction to Logic Design, 3rd ed., Ch. 7 §§7.1–7.2, pp. 420–447.</a:t>
            </a:r>
          </a:p>
          <a:p xmlns:a="http://schemas.openxmlformats.org/drawingml/2006/main">
            <a:r>
              <a:t>Companion animation: lesson-03.html</a:t>
            </a:r>
          </a:p>
          <a:p xmlns:a="http://schemas.openxmlformats.org/drawingml/2006/main">
            <a:r>
              <a:t>Write the required state sequence and include every unused encoding.</a:t>
            </a:r>
          </a:p>
          <a:p xmlns:a="http://schemas.openxmlformats.org/drawingml/2006/main">
            <a:r>
              <a:t>Add excitation columns for the selected flip-flop type.</a:t>
            </a:r>
          </a:p>
          <a:p xmlns:a="http://schemas.openxmlformats.org/drawingml/2006/main">
            <a:r>
              <a:t>Simplify each input equation and verify every transition by substitution.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ELEC 335 | Lecture 17 | Week 10</a:t>
            </a:r>
          </a:p>
          <a:p xmlns:a="http://schemas.openxmlformats.org/drawingml/2006/main">
            <a:r>
              <a:t>Design a mod-6 counter with D flip-flops</a:t>
            </a:r>
          </a:p>
          <a:p xmlns:a="http://schemas.openxmlformats.org/drawingml/2006/main">
            <a:r>
              <a:t>Reading: Alan B. Marcovitz, Introduction to Logic Design, 3rd ed., Ch. 7 §§7.1–7.2, pp. 420–447.</a:t>
            </a:r>
          </a:p>
          <a:p xmlns:a="http://schemas.openxmlformats.org/drawingml/2006/main">
            <a:r>
              <a:t>Companion animation: lesson-03.html</a:t>
            </a:r>
          </a:p>
          <a:p xmlns:a="http://schemas.openxmlformats.org/drawingml/2006/main">
            <a:r>
              <a:t>Prompt: Use Q₂Q₁Q₀ for 000→001→010→011→100→101→000. Send 110 and 111 to 000.</a:t>
            </a:r>
          </a:p>
          <a:p xmlns:a="http://schemas.openxmlformats.org/drawingml/2006/main">
            <a:r>
              <a:t>Steps:</a:t>
            </a:r>
          </a:p>
          <a:p xmlns:a="http://schemas.openxmlformats.org/drawingml/2006/main">
            <a:r>
              <a:t>List all eight present states, including 110 and 111.</a:t>
            </a:r>
          </a:p>
          <a:p xmlns:a="http://schemas.openxmlformats.org/drawingml/2006/main">
            <a:r>
              <a:t>For every row, copy each next-state bit to D₂D₁D₀.</a:t>
            </a:r>
          </a:p>
          <a:p xmlns:a="http://schemas.openxmlformats.org/drawingml/2006/main">
            <a:r>
              <a:t>The ones of D₂ occur at present states 011 and 100.</a:t>
            </a:r>
          </a:p>
          <a:p xmlns:a="http://schemas.openxmlformats.org/drawingml/2006/main">
            <a:r>
              <a:t>The ones of D₁ occur at 001 and 010. The ones of D₀ occur at 000, 010 and 100.</a:t>
            </a:r>
          </a:p>
          <a:p xmlns:a="http://schemas.openxmlformats.org/drawingml/2006/main">
            <a:r>
              <a:t>Answer: D₂=Σm(3,4), D₁=Σm(1,2), D₀=Σm(0,2,4), with minterm index Q₂Q₁Q₀.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ELEC 335 | Lecture 17 | Week 10</a:t>
            </a:r>
          </a:p>
          <a:p xmlns:a="http://schemas.openxmlformats.org/drawingml/2006/main">
            <a:r>
              <a:t>Concept comparison</a:t>
            </a:r>
          </a:p>
          <a:p xmlns:a="http://schemas.openxmlformats.org/drawingml/2006/main">
            <a:r>
              <a:t>Reading: Alan B. Marcovitz, Introduction to Logic Design, 3rd ed., Ch. 7 §§7.1–7.2, pp. 420–447.</a:t>
            </a:r>
          </a:p>
          <a:p xmlns:a="http://schemas.openxmlformats.org/drawingml/2006/main">
            <a:r>
              <a:t>Companion animation: lesson-03.html</a:t>
            </a:r>
          </a:p>
          <a:p xmlns:a="http://schemas.openxmlformats.org/drawingml/2006/main">
            <a:r>
              <a:t>D excitation | Input equals the requested next-state bit. | D=Q⁺.</a:t>
            </a:r>
          </a:p>
          <a:p xmlns:a="http://schemas.openxmlformats.org/drawingml/2006/main">
            <a:r>
              <a:t>T excitation | Input requests hold or toggle. | T=Q⊕Q⁺.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ELEC 335 | Lecture 17 | Week 10</a:t>
            </a:r>
          </a:p>
          <a:p xmlns:a="http://schemas.openxmlformats.org/drawingml/2006/main">
            <a:r>
              <a:t>Interactive model</a:t>
            </a:r>
          </a:p>
          <a:p xmlns:a="http://schemas.openxmlformats.org/drawingml/2006/main">
            <a:r>
              <a:t>Reading: Alan B. Marcovitz, Introduction to Logic Design, 3rd ed., Ch. 7 §§7.1–7.2, pp. 420–447.</a:t>
            </a:r>
          </a:p>
          <a:p xmlns:a="http://schemas.openxmlformats.org/drawingml/2006/main">
            <a:r>
              <a:t>Companion animation: lesson-03.html</a:t>
            </a:r>
          </a:p>
          <a:p xmlns:a="http://schemas.openxmlformats.org/drawingml/2006/main">
            <a:r>
              <a:t>The table assigns 110 and 111 to recover to 000. Watch all three bits update on the same edge.</a:t>
            </a:r>
          </a:p>
          <a:p xmlns:a="http://schemas.openxmlformats.org/drawingml/2006/main">
            <a:r>
              <a:t>Start the counter at 101 and ask students to predict the wrap.</a:t>
            </a:r>
          </a:p>
          <a:p xmlns:a="http://schemas.openxmlformats.org/drawingml/2006/main">
            <a:r>
              <a:t>Use Set state to inject 110, then clock once to show recovery.</a:t>
            </a:r>
          </a:p>
          <a:p xmlns:a="http://schemas.openxmlformats.org/drawingml/2006/main">
            <a:r>
              <a:t>Derive one D input column from the transition table before showing all three equations.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ELEC 335 | Lecture 17 | Week 10</a:t>
            </a:r>
          </a:p>
          <a:p xmlns:a="http://schemas.openxmlformats.org/drawingml/2006/main">
            <a:r>
              <a:t>Team activity</a:t>
            </a:r>
          </a:p>
          <a:p xmlns:a="http://schemas.openxmlformats.org/drawingml/2006/main">
            <a:r>
              <a:t>Reading: Alan B. Marcovitz, Introduction to Logic Design, 3rd ed., Ch. 7 §§7.1–7.2, pp. 420–447.</a:t>
            </a:r>
          </a:p>
          <a:p xmlns:a="http://schemas.openxmlformats.org/drawingml/2006/main">
            <a:r>
              <a:t>Companion animation: lesson-03.html</a:t>
            </a:r>
          </a:p>
          <a:p xmlns:a="http://schemas.openxmlformats.org/drawingml/2006/main">
            <a:r>
              <a:t>Build the complete transition table for a mod-6 counter. Assign 110 and 111 to recover to 000, then fill D₂D₁D₀.</a:t>
            </a:r>
          </a:p>
          <a:p xmlns:a="http://schemas.openxmlformats.org/drawingml/2006/main">
            <a:r>
              <a:t>Deliverable: Eight present-state rows, next states, and three D-input columns.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ELEC 335 | Lecture 17 | Week 10</a:t>
            </a:r>
          </a:p>
          <a:p xmlns:a="http://schemas.openxmlformats.org/drawingml/2006/main">
            <a:r>
              <a:t>Guided example</a:t>
            </a:r>
          </a:p>
          <a:p xmlns:a="http://schemas.openxmlformats.org/drawingml/2006/main">
            <a:r>
              <a:t>Reading: Alan B. Marcovitz, Introduction to Logic Design, 3rd ed., Ch. 7 §§7.1–7.2, pp. 420–447.</a:t>
            </a:r>
          </a:p>
          <a:p xmlns:a="http://schemas.openxmlformats.org/drawingml/2006/main">
            <a:r>
              <a:t>Companion animation: lesson-03.html</a:t>
            </a:r>
          </a:p>
          <a:p xmlns:a="http://schemas.openxmlformats.org/drawingml/2006/main">
            <a:r>
              <a:t>Prompt: A state bit must move 1→0. Determine D, T and the constrained JK input.</a:t>
            </a:r>
          </a:p>
          <a:p xmlns:a="http://schemas.openxmlformats.org/drawingml/2006/main">
            <a:r>
              <a:t>First move: D must equal the requested next value, so D=0.</a:t>
            </a:r>
          </a:p>
          <a:p xmlns:a="http://schemas.openxmlformats.org/drawingml/2006/main">
            <a:r>
              <a:t>Pause before showing the next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ELEC 335 | Lecture 17 | Week 10</a:t>
            </a:r>
          </a:p>
          <a:p xmlns:a="http://schemas.openxmlformats.org/drawingml/2006/main">
            <a:r>
              <a:t>Convert a bit transition into excitation</a:t>
            </a:r>
          </a:p>
          <a:p xmlns:a="http://schemas.openxmlformats.org/drawingml/2006/main">
            <a:r>
              <a:t>Reading: Alan B. Marcovitz, Introduction to Logic Design, 3rd ed., Ch. 7 §§7.1–7.2, pp. 420–447.</a:t>
            </a:r>
          </a:p>
          <a:p xmlns:a="http://schemas.openxmlformats.org/drawingml/2006/main">
            <a:r>
              <a:t>Companion animation: lesson-03.html</a:t>
            </a:r>
          </a:p>
          <a:p xmlns:a="http://schemas.openxmlformats.org/drawingml/2006/main">
            <a:r>
              <a:t>Steps:</a:t>
            </a:r>
          </a:p>
          <a:p xmlns:a="http://schemas.openxmlformats.org/drawingml/2006/main">
            <a:r>
              <a:t>D must equal the requested next value, so D=0.</a:t>
            </a:r>
          </a:p>
          <a:p xmlns:a="http://schemas.openxmlformats.org/drawingml/2006/main">
            <a:r>
              <a:t>T=Q⊕Q⁺=1⊕0=1.</a:t>
            </a:r>
          </a:p>
          <a:p xmlns:a="http://schemas.openxmlformats.org/drawingml/2006/main">
            <a:r>
              <a:t>For JK, K must be 1; J is a don’t-care because Q=1.</a:t>
            </a:r>
          </a:p>
          <a:p xmlns:a="http://schemas.openxmlformats.org/drawingml/2006/main">
            <a:r>
              <a:t>Answer: D=0, T=1, J=–, K=1.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ELEC 335 | Lecture 17 | Week 10</a:t>
            </a:r>
          </a:p>
          <a:p xmlns:a="http://schemas.openxmlformats.org/drawingml/2006/main">
            <a:r>
              <a:t>Misconception clinic</a:t>
            </a:r>
          </a:p>
          <a:p xmlns:a="http://schemas.openxmlformats.org/drawingml/2006/main">
            <a:r>
              <a:t>Reading: Alan B. Marcovitz, Introduction to Logic Design, 3rd ed., Ch. 7 §§7.1–7.2, pp. 420–447.</a:t>
            </a:r>
          </a:p>
          <a:p xmlns:a="http://schemas.openxmlformats.org/drawingml/2006/main">
            <a:r>
              <a:t>Companion animation: lesson-03.html</a:t>
            </a:r>
          </a:p>
          <a:p xmlns:a="http://schemas.openxmlformats.org/drawingml/2006/main">
            <a:r>
              <a:t>TEMPTING CLAIM: Unused counter codes can be omitted from the design table.</a:t>
            </a:r>
          </a:p>
          <a:p xmlns:a="http://schemas.openxmlformats.org/drawingml/2006/main">
            <a:r>
              <a:t>WHY IT FAILS: A real circuit can enter an unused code after reset, noise, or fault.</a:t>
            </a:r>
          </a:p>
          <a:p xmlns:a="http://schemas.openxmlformats.org/drawingml/2006/main">
            <a:r>
              <a:t>REPAIR: Specify recovery and verify every binary code.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ELEC 335 | Lecture 17 | Week 10</a:t>
            </a:r>
          </a:p>
          <a:p xmlns:a="http://schemas.openxmlformats.org/drawingml/2006/main">
            <a:r>
              <a:t>Practice questions</a:t>
            </a:r>
          </a:p>
          <a:p xmlns:a="http://schemas.openxmlformats.org/drawingml/2006/main">
            <a:r>
              <a:t>Reading: Alan B. Marcovitz, Introduction to Logic Design, 3rd ed., Ch. 7 §§7.1–7.2, pp. 420–447.</a:t>
            </a:r>
          </a:p>
          <a:p xmlns:a="http://schemas.openxmlformats.org/drawingml/2006/main">
            <a:r>
              <a:t>Companion animation: lesson-03.html</a:t>
            </a:r>
          </a:p>
          <a:p xmlns:a="http://schemas.openxmlformats.org/drawingml/2006/main">
            <a:r>
              <a:t>Q1: A T flip-flop must move 0→0. What T is required?</a:t>
            </a:r>
          </a:p>
          <a:p xmlns:a="http://schemas.openxmlformats.org/drawingml/2006/main">
            <a:r>
              <a:t>Hint: Use T=Q⊕Q⁺.</a:t>
            </a:r>
          </a:p>
          <a:p xmlns:a="http://schemas.openxmlformats.org/drawingml/2006/main">
            <a:r>
              <a:t>Answer: T=0⊕0=0.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Q2: How many flip-flops are needed for a mod-10 binary counter?</a:t>
            </a:r>
          </a:p>
          <a:p xmlns:a="http://schemas.openxmlformats.org/drawingml/2006/main">
            <a:r>
              <a:t>Hint: Find the smallest n for which 2ⁿ≥10.</a:t>
            </a:r>
          </a:p>
          <a:p xmlns:a="http://schemas.openxmlformats.org/drawingml/2006/main">
            <a:r>
              <a:t>Answer: Four flip-flops; 2³=8 is insufficient and 2⁴=16 is sufficient.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ELEC 335 | Lecture 17 | Week 10</a:t>
            </a:r>
          </a:p>
          <a:p xmlns:a="http://schemas.openxmlformats.org/drawingml/2006/main">
            <a:r>
              <a:t>Practice solutions</a:t>
            </a:r>
          </a:p>
          <a:p xmlns:a="http://schemas.openxmlformats.org/drawingml/2006/main">
            <a:r>
              <a:t>Reading: Alan B. Marcovitz, Introduction to Logic Design, 3rd ed., Ch. 7 §§7.1–7.2, pp. 420–447.</a:t>
            </a:r>
          </a:p>
          <a:p xmlns:a="http://schemas.openxmlformats.org/drawingml/2006/main">
            <a:r>
              <a:t>Companion animation: lesson-03.html</a:t>
            </a:r>
          </a:p>
          <a:p xmlns:a="http://schemas.openxmlformats.org/drawingml/2006/main">
            <a:r>
              <a:t>Q1: A T flip-flop must move 0→0. What T is required?</a:t>
            </a:r>
          </a:p>
          <a:p xmlns:a="http://schemas.openxmlformats.org/drawingml/2006/main">
            <a:r>
              <a:t>T=0⊕0=0.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Q2: How many flip-flops are needed for a mod-10 binary counter?</a:t>
            </a:r>
          </a:p>
          <a:p xmlns:a="http://schemas.openxmlformats.org/drawingml/2006/main">
            <a:r>
              <a:t>Four flip-flops; 2³=8 is insufficient and 2⁴=16 is sufficient.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ELEC 335 | Lecture 17 | Week 10</a:t>
            </a:r>
          </a:p>
          <a:p xmlns:a="http://schemas.openxmlformats.org/drawingml/2006/main">
            <a:r>
              <a:t>Closing outcomes</a:t>
            </a:r>
          </a:p>
          <a:p xmlns:a="http://schemas.openxmlformats.org/drawingml/2006/main">
            <a:r>
              <a:t>Reading: Alan B. Marcovitz, Introduction to Logic Design, 3rd ed., Ch. 7 §§7.1–7.2, pp. 420–447.</a:t>
            </a:r>
          </a:p>
          <a:p xmlns:a="http://schemas.openxmlformats.org/drawingml/2006/main">
            <a:r>
              <a:t>Companion animation: lesson-03.html</a:t>
            </a:r>
          </a:p>
          <a:p xmlns:a="http://schemas.openxmlformats.org/drawingml/2006/main">
            <a:r>
              <a:t>Use D, T and JK excitation requirements</a:t>
            </a:r>
          </a:p>
          <a:p xmlns:a="http://schemas.openxmlformats.org/drawingml/2006/main">
            <a:r>
              <a:t>Design a synchronous modulus-six counter</a:t>
            </a:r>
          </a:p>
          <a:p xmlns:a="http://schemas.openxmlformats.org/drawingml/2006/main">
            <a:r>
              <a:t>Specify recovery from unused encodings</a:t>
            </a:r>
          </a:p>
          <a:p xmlns:a="http://schemas.openxmlformats.org/drawingml/2006/main">
            <a:r>
              <a:t>Next companion: lesson-04.html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b5006cc2ac463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295826905e49c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9cd486b80840a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0fa8abef3042d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54cf627a09454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b71a9deecf414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0D0921A-75B9-41F9-BD98-4A2C3548E39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BCBEB2E-3962-4BD0-B0BF-2859169F18F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23E9FDD-7362-418C-B4CF-A5D1160A359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1B0ECC3-815F-428B-A6F1-FDDDED67F06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640D5DE-AFB7-48D8-AF96-0489D075646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BC4201C-8EB2-4AB5-B501-55AA90CE5B3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9D8C16C-36B0-43D3-B856-02DA400F2BA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086314F-4044-445B-A6A4-A2266069305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1058E2D-22D1-496F-9A82-8055C6AD64F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E9BADF9-7150-4265-BBDB-A3F62E7B446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b4568b5598141f1" /><Relationship Type="http://schemas.openxmlformats.org/officeDocument/2006/relationships/slideLayout" Target="/ppt/slideLayouts/slideLayout1.xml" Id="Rb4fbe4d8a8db44a8" /><Relationship Type="http://schemas.openxmlformats.org/officeDocument/2006/relationships/slideLayout" Target="/ppt/slideLayouts/slideLayout2.xml" Id="R4c4b7f24f4314ade" /><Relationship Type="http://schemas.openxmlformats.org/officeDocument/2006/relationships/slideLayout" Target="/ppt/slideLayouts/slideLayout3.xml" Id="Rc8a37f159b264a35" /><Relationship Type="http://schemas.openxmlformats.org/officeDocument/2006/relationships/slideLayout" Target="/ppt/slideLayouts/slideLayout4.xml" Id="R155980b780f644be" /><Relationship Type="http://schemas.openxmlformats.org/officeDocument/2006/relationships/slideLayout" Target="/ppt/slideLayouts/slideLayout5.xml" Id="Re02d699f7fd54608" /><Relationship Type="http://schemas.openxmlformats.org/officeDocument/2006/relationships/slideLayout" Target="/ppt/slideLayouts/slideLayout6.xml" Id="Rc937f4251518478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4fbe4d8a8db44a8"/>
    <p:sldLayoutId xmlns:r="http://schemas.openxmlformats.org/officeDocument/2006/relationships" id="2147483650" r:id="R4c4b7f24f4314ade"/>
    <p:sldLayoutId xmlns:r="http://schemas.openxmlformats.org/officeDocument/2006/relationships" id="2147483651" r:id="Rc8a37f159b264a35"/>
    <p:sldLayoutId xmlns:r="http://schemas.openxmlformats.org/officeDocument/2006/relationships" id="2147483652" r:id="R155980b780f644be"/>
    <p:sldLayoutId xmlns:r="http://schemas.openxmlformats.org/officeDocument/2006/relationships" id="2147483653" r:id="Re02d699f7fd54608"/>
    <p:sldLayoutId xmlns:r="http://schemas.openxmlformats.org/officeDocument/2006/relationships" id="2147483654" r:id="Rc937f4251518478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b63af247438457c" /><Relationship Type="http://schemas.openxmlformats.org/officeDocument/2006/relationships/image" Target="/ppt/media/image.png" Id="Rb6e47867cb5840be" /><Relationship Type="http://schemas.openxmlformats.org/officeDocument/2006/relationships/image" Target="/ppt/media/image2.png" Id="R1d901321d7b54912" /><Relationship Type="http://schemas.openxmlformats.org/officeDocument/2006/relationships/notesSlide" Target="/ppt/notesSlides/notesSlide1.xml" Id="Rf8aa769cef78477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a1c2ff1acba432a" /><Relationship Type="http://schemas.openxmlformats.org/officeDocument/2006/relationships/image" Target="/ppt/media/image3.png" Id="R2a765e4d1e0c4e90" /><Relationship Type="http://schemas.openxmlformats.org/officeDocument/2006/relationships/image" Target="/ppt/media/image4.png" Id="R31ab9f2f67014aa9" /><Relationship Type="http://schemas.openxmlformats.org/officeDocument/2006/relationships/notesSlide" Target="/ppt/notesSlides/notesSlide2.xml" Id="Rdd424790ca5b492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ef39b8507a04918" /><Relationship Type="http://schemas.openxmlformats.org/officeDocument/2006/relationships/image" Target="/ppt/media/image5.png" Id="R21b75bdac6834ff5" /><Relationship Type="http://schemas.openxmlformats.org/officeDocument/2006/relationships/image" Target="/ppt/media/image6.png" Id="Rc8f9f0d8cb964fb3" /><Relationship Type="http://schemas.openxmlformats.org/officeDocument/2006/relationships/notesSlide" Target="/ppt/notesSlides/notesSlide3.xml" Id="R3e11441e2ffb41b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24ce68743242df" /><Relationship Type="http://schemas.openxmlformats.org/officeDocument/2006/relationships/image" Target="/ppt/media/image7.png" Id="Ra852c4cc40d542db" /><Relationship Type="http://schemas.openxmlformats.org/officeDocument/2006/relationships/image" Target="/ppt/media/image8.png" Id="R02c0cb221c724e42" /><Relationship Type="http://schemas.openxmlformats.org/officeDocument/2006/relationships/notesSlide" Target="/ppt/notesSlides/notesSlide4.xml" Id="R307feb521fb14d8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93e814d723e43a5" /><Relationship Type="http://schemas.openxmlformats.org/officeDocument/2006/relationships/image" Target="/ppt/media/image9.png" Id="Rd6f56b97e42f465a" /><Relationship Type="http://schemas.openxmlformats.org/officeDocument/2006/relationships/image" Target="/ppt/media/image10.png" Id="R03eb6bea09454eed" /><Relationship Type="http://schemas.openxmlformats.org/officeDocument/2006/relationships/notesSlide" Target="/ppt/notesSlides/notesSlide5.xml" Id="R56bcfd2d24f3466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3a5bb72079742b7" /><Relationship Type="http://schemas.openxmlformats.org/officeDocument/2006/relationships/image" Target="/ppt/media/image11.png" Id="R70e36241401044de" /><Relationship Type="http://schemas.openxmlformats.org/officeDocument/2006/relationships/image" Target="/ppt/media/image12.png" Id="Rca40a977ec374a35" /><Relationship Type="http://schemas.openxmlformats.org/officeDocument/2006/relationships/notesSlide" Target="/ppt/notesSlides/notesSlide6.xml" Id="Rcac429aac9474fe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ed36ecb87e5421b" /><Relationship Type="http://schemas.openxmlformats.org/officeDocument/2006/relationships/image" Target="/ppt/media/image13.png" Id="R319328e0ba5447b0" /><Relationship Type="http://schemas.openxmlformats.org/officeDocument/2006/relationships/image" Target="/ppt/media/image14.png" Id="Rf123700eeaea48f7" /><Relationship Type="http://schemas.openxmlformats.org/officeDocument/2006/relationships/notesSlide" Target="/ppt/notesSlides/notesSlide7.xml" Id="R9a0f0103f5ad42e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6693e4bab724679" /><Relationship Type="http://schemas.openxmlformats.org/officeDocument/2006/relationships/image" Target="/ppt/media/image15.png" Id="Rd87e8955eff346a8" /><Relationship Type="http://schemas.openxmlformats.org/officeDocument/2006/relationships/image" Target="/ppt/media/image16.png" Id="R7c5b45d014aa4fbb" /><Relationship Type="http://schemas.openxmlformats.org/officeDocument/2006/relationships/notesSlide" Target="/ppt/notesSlides/notesSlide8.xml" Id="R848618fe8005464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855e4a1720548bb" /><Relationship Type="http://schemas.openxmlformats.org/officeDocument/2006/relationships/image" Target="/ppt/media/image17.png" Id="R47536645d0be4081" /><Relationship Type="http://schemas.openxmlformats.org/officeDocument/2006/relationships/image" Target="/ppt/media/image18.png" Id="Rf1b759f2fbe0408b" /><Relationship Type="http://schemas.openxmlformats.org/officeDocument/2006/relationships/notesSlide" Target="/ppt/notesSlides/notesSlide9.xml" Id="R66d6e44913ac4ec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afd3c39f1c340a1" /><Relationship Type="http://schemas.openxmlformats.org/officeDocument/2006/relationships/image" Target="/ppt/media/image19.png" Id="R12a0e377901c4760" /><Relationship Type="http://schemas.openxmlformats.org/officeDocument/2006/relationships/image" Target="/ppt/media/image20.png" Id="R0942850bec5d45b2" /><Relationship Type="http://schemas.openxmlformats.org/officeDocument/2006/relationships/notesSlide" Target="/ppt/notesSlides/notesSlide10.xml" Id="R7e64e33c38254cc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d03f28325804310" /><Relationship Type="http://schemas.openxmlformats.org/officeDocument/2006/relationships/image" Target="/ppt/media/image21.png" Id="Rffdbeecef3604267" /><Relationship Type="http://schemas.openxmlformats.org/officeDocument/2006/relationships/image" Target="/ppt/media/image22.png" Id="R1eb389bb178c4e72" /><Relationship Type="http://schemas.openxmlformats.org/officeDocument/2006/relationships/notesSlide" Target="/ppt/notesSlides/notesSlide11.xml" Id="R261440c72cda4cc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f71134bf5fd4ee9" /><Relationship Type="http://schemas.openxmlformats.org/officeDocument/2006/relationships/image" Target="/ppt/media/image23.png" Id="R29b34fdcaf634228" /><Relationship Type="http://schemas.openxmlformats.org/officeDocument/2006/relationships/image" Target="/ppt/media/image24.png" Id="Rcf7eb563ce0a4b56" /><Relationship Type="http://schemas.openxmlformats.org/officeDocument/2006/relationships/notesSlide" Target="/ppt/notesSlides/notesSlide12.xml" Id="Rada270b6d4124c7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4ff20cb4def4b42" /><Relationship Type="http://schemas.openxmlformats.org/officeDocument/2006/relationships/image" Target="/ppt/media/image25.png" Id="Rd8f7753480ca42b5" /><Relationship Type="http://schemas.openxmlformats.org/officeDocument/2006/relationships/image" Target="/ppt/media/image26.png" Id="R8a886bd1999e4e8a" /><Relationship Type="http://schemas.openxmlformats.org/officeDocument/2006/relationships/notesSlide" Target="/ppt/notesSlides/notesSlide13.xml" Id="R93a7adde8720426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d69a22a31cf4df8" /><Relationship Type="http://schemas.openxmlformats.org/officeDocument/2006/relationships/image" Target="/ppt/media/image27.png" Id="R13d74e99db644e2e" /><Relationship Type="http://schemas.openxmlformats.org/officeDocument/2006/relationships/image" Target="/ppt/media/image28.png" Id="R514efff2cda74d27" /><Relationship Type="http://schemas.openxmlformats.org/officeDocument/2006/relationships/notesSlide" Target="/ppt/notesSlides/notesSlide14.xml" Id="Rda652cf9284b429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3f7821b626f4625" /><Relationship Type="http://schemas.openxmlformats.org/officeDocument/2006/relationships/image" Target="/ppt/media/image29.png" Id="Rf8094d0a0b284490" /><Relationship Type="http://schemas.openxmlformats.org/officeDocument/2006/relationships/image" Target="/ppt/media/image30.png" Id="R10aa8bf044c34076" /><Relationship Type="http://schemas.openxmlformats.org/officeDocument/2006/relationships/notesSlide" Target="/ppt/notesSlides/notesSlide15.xml" Id="R9066970ad492469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25c9b8d1ed543a7" /><Relationship Type="http://schemas.openxmlformats.org/officeDocument/2006/relationships/image" Target="/ppt/media/image31.png" Id="R734256e39cf24e9e" /><Relationship Type="http://schemas.openxmlformats.org/officeDocument/2006/relationships/image" Target="/ppt/media/image32.png" Id="Re974b2677f2c49f9" /><Relationship Type="http://schemas.openxmlformats.org/officeDocument/2006/relationships/notesSlide" Target="/ppt/notesSlides/notesSlide16.xml" Id="Rcb122170756a4d4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48b0d97390146ea" /><Relationship Type="http://schemas.openxmlformats.org/officeDocument/2006/relationships/image" Target="/ppt/media/image33.png" Id="R3a39ff56e4ff40b3" /><Relationship Type="http://schemas.openxmlformats.org/officeDocument/2006/relationships/image" Target="/ppt/media/image34.png" Id="Rd4dc494bb9c442a2" /><Relationship Type="http://schemas.openxmlformats.org/officeDocument/2006/relationships/notesSlide" Target="/ppt/notesSlides/notesSlide17.xml" Id="R744e3212fc3e432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8cfa79137c24029" /><Relationship Type="http://schemas.openxmlformats.org/officeDocument/2006/relationships/image" Target="/ppt/media/image35.png" Id="R6981b03b20f44d29" /><Relationship Type="http://schemas.openxmlformats.org/officeDocument/2006/relationships/image" Target="/ppt/media/image36.png" Id="Re5ebaf71f04e4b16" /><Relationship Type="http://schemas.openxmlformats.org/officeDocument/2006/relationships/notesSlide" Target="/ppt/notesSlides/notesSlide18.xml" Id="Re45002a1140c4da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4267f6db6194fd4" /><Relationship Type="http://schemas.openxmlformats.org/officeDocument/2006/relationships/image" Target="/ppt/media/image37.png" Id="R0a179048430f4510" /><Relationship Type="http://schemas.openxmlformats.org/officeDocument/2006/relationships/image" Target="/ppt/media/image38.png" Id="R986b0c4063674ae8" /><Relationship Type="http://schemas.openxmlformats.org/officeDocument/2006/relationships/notesSlide" Target="/ppt/notesSlides/notesSlide19.xml" Id="R539615dac1454dd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1AA0E4-8A36-4A78-A285-73B11D137F1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e47867cb5840be"/>
          <a:srcRect xmlns:a="http://schemas.openxmlformats.org/drawingml/2006/main" l="28940" t="0" r="2894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63000" y="0"/>
            <a:ext cx="3429000" cy="6858000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67E936-C879-4738-A8DE-3839C51F4B4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901321d7b54912"/>
          <a:stretch xmlns:a="http://schemas.openxmlformats.org/drawingml/2006/main"/>
        </p:blipFill>
        <p:spPr>
          <a:xfrm xmlns:a="http://schemas.openxmlformats.org/drawingml/2006/main">
            <a:off x="610120" y="457200"/>
            <a:ext cx="6275934" cy="10287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09EB52-8AEE-479C-A3D0-4D1CAB28D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790700"/>
            <a:ext cx="723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575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ELEC 335  |  Fall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2CC27B-8623-4F6A-A77F-4A345DBDC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238375"/>
            <a:ext cx="7781925" cy="2228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427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427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427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Flip-flop excitation and synchronous counters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09634C-BC80-45C9-918E-E17A85829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591050"/>
            <a:ext cx="723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Week 10 · Lecture 1</a:t>
            </a:r>
          </a:p>
          <a:p xmlns:a="http://schemas.openxmlformats.org/drawingml/2006/main">
            <a:pPr algn="l">
              <a:defRPr sz="1800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Chapter 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060841-62DF-46AB-9877-41BCE6BE3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829300"/>
            <a:ext cx="87630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3B6210-6C72-493B-BB16-E9BC183AB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00750"/>
            <a:ext cx="4238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Digital Logic Design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96B819-C8D5-47FC-8F46-A06F65AA0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6019800"/>
            <a:ext cx="357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Textbook: Ch. 7 §§7.1–7.2, pp. 420–447</a:t>
            </a:r>
          </a:p>
        </p:txBody>
      </p:sp>
    </p:spTree>
    <p:extLst>
      <p:ext uri="{BB962C8B-B14F-4D97-AF65-F5344CB8AC3E}">
        <p14:creationId xmlns:p14="http://schemas.microsoft.com/office/powerpoint/2010/main" val="52852995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B2D879-2D41-48F7-A704-9712558CDF7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765e4d1e0c4e90"/>
          <a:srcRect xmlns:a="http://schemas.openxmlformats.org/drawingml/2006/main" l="0" t="23428" r="0" b="234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15525" y="0"/>
            <a:ext cx="2276475" cy="1019175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E68804-49E7-42B8-9264-32DA903128D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ab9f2f67014aa9"/>
          <a:stretch xmlns:a="http://schemas.openxmlformats.org/drawingml/2006/main"/>
        </p:blipFill>
        <p:spPr>
          <a:xfrm xmlns:a="http://schemas.openxmlformats.org/drawingml/2006/main">
            <a:off x="8422741" y="228600"/>
            <a:ext cx="3137967" cy="514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9894D0-CACB-44DE-8EB9-D20BEB656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6225"/>
            <a:ext cx="723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L17 · READING MAP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D5DF4A-AD2B-43A7-BA9C-DCF8B1873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9715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Where this lecture sits in the course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E61624-A471-4BF3-A17A-6FCCFAEDC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485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178714-264C-4551-B832-818EF04E5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5F97F1-275D-4F85-A568-F5642AE3C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43625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Textbook: Ch. 7 §§7.1–7.2, pp. 420–447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32652F-3E2E-4E9E-B5AB-132EFA7BC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642937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ELEC 335  |  L17  |  Week 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97FEF3-19B9-4985-9549-BBF61E70D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831892-D753-4A24-A985-8EB6AC855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D50CDE-4E15-4382-B1FA-6D30299EE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10477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3F1ED"/>
          </a:solidFill>
          <a:ln xmlns:a="http://schemas.openxmlformats.org/drawingml/2006/main" w="19050">
            <a:solidFill>
              <a:srgbClr val="E5AB5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03BD6E-9E22-4E19-81A9-830ABD466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2000250"/>
            <a:ext cx="457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2F7151-A5A3-481B-8F22-9778E311F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1952625"/>
            <a:ext cx="9048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Textbook: Ch. 7 §§7.1–7.2, pp. 420–447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3461D7-D35C-40BB-9064-0F06BEEE5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9900"/>
            <a:ext cx="10477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9C9C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EB302F-8D39-4524-A1A5-41F5C92BF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3200400"/>
            <a:ext cx="457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E4B61B-9743-446E-B14F-BFDB687B1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152775"/>
            <a:ext cx="9048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00263E"/>
                </a:solidFill>
                <a:latin typeface="Tahoma"/>
                <a:ea typeface="Tahoma"/>
                <a:cs typeface="Tahoma"/>
              </a:rPr>
              <a:t>Interactive companion: Lesson 03, Flip-flop excitation and synchronous counters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A5F74F-2D61-4C80-8E55-CD27BBD3C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10050"/>
            <a:ext cx="10477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9C9C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49781C-048B-4856-93B0-8B1DFF27E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4400550"/>
            <a:ext cx="457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E229DF-CA08-4243-9A54-BC217FEFA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352925"/>
            <a:ext cx="9048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00263E"/>
                </a:solidFill>
                <a:latin typeface="Tahoma"/>
                <a:ea typeface="Tahoma"/>
                <a:cs typeface="Tahoma"/>
              </a:rPr>
              <a:t>After class: worked examples and practice in the HTML lesson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D58239-ECDC-4802-8A2B-406615C48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457825"/>
            <a:ext cx="981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Preparation: read the named section, then use the worked slides to check each design step.</a:t>
            </a:r>
          </a:p>
        </p:txBody>
      </p:sp>
    </p:spTree>
    <p:extLst>
      <p:ext uri="{BB962C8B-B14F-4D97-AF65-F5344CB8AC3E}">
        <p14:creationId xmlns:p14="http://schemas.microsoft.com/office/powerpoint/2010/main" val="127086441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0100A8-071A-4501-A7DD-39D00FB2517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b75bdac6834ff5"/>
          <a:srcRect xmlns:a="http://schemas.openxmlformats.org/drawingml/2006/main" l="0" t="23428" r="0" b="234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15525" y="0"/>
            <a:ext cx="2276475" cy="1019175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D8D967-A5E3-48EE-910E-AA95A57B110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f9f0d8cb964fb3"/>
          <a:stretch xmlns:a="http://schemas.openxmlformats.org/drawingml/2006/main"/>
        </p:blipFill>
        <p:spPr>
          <a:xfrm xmlns:a="http://schemas.openxmlformats.org/drawingml/2006/main">
            <a:off x="8422741" y="228600"/>
            <a:ext cx="3137967" cy="514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C9764C-3F57-4EFA-875C-8BB2B6E35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6225"/>
            <a:ext cx="723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L17 · LEARNING OUTCOMES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32755C-0B01-4740-A69F-08BBF393A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9715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Today's destination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004367-B580-4B29-85A5-703F30899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485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CD6464-C8B0-4EC1-885E-F64BF1BC4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F6BD48-6381-4FEF-9A50-F3030BB71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43625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Textbook: Ch. 7 §§7.1–7.2, pp. 420–447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A72C3D-E7E8-4EEB-9A78-0803E0294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642937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ELEC 335  |  L17  |  Week 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B67077-D60F-4B2D-960A-82F863379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C86858-05AF-4E83-88F4-2AEDAF7AD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542385-16E7-4B62-8E45-B709B4CA2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14300" cy="3438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5E4397-0140-4F98-9904-7B78E181D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952625"/>
            <a:ext cx="619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62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2625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9EFDEB-9BB1-460D-A25F-489AA659F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1914525"/>
            <a:ext cx="89535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Use D, T and JK excitation requirements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54D0F3-54FE-41A6-ADDB-85795BD80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095625"/>
            <a:ext cx="619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62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2625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112AE1-A8A8-4253-B7E3-8800C2295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3057525"/>
            <a:ext cx="89535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Design a synchronous modulus-six counter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F26AAE-1530-4E5A-8C89-15C8D2F09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238625"/>
            <a:ext cx="619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62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2625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F11D6C-238E-470E-9E05-4E38AB566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4200525"/>
            <a:ext cx="89535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Specify recovery from unused encodings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566ECA-1CB6-456B-9BA9-94FDC6A29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5553075"/>
            <a:ext cx="876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484342"/>
                </a:solidFill>
                <a:latin typeface="Tahoma"/>
                <a:ea typeface="Tahoma"/>
                <a:cs typeface="Tahoma"/>
              </a:rPr>
              <a:t>Course outcome: Flip-flop and counter design</a:t>
            </a:r>
          </a:p>
        </p:txBody>
      </p:sp>
    </p:spTree>
    <p:extLst>
      <p:ext uri="{BB962C8B-B14F-4D97-AF65-F5344CB8AC3E}">
        <p14:creationId xmlns:p14="http://schemas.microsoft.com/office/powerpoint/2010/main" val="23440785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BDFBEE-D9B1-4C15-B1E8-B9B2B16FE40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52c4cc40d542db"/>
          <a:srcRect xmlns:a="http://schemas.openxmlformats.org/drawingml/2006/main" l="0" t="23428" r="0" b="234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15525" y="0"/>
            <a:ext cx="2276475" cy="1019175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30C967-74D3-4363-9530-0533D2DF115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c0cb221c724e42"/>
          <a:stretch xmlns:a="http://schemas.openxmlformats.org/drawingml/2006/main"/>
        </p:blipFill>
        <p:spPr>
          <a:xfrm xmlns:a="http://schemas.openxmlformats.org/drawingml/2006/main">
            <a:off x="8422741" y="228600"/>
            <a:ext cx="3137967" cy="514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2DB7B5-71DA-4193-ACF2-68BD3E1FB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6225"/>
            <a:ext cx="723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L17 · BIG PICTURE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1C071E-4176-415B-B028-2513EEFB3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9715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The question that organizes today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2D8B2F-978D-4DA0-A17E-8AB4CFD5C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485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21D20B-3A6B-4DBF-85A8-AEF411A33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17899B-3825-42CE-9FEF-33765D6E3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43625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Textbook: Ch. 7 §§7.1–7.2, pp. 420–447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7D4BD9-1CC9-4891-9EA9-EBDEC64B3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642937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ELEC 335  |  L17  |  Week 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E9E0EA-F2B7-49CD-9ED9-19E182B23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DE666E-5C24-4D07-A29D-1D8B6EF95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1A48BF-A68A-4C39-BA9A-41F6EC01C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47850"/>
            <a:ext cx="1021080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0026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8CCD8B-9D23-40D5-9140-21F502B6A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2162175"/>
            <a:ext cx="8763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300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300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30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What input must each flip-flop receive to make a specified transition?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2FA5C9-F52C-4A64-8576-26DBC005E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705350"/>
            <a:ext cx="8763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Keep this question in view as the circuit models and examples develop.</a:t>
            </a:r>
          </a:p>
        </p:txBody>
      </p:sp>
    </p:spTree>
    <p:extLst>
      <p:ext uri="{BB962C8B-B14F-4D97-AF65-F5344CB8AC3E}">
        <p14:creationId xmlns:p14="http://schemas.microsoft.com/office/powerpoint/2010/main" val="124487349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D7F2AA-9DCF-4EE4-9E0A-2333760F9AB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f56b97e42f465a"/>
          <a:srcRect xmlns:a="http://schemas.openxmlformats.org/drawingml/2006/main" l="0" t="23428" r="0" b="234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15525" y="0"/>
            <a:ext cx="2276475" cy="1019175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A16F10-588A-4F9B-900B-CB8EC476DE4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eb6bea09454eed"/>
          <a:stretch xmlns:a="http://schemas.openxmlformats.org/drawingml/2006/main"/>
        </p:blipFill>
        <p:spPr>
          <a:xfrm xmlns:a="http://schemas.openxmlformats.org/drawingml/2006/main">
            <a:off x="8422741" y="228600"/>
            <a:ext cx="3137967" cy="514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9C123D-6D1A-4219-9A23-C7EA5B22C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6225"/>
            <a:ext cx="723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L17 · PREREQUISITE BRIDGE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64EF1D-3996-4C81-B6DF-2002F4917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9715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Start from what you already know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61199A-036A-4DF9-B159-89444B90E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485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35166F-1DF4-4F95-8808-1EA716B29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28A811-78CE-42A1-A059-3770008B1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43625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Textbook: Ch. 7 §§7.1–7.2, pp. 420–447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E031C1-377C-41AB-B6A9-537766825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642937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ELEC 335  |  L17  |  Week 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019DD8-E0C4-4BBC-9F62-3F19E3E0C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7FE2E4-C6F7-4B16-A8F4-8DAFC6FEB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652994-0B99-4B88-B5B5-B334E9836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38325"/>
            <a:ext cx="5238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E4BE8B-405E-4D91-8A87-A9D7128FD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1847850"/>
            <a:ext cx="3905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4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24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47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C48881-0B98-44E8-8A9B-ECD11E865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1771650"/>
            <a:ext cx="9144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A state table specifies a desired next state.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E6FC17-60D0-4C76-9042-247D1ED1A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09900"/>
            <a:ext cx="5238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34628B-2710-4D36-8051-E4716C705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019425"/>
            <a:ext cx="3905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4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24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47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FAE28A-E1BC-4F87-8A51-E4EB5E275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2943225"/>
            <a:ext cx="9144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A D flip-flop copies its input to Q at the edge.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55C051-D0CE-4E96-823E-C60706DD6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81475"/>
            <a:ext cx="5238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0026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F55F7C-5CEE-4DBD-A63F-B336302B1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191000"/>
            <a:ext cx="3905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4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24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47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✓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3D48FD-87BF-4439-8E43-E2709020B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4114800"/>
            <a:ext cx="9144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A three-bit register has eight possible binary codes.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EC9810-6FC4-448B-98BF-9959DB760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5476875"/>
            <a:ext cx="809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1575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Turn to a partner: explain one statement without reading it aloud.</a:t>
            </a:r>
          </a:p>
        </p:txBody>
      </p:sp>
    </p:spTree>
    <p:extLst>
      <p:ext uri="{BB962C8B-B14F-4D97-AF65-F5344CB8AC3E}">
        <p14:creationId xmlns:p14="http://schemas.microsoft.com/office/powerpoint/2010/main" val="124312988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4F76B65-B1CB-430F-A16C-47B3C7AEB03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e36241401044de"/>
          <a:srcRect xmlns:a="http://schemas.openxmlformats.org/drawingml/2006/main" l="0" t="23428" r="0" b="234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15525" y="0"/>
            <a:ext cx="2276475" cy="1019175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DEF59E-CB93-4DD9-919F-97BBA8584D2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40a977ec374a35"/>
          <a:stretch xmlns:a="http://schemas.openxmlformats.org/drawingml/2006/main"/>
        </p:blipFill>
        <p:spPr>
          <a:xfrm xmlns:a="http://schemas.openxmlformats.org/drawingml/2006/main">
            <a:off x="8422741" y="228600"/>
            <a:ext cx="3137967" cy="514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039416-266E-4342-A3A0-0C9719B1F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6225"/>
            <a:ext cx="723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L17 · VOCABULARY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CE73F7-6F5C-43D3-BD1D-3810F94DE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9715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Four words to make precise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F7AE58-2FE7-444E-8001-57A1A948B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485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8B2BD4-2E2C-4EB6-ACE8-051505B6C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742D4C-B0F4-41AA-A1CE-E2822D998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43625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Textbook: Ch. 7 §§7.1–7.2, pp. 420–447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04A117-D7EF-4B08-A074-366A72355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642937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ELEC 335  |  L17  |  Week 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6A71E3-AB8B-4C67-8E47-BF81F1566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B97E93-57BA-405A-8354-D4A91CE84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D5C121-D8B5-47B6-AB99-D34845023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52600"/>
            <a:ext cx="514350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3F1ED"/>
          </a:solidFill>
          <a:ln xmlns:a="http://schemas.openxmlformats.org/drawingml/2006/main" w="19050">
            <a:solidFill>
              <a:srgbClr val="D3202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695CF4-EF26-4382-87EA-8AF648674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43100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excitation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2BC94F-77BD-418F-AC2F-7F62EA113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47925"/>
            <a:ext cx="4572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input required for a specified Q to Q⁺ change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00F5FD-8699-434E-B621-41609760C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52600"/>
            <a:ext cx="514350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3F1ED"/>
          </a:solidFill>
          <a:ln xmlns:a="http://schemas.openxmlformats.org/drawingml/2006/main" w="19050">
            <a:solidFill>
              <a:srgbClr val="00263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80EDFF-0D15-4537-8CBD-39BA68206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943100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modulus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2B5B16-40B7-4004-A5D6-58DA61247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447925"/>
            <a:ext cx="4572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number of states in a counter cycle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C35A6E-1BA3-4F67-ABF4-E4C5C197A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76650"/>
            <a:ext cx="514350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3202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33184B-D587-467E-9A3B-13264C719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67150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synchronous counter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515F27-5068-4F7E-A26A-ECBE066CB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71975"/>
            <a:ext cx="4572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stages driven by one shared clock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9EB0B5-A34F-4C69-8676-CA749E095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676650"/>
            <a:ext cx="514350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263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2A2C8F-5457-4D37-B175-141105265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867150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unused encoding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4663B8-3547-427A-8F5C-8E864C93C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371975"/>
            <a:ext cx="4572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bit pattern outside the intended count sequence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BC1F18-444C-4DBE-9563-0C702C9A5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5591175"/>
            <a:ext cx="914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Use each term when explaining the circuit, table, or timing trace.</a:t>
            </a:r>
          </a:p>
        </p:txBody>
      </p:sp>
    </p:spTree>
    <p:extLst>
      <p:ext uri="{BB962C8B-B14F-4D97-AF65-F5344CB8AC3E}">
        <p14:creationId xmlns:p14="http://schemas.microsoft.com/office/powerpoint/2010/main" val="193836183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6647FA-3CF4-4D55-961E-F48EEFDABC2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9328e0ba5447b0"/>
          <a:srcRect xmlns:a="http://schemas.openxmlformats.org/drawingml/2006/main" l="0" t="23428" r="0" b="234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15525" y="0"/>
            <a:ext cx="2276475" cy="1019175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E624E9-FC32-43CF-AEEF-9B6F76C7D38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23700eeaea48f7"/>
          <a:stretch xmlns:a="http://schemas.openxmlformats.org/drawingml/2006/main"/>
        </p:blipFill>
        <p:spPr>
          <a:xfrm xmlns:a="http://schemas.openxmlformats.org/drawingml/2006/main">
            <a:off x="8422741" y="228600"/>
            <a:ext cx="3137967" cy="514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1EC6C9-AA1B-4CF7-97A7-1734B5FE7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6225"/>
            <a:ext cx="723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L17 · PLAIN-LANGUAGE MODEL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77B3C3-CE32-43A4-B982-65B64BF26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9715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The reasoning sequence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2F1196-9F90-4613-87AE-CB77EE6D8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485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6F891C-E570-4A16-81A8-D3BBC46B5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53B1E7-B0FF-4137-A3E4-2DBB6CEF8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43625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Textbook: Ch. 7 §§7.1–7.2, pp. 420–447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F46F35-B3FA-4D33-9788-CAF42282B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642937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ELEC 335  |  L17  |  Week 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92E7C4-4A10-4C9D-BF85-7ABEC0DB3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06A0CB-6EC4-4E8B-A5E6-767CE0A79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9B76E2-37DB-489C-841D-D35579203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809750"/>
            <a:ext cx="76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32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2325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0E3B1F-57EA-4A3D-89D5-103014B72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1762125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Write the full desired state sequence.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5A8D0D-9EDF-4494-BD19-F140F6581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67025"/>
            <a:ext cx="76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32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2325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5EE29A-6155-4856-950C-4C4BE1C3B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8194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Assign every unused encoding a defined recovery.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E4DB6F-3294-471D-9F12-5F220530A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24300"/>
            <a:ext cx="76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32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2325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EE4581-5FB2-4465-B81C-54EBEAB56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876675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Convert Q to Q⁺ changes into flip-flop inputs and verify.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437700-3D45-470A-A781-3D7C34E87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5038725"/>
            <a:ext cx="9782175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0026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888B0C-2CA3-43ED-BF61-3CE79E9BC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153025"/>
            <a:ext cx="89249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9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9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What input must each flip-flop receive to make a specified transition?</a:t>
            </a:r>
          </a:p>
        </p:txBody>
      </p:sp>
    </p:spTree>
    <p:extLst>
      <p:ext uri="{BB962C8B-B14F-4D97-AF65-F5344CB8AC3E}">
        <p14:creationId xmlns:p14="http://schemas.microsoft.com/office/powerpoint/2010/main" val="97890995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BA07B5-2323-41D7-984D-1CFEAB001D1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7e8955eff346a8"/>
          <a:srcRect xmlns:a="http://schemas.openxmlformats.org/drawingml/2006/main" l="0" t="23428" r="0" b="234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15525" y="0"/>
            <a:ext cx="2276475" cy="1019175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69D355-80FD-4DA3-951A-15754EDB199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5b45d014aa4fbb"/>
          <a:stretch xmlns:a="http://schemas.openxmlformats.org/drawingml/2006/main"/>
        </p:blipFill>
        <p:spPr>
          <a:xfrm xmlns:a="http://schemas.openxmlformats.org/drawingml/2006/main">
            <a:off x="8422741" y="228600"/>
            <a:ext cx="3137967" cy="514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DE0268-F64E-48C0-BCE9-100B5D819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6225"/>
            <a:ext cx="723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L17 · REFERENCE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5438BD-1C27-4B82-A381-F07308DE5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9715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The table to keep beside the method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FABD98-AF1C-4E93-93CB-6455DA881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485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6C17B6-95D6-41CC-BF6A-F30480411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DC8867-FFBA-45B6-8E23-A56F377AC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43625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Textbook: Ch. 7 §§7.1–7.2, pp. 420–447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A450DA-355F-4E38-BA3C-17EDD894D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642937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ELEC 335  |  L17  |  Week 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7618D4-4CA2-4F62-874A-EFC33C52B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1F7BFB-FDE9-4358-AEC0-FADD4EAB1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61D236-23F1-459B-A918-47DA499A30E5}"/>
              </a:ext>
            </a:extLst>
          </p:cNvPr>
          <p:cNvGraphicFramePr/>
          <p:nvPr/>
        </p:nvGraphicFramePr>
        <p:xfrm>
          <a:off xmlns:a="http://schemas.openxmlformats.org/drawingml/2006/main" x="771525" y="1790700"/>
          <a:ext xmlns:a="http://schemas.openxmlformats.org/drawingml/2006/main" cx="10591800" cy="2714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18360"/>
                <a:gridCol w="2118360"/>
                <a:gridCol w="2118360"/>
                <a:gridCol w="2118360"/>
                <a:gridCol w="2118360"/>
              </a:tblGrid>
              <a:tr h="542925">
                <a:tc>
                  <a:txBody>
                    <a:bodyPr wrap="square" lIns="66675" tIns="47625" rIns="66675" bIns="47625">
                      <a:normAutofit/>
                    </a:bodyPr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Q→Q⁺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333333"/>
                      </a:solidFill>
                      <a:prstDash val="solid"/>
                    </a:lnL>
                    <a:lnR w="9525">
                      <a:solidFill>
                        <a:srgbClr val="333333"/>
                      </a:solidFill>
                      <a:prstDash val="solid"/>
                    </a:lnR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00263E"/>
                    </a:solidFill>
                  </a:tcPr>
                </a:tc>
                <a:tc>
                  <a:txBody>
                    <a:bodyPr wrap="square" lIns="66675" tIns="47625" rIns="66675" bIns="47625">
                      <a:normAutofit/>
                    </a:bodyPr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D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33333"/>
                      </a:solidFill>
                      <a:prstDash val="solid"/>
                    </a:lnR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00263E"/>
                    </a:solidFill>
                  </a:tcPr>
                </a:tc>
                <a:tc>
                  <a:txBody>
                    <a:bodyPr wrap="square" lIns="66675" tIns="47625" rIns="66675" bIns="47625">
                      <a:normAutofit/>
                    </a:bodyPr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T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33333"/>
                      </a:solidFill>
                      <a:prstDash val="solid"/>
                    </a:lnR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00263E"/>
                    </a:solidFill>
                  </a:tcPr>
                </a:tc>
                <a:tc>
                  <a:txBody>
                    <a:bodyPr wrap="square" lIns="66675" tIns="47625" rIns="66675" bIns="47625">
                      <a:normAutofit/>
                    </a:bodyPr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J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33333"/>
                      </a:solidFill>
                      <a:prstDash val="solid"/>
                    </a:lnR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00263E"/>
                    </a:solidFill>
                  </a:tcPr>
                </a:tc>
                <a:tc>
                  <a:txBody>
                    <a:bodyPr wrap="square" lIns="66675" tIns="47625" rIns="66675" bIns="47625">
                      <a:normAutofit/>
                    </a:bodyPr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K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33333"/>
                      </a:solidFill>
                      <a:prstDash val="solid"/>
                    </a:lnR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00263E"/>
                    </a:solidFill>
                  </a:tcPr>
                </a:tc>
              </a:tr>
              <a:tr h="542925">
                <a:tc>
                  <a:txBody>
                    <a:bodyPr wrap="square" lIns="66675" tIns="47625" rIns="66675" bIns="47625"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E252B"/>
                          </a:solidFill>
                          <a:latin typeface="Tahoma"/>
                          <a:ea typeface="Tahoma"/>
                          <a:cs typeface="Tahoma"/>
                        </a:rPr>
                        <a:t>0→0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333333"/>
                      </a:solidFill>
                      <a:prstDash val="solid"/>
                    </a:lnL>
                    <a:lnR w="9525">
                      <a:solidFill>
                        <a:srgbClr val="333333"/>
                      </a:solidFill>
                      <a:prstDash val="solid"/>
                    </a:lnR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66675" tIns="47625" rIns="66675" bIns="47625"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E252B"/>
                          </a:solidFill>
                          <a:latin typeface="Tahoma"/>
                          <a:ea typeface="Tahoma"/>
                          <a:cs typeface="Tahoma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33333"/>
                      </a:solidFill>
                      <a:prstDash val="solid"/>
                    </a:lnR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66675" tIns="47625" rIns="66675" bIns="47625"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E252B"/>
                          </a:solidFill>
                          <a:latin typeface="Tahoma"/>
                          <a:ea typeface="Tahoma"/>
                          <a:cs typeface="Tahoma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33333"/>
                      </a:solidFill>
                      <a:prstDash val="solid"/>
                    </a:lnR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66675" tIns="47625" rIns="66675" bIns="47625"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E252B"/>
                          </a:solidFill>
                          <a:latin typeface="Tahoma"/>
                          <a:ea typeface="Tahoma"/>
                          <a:cs typeface="Tahoma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33333"/>
                      </a:solidFill>
                      <a:prstDash val="solid"/>
                    </a:lnR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66675" tIns="47625" rIns="66675" bIns="47625"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E252B"/>
                          </a:solidFill>
                          <a:latin typeface="Tahoma"/>
                          <a:ea typeface="Tahoma"/>
                          <a:cs typeface="Tahoma"/>
                        </a:rPr>
                        <a:t>–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33333"/>
                      </a:solidFill>
                      <a:prstDash val="solid"/>
                    </a:lnR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 wrap="square" lIns="66675" tIns="47625" rIns="66675" bIns="47625"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E252B"/>
                          </a:solidFill>
                          <a:latin typeface="Tahoma"/>
                          <a:ea typeface="Tahoma"/>
                          <a:cs typeface="Tahoma"/>
                        </a:rPr>
                        <a:t>0→1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333333"/>
                      </a:solidFill>
                      <a:prstDash val="solid"/>
                    </a:lnL>
                    <a:lnR w="9525">
                      <a:solidFill>
                        <a:srgbClr val="333333"/>
                      </a:solidFill>
                      <a:prstDash val="solid"/>
                    </a:lnR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3F1ED"/>
                    </a:solidFill>
                  </a:tcPr>
                </a:tc>
                <a:tc>
                  <a:txBody>
                    <a:bodyPr wrap="square" lIns="66675" tIns="47625" rIns="66675" bIns="47625"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E252B"/>
                          </a:solidFill>
                          <a:latin typeface="Tahoma"/>
                          <a:ea typeface="Tahoma"/>
                          <a:cs typeface="Tahoma"/>
                        </a:rPr>
                        <a:t>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33333"/>
                      </a:solidFill>
                      <a:prstDash val="solid"/>
                    </a:lnR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3F1ED"/>
                    </a:solidFill>
                  </a:tcPr>
                </a:tc>
                <a:tc>
                  <a:txBody>
                    <a:bodyPr wrap="square" lIns="66675" tIns="47625" rIns="66675" bIns="47625"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E252B"/>
                          </a:solidFill>
                          <a:latin typeface="Tahoma"/>
                          <a:ea typeface="Tahoma"/>
                          <a:cs typeface="Tahoma"/>
                        </a:rPr>
                        <a:t>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33333"/>
                      </a:solidFill>
                      <a:prstDash val="solid"/>
                    </a:lnR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3F1ED"/>
                    </a:solidFill>
                  </a:tcPr>
                </a:tc>
                <a:tc>
                  <a:txBody>
                    <a:bodyPr wrap="square" lIns="66675" tIns="47625" rIns="66675" bIns="47625"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E252B"/>
                          </a:solidFill>
                          <a:latin typeface="Tahoma"/>
                          <a:ea typeface="Tahoma"/>
                          <a:cs typeface="Tahoma"/>
                        </a:rPr>
                        <a:t>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33333"/>
                      </a:solidFill>
                      <a:prstDash val="solid"/>
                    </a:lnR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3F1ED"/>
                    </a:solidFill>
                  </a:tcPr>
                </a:tc>
                <a:tc>
                  <a:txBody>
                    <a:bodyPr wrap="square" lIns="66675" tIns="47625" rIns="66675" bIns="47625"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E252B"/>
                          </a:solidFill>
                          <a:latin typeface="Tahoma"/>
                          <a:ea typeface="Tahoma"/>
                          <a:cs typeface="Tahoma"/>
                        </a:rPr>
                        <a:t>–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33333"/>
                      </a:solidFill>
                      <a:prstDash val="solid"/>
                    </a:lnR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3F1ED"/>
                    </a:solidFill>
                  </a:tcPr>
                </a:tc>
              </a:tr>
              <a:tr h="542925">
                <a:tc>
                  <a:txBody>
                    <a:bodyPr wrap="square" lIns="66675" tIns="47625" rIns="66675" bIns="47625"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E252B"/>
                          </a:solidFill>
                          <a:latin typeface="Tahoma"/>
                          <a:ea typeface="Tahoma"/>
                          <a:cs typeface="Tahoma"/>
                        </a:rPr>
                        <a:t>1→0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333333"/>
                      </a:solidFill>
                      <a:prstDash val="solid"/>
                    </a:lnL>
                    <a:lnR w="9525">
                      <a:solidFill>
                        <a:srgbClr val="333333"/>
                      </a:solidFill>
                      <a:prstDash val="solid"/>
                    </a:lnR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66675" tIns="47625" rIns="66675" bIns="47625"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E252B"/>
                          </a:solidFill>
                          <a:latin typeface="Tahoma"/>
                          <a:ea typeface="Tahoma"/>
                          <a:cs typeface="Tahoma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33333"/>
                      </a:solidFill>
                      <a:prstDash val="solid"/>
                    </a:lnR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66675" tIns="47625" rIns="66675" bIns="47625"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E252B"/>
                          </a:solidFill>
                          <a:latin typeface="Tahoma"/>
                          <a:ea typeface="Tahoma"/>
                          <a:cs typeface="Tahoma"/>
                        </a:rPr>
                        <a:t>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33333"/>
                      </a:solidFill>
                      <a:prstDash val="solid"/>
                    </a:lnR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66675" tIns="47625" rIns="66675" bIns="47625"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E252B"/>
                          </a:solidFill>
                          <a:latin typeface="Tahoma"/>
                          <a:ea typeface="Tahoma"/>
                          <a:cs typeface="Tahoma"/>
                        </a:rPr>
                        <a:t>–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33333"/>
                      </a:solidFill>
                      <a:prstDash val="solid"/>
                    </a:lnR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66675" tIns="47625" rIns="66675" bIns="47625"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E252B"/>
                          </a:solidFill>
                          <a:latin typeface="Tahoma"/>
                          <a:ea typeface="Tahoma"/>
                          <a:cs typeface="Tahoma"/>
                        </a:rPr>
                        <a:t>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33333"/>
                      </a:solidFill>
                      <a:prstDash val="solid"/>
                    </a:lnR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 wrap="square" lIns="66675" tIns="47625" rIns="66675" bIns="47625"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E252B"/>
                          </a:solidFill>
                          <a:latin typeface="Tahoma"/>
                          <a:ea typeface="Tahoma"/>
                          <a:cs typeface="Tahoma"/>
                        </a:rPr>
                        <a:t>1→1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333333"/>
                      </a:solidFill>
                      <a:prstDash val="solid"/>
                    </a:lnL>
                    <a:lnR w="9525">
                      <a:solidFill>
                        <a:srgbClr val="333333"/>
                      </a:solidFill>
                      <a:prstDash val="solid"/>
                    </a:lnR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3F1ED"/>
                    </a:solidFill>
                  </a:tcPr>
                </a:tc>
                <a:tc>
                  <a:txBody>
                    <a:bodyPr wrap="square" lIns="66675" tIns="47625" rIns="66675" bIns="47625"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E252B"/>
                          </a:solidFill>
                          <a:latin typeface="Tahoma"/>
                          <a:ea typeface="Tahoma"/>
                          <a:cs typeface="Tahoma"/>
                        </a:rPr>
                        <a:t>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33333"/>
                      </a:solidFill>
                      <a:prstDash val="solid"/>
                    </a:lnR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3F1ED"/>
                    </a:solidFill>
                  </a:tcPr>
                </a:tc>
                <a:tc>
                  <a:txBody>
                    <a:bodyPr wrap="square" lIns="66675" tIns="47625" rIns="66675" bIns="47625"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E252B"/>
                          </a:solidFill>
                          <a:latin typeface="Tahoma"/>
                          <a:ea typeface="Tahoma"/>
                          <a:cs typeface="Tahoma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33333"/>
                      </a:solidFill>
                      <a:prstDash val="solid"/>
                    </a:lnR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3F1ED"/>
                    </a:solidFill>
                  </a:tcPr>
                </a:tc>
                <a:tc>
                  <a:txBody>
                    <a:bodyPr wrap="square" lIns="66675" tIns="47625" rIns="66675" bIns="47625"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E252B"/>
                          </a:solidFill>
                          <a:latin typeface="Tahoma"/>
                          <a:ea typeface="Tahoma"/>
                          <a:cs typeface="Tahoma"/>
                        </a:rPr>
                        <a:t>–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33333"/>
                      </a:solidFill>
                      <a:prstDash val="solid"/>
                    </a:lnR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3F1ED"/>
                    </a:solidFill>
                  </a:tcPr>
                </a:tc>
                <a:tc>
                  <a:txBody>
                    <a:bodyPr wrap="square" lIns="66675" tIns="47625" rIns="66675" bIns="47625"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E252B"/>
                          </a:solidFill>
                          <a:latin typeface="Tahoma"/>
                          <a:ea typeface="Tahoma"/>
                          <a:cs typeface="Tahoma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33333"/>
                      </a:solidFill>
                      <a:prstDash val="solid"/>
                    </a:lnR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3F1ED"/>
                    </a:solidFill>
                  </a:tcPr>
                </a:tc>
              </a:tr>
            </a:tbl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CEB217-4BD7-45CA-912F-732C7939C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410200"/>
            <a:ext cx="8801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1575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Name the bit order and control conditions before using a row.</a:t>
            </a:r>
          </a:p>
        </p:txBody>
      </p:sp>
    </p:spTree>
    <p:extLst>
      <p:ext uri="{BB962C8B-B14F-4D97-AF65-F5344CB8AC3E}">
        <p14:creationId xmlns:p14="http://schemas.microsoft.com/office/powerpoint/2010/main" val="124005785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9E7358-DEAF-4C1C-AF96-CCFB4A9DE35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536645d0be4081"/>
          <a:srcRect xmlns:a="http://schemas.openxmlformats.org/drawingml/2006/main" l="0" t="23428" r="0" b="234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15525" y="0"/>
            <a:ext cx="2276475" cy="1019175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DBB6C6-314A-45B1-98D2-437D2989800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b759f2fbe0408b"/>
          <a:stretch xmlns:a="http://schemas.openxmlformats.org/drawingml/2006/main"/>
        </p:blipFill>
        <p:spPr>
          <a:xfrm xmlns:a="http://schemas.openxmlformats.org/drawingml/2006/main">
            <a:off x="8422741" y="228600"/>
            <a:ext cx="3137967" cy="514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F2A8C5-0067-4DAB-88F6-739CE9D64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6225"/>
            <a:ext cx="723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L17 · METHOD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119DB9-ED6B-4CEF-8C45-08A9EBC1C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9715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A reliable procedure for exercises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EA4424-6EDC-493E-9C10-774846B92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485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D61C51-3CAC-4BD0-A969-0174911D2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41CA03-680E-4F7A-95A2-F68551851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43625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Textbook: Ch. 7 §§7.1–7.2, pp. 420–447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7FDE44-636E-4A73-86BC-48E5E7F15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642937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ELEC 335  |  L17  |  Week 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558857-8D15-4418-A569-C8E586DF1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7F5B51-1351-492E-907C-072AA56EF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EB18D0-B5D8-454D-A388-56DE7E204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1885950"/>
            <a:ext cx="6096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21220C-9607-4CAA-B0E5-221C6DCC6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1962150"/>
            <a:ext cx="428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6BD4A4-EC0D-4AAE-91C1-CB6D1485A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857375"/>
            <a:ext cx="93154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Write the required state sequence and include every unused encoding.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08B7B3-F708-4D09-ADCF-E6F045F76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952750"/>
            <a:ext cx="6096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D7AFBD-0A5B-41C2-9FF1-8B5A4918F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028950"/>
            <a:ext cx="428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6655C3-8378-4133-BD8E-32B54E70E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924175"/>
            <a:ext cx="93154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Add excitation columns for the selected flip-flop type.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A8A5DF-0E34-4CD7-BD8C-5FF4F3FDF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019550"/>
            <a:ext cx="6096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026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557EB8-6255-478B-99DC-0AD598F4B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4095750"/>
            <a:ext cx="428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DCBB47-5050-4C36-9B8B-E879FDE1C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990975"/>
            <a:ext cx="93154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Simplify each input equation and verify every transition by substitution.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9D813E-185F-4E96-AD69-02A0B0C35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38750"/>
            <a:ext cx="895350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3F1ED"/>
          </a:solidFill>
          <a:ln xmlns:a="http://schemas.openxmlformats.org/drawingml/2006/main" w="19050">
            <a:solidFill>
              <a:srgbClr val="E5AB5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B47FB5D-7055-4A8A-9DE6-31B68DECF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314950"/>
            <a:ext cx="847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Complete the table or trace, then verify the circuit one row at a time.</a:t>
            </a:r>
          </a:p>
        </p:txBody>
      </p:sp>
    </p:spTree>
    <p:extLst>
      <p:ext uri="{BB962C8B-B14F-4D97-AF65-F5344CB8AC3E}">
        <p14:creationId xmlns:p14="http://schemas.microsoft.com/office/powerpoint/2010/main" val="57512566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673A8AB-DC04-4DF3-B97C-FA2571B99D1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a0e377901c4760"/>
          <a:srcRect xmlns:a="http://schemas.openxmlformats.org/drawingml/2006/main" l="0" t="23428" r="0" b="234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15525" y="0"/>
            <a:ext cx="2276475" cy="1019175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EC284A-3B8F-422A-8816-29ED2738E13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42850bec5d45b2"/>
          <a:stretch xmlns:a="http://schemas.openxmlformats.org/drawingml/2006/main"/>
        </p:blipFill>
        <p:spPr>
          <a:xfrm xmlns:a="http://schemas.openxmlformats.org/drawingml/2006/main">
            <a:off x="8422741" y="228600"/>
            <a:ext cx="3137967" cy="514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6C6E6F-1AF1-4E57-9062-E3C70C2D8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6225"/>
            <a:ext cx="723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L17 · WORKED EXAMPLE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94F9DF-1317-4B91-942F-8CCF0B951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9715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Design a mod-6 counter with D flip-flops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0BC728-15AC-450E-A020-D476E3627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485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17CAE9-8221-43FB-A3C2-AD766749C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4607C3-A4B7-4F9B-B943-52ED88794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43625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Textbook: Ch. 7 §§7.1–7.2, pp. 420–447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77ADC5-C8E6-4388-A900-C40A44BED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642937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ELEC 335  |  L17  |  Week 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A73329-8852-4D1A-A5E7-1AAF59669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10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7144FF-FD2B-4180-B55C-CE49A11A5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233998-D023-4CE4-8E89-9A6895FD5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76400"/>
            <a:ext cx="10753725" cy="88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D"/>
          </a:solidFill>
          <a:ln xmlns:a="http://schemas.openxmlformats.org/drawingml/2006/main" w="19050">
            <a:solidFill>
              <a:srgbClr val="E5AB5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F4F8F2-948B-4134-BC95-5F2777688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81175"/>
            <a:ext cx="10210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Use Q₂Q₁Q₀ for 000→001→010→011→100→101→000. Send 110 and 111 to 000.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7665FB-4F8D-4C2E-B283-FA11C194F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781300"/>
            <a:ext cx="4476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5E444C-9F92-4FDE-B8CD-110E2F8EA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2762250"/>
            <a:ext cx="9525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List all eight present states, including 110 and 111.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9D2B01-A2D8-4F5B-9659-4511DD986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305175"/>
            <a:ext cx="4476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7F583A-6BF6-4BAD-8122-05E722B66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3286125"/>
            <a:ext cx="9525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For every row, copy each next-state bit to D₂D₁D₀.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A33AA0-675A-4B16-B78F-EF010DDC1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829050"/>
            <a:ext cx="4476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518C58-6ED8-4D35-9FD8-57E6A8FD4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3810000"/>
            <a:ext cx="9525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The ones of D₂ occur at present states 011 and 100.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0F68B5-AA2C-4C07-B949-8878F2317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4352925"/>
            <a:ext cx="4476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7CBEBF-5203-4302-9594-E3C38FFD1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4333875"/>
            <a:ext cx="9525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The ones of D₁ occur at 001 and 010. The ones of D₀ occur at 000, 010 and 100.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A64788-1B4C-4018-B727-F4A25580F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29200"/>
            <a:ext cx="12192000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2AC0626-B623-4470-ABA1-F6A314971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14925"/>
            <a:ext cx="10191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D₂=Σm(3,4), D₁=Σm(1,2), D₀=Σm(0,2,4), with minterm index Q₂Q₁Q₀.</a:t>
            </a:r>
          </a:p>
        </p:txBody>
      </p:sp>
    </p:spTree>
    <p:extLst>
      <p:ext uri="{BB962C8B-B14F-4D97-AF65-F5344CB8AC3E}">
        <p14:creationId xmlns:p14="http://schemas.microsoft.com/office/powerpoint/2010/main" val="185098369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67E1F9-A43C-4A4B-8AF7-EA177A2EBA4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dbeecef3604267"/>
          <a:srcRect xmlns:a="http://schemas.openxmlformats.org/drawingml/2006/main" l="0" t="23428" r="0" b="234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15525" y="0"/>
            <a:ext cx="2276475" cy="1019175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29CDB2-14BA-43C8-BA1A-39006F49115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b389bb178c4e72"/>
          <a:stretch xmlns:a="http://schemas.openxmlformats.org/drawingml/2006/main"/>
        </p:blipFill>
        <p:spPr>
          <a:xfrm xmlns:a="http://schemas.openxmlformats.org/drawingml/2006/main">
            <a:off x="8422741" y="228600"/>
            <a:ext cx="3137967" cy="514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A0F9E5-0FD0-4776-9724-CB4089321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6225"/>
            <a:ext cx="723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L17 · CONCEPT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B83E1F-3F62-4BD0-AFDB-BF9F46DFA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9715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Two designs to distinguish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6BC5D4-9630-400F-9A50-DD78CCE8F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485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AD7527-713F-4906-9ADD-0A4817F78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A789A0-F88D-4965-92F3-E87B65A25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43625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Textbook: Ch. 7 §§7.1–7.2, pp. 420–447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6E1116-0FF8-41F0-AB98-D729EB7EE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642937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ELEC 335  |  L17  |  Week 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6204CB-D892-4073-B638-9FF095F35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11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847D98-5CC2-4160-94BC-410FAFBE0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E8F2E3-A8D7-4803-867E-B31D44694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847850"/>
            <a:ext cx="19050" cy="2943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9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095004-B118-468B-B2A1-79BB73915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81175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32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2325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D excitation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BA0BF7-5F7A-4A18-9A41-EEBBC19AD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43175"/>
            <a:ext cx="4857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95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950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Input equals the requested next-state bit.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71C43A-884A-4A06-A85B-A2FEF638B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33775"/>
            <a:ext cx="48577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D=Q⁺.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87E5E3-A311-4475-9048-01DA93BB8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781175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3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23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T excitation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B081C4-583E-4435-A00D-745FE124B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543175"/>
            <a:ext cx="4857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95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950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Input requests hold or toggle.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B843A1-19F7-4D2D-945E-D21228161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533775"/>
            <a:ext cx="48577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T=Q⊕Q⁺.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256156-C2C4-4BB9-ADAE-29B1B427C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62525"/>
            <a:ext cx="10572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9BFF18-FD15-4C13-8C84-89693966C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153025"/>
            <a:ext cx="9620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00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Explain the difference using behavior and timing, then test one case.</a:t>
            </a:r>
          </a:p>
        </p:txBody>
      </p:sp>
    </p:spTree>
    <p:extLst>
      <p:ext uri="{BB962C8B-B14F-4D97-AF65-F5344CB8AC3E}">
        <p14:creationId xmlns:p14="http://schemas.microsoft.com/office/powerpoint/2010/main" val="203054269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E8C6055-D90F-429F-81DA-DB4C0D596E7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b34fdcaf634228"/>
          <a:srcRect xmlns:a="http://schemas.openxmlformats.org/drawingml/2006/main" l="0" t="23428" r="0" b="234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15525" y="0"/>
            <a:ext cx="2276475" cy="1019175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67C040-BE01-4C9A-A7DF-CEECC1592CB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7eb563ce0a4b56"/>
          <a:stretch xmlns:a="http://schemas.openxmlformats.org/drawingml/2006/main"/>
        </p:blipFill>
        <p:spPr>
          <a:xfrm xmlns:a="http://schemas.openxmlformats.org/drawingml/2006/main">
            <a:off x="8422741" y="228600"/>
            <a:ext cx="3137967" cy="514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0FA0EC-4E87-4F76-B693-F1271FFF5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6225"/>
            <a:ext cx="723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L17 · INTERACTIVE COMPANION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E457D6-9044-424B-987F-373DF406C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9715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Mod-6 counter laboratory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7806FB-8A7C-42D4-820A-58511F030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485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1C3292-AED2-47D7-AF41-5F0562945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538198-A1A0-4E8D-9A9B-C52FCB151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43625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Textbook: Ch. 7 §§7.1–7.2, pp. 420–447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A7CC67-DB12-45B5-96EE-45C7F64C2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642937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ELEC 335  |  L17  |  Week 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308765-49A2-4301-A4D1-782CBED57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12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6B1F74-5B2B-4A44-B216-126DD2F9C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EB6630-07EB-4BFA-B1DB-EB7A3D395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19400"/>
            <a:ext cx="1181100" cy="828675"/>
          </a:xfrm>
          <a:prstGeom xmlns:a="http://schemas.openxmlformats.org/drawingml/2006/main" prst="roundRect">
            <a:avLst>
              <a:gd name="adj" fmla="val 9195"/>
            </a:avLst>
          </a:prstGeom>
          <a:solidFill xmlns:a="http://schemas.openxmlformats.org/drawingml/2006/main">
            <a:srgbClr val="F3F1ED"/>
          </a:solidFill>
          <a:ln xmlns:a="http://schemas.openxmlformats.org/drawingml/2006/main" w="19050">
            <a:solidFill>
              <a:srgbClr val="00263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1AA6A7-A887-485F-ACF6-3F2EB370A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895600"/>
            <a:ext cx="9715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00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000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17109E-B7B0-460C-9F57-F8C5A60AD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2933700"/>
            <a:ext cx="533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315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315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315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62B64E-6623-4EB5-A639-BF0454BEC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819400"/>
            <a:ext cx="1181100" cy="828675"/>
          </a:xfrm>
          <a:prstGeom xmlns:a="http://schemas.openxmlformats.org/drawingml/2006/main" prst="roundRect">
            <a:avLst>
              <a:gd name="adj" fmla="val 9195"/>
            </a:avLst>
          </a:prstGeom>
          <a:solidFill xmlns:a="http://schemas.openxmlformats.org/drawingml/2006/main">
            <a:srgbClr val="F3F1ED"/>
          </a:solidFill>
          <a:ln xmlns:a="http://schemas.openxmlformats.org/drawingml/2006/main" w="19050">
            <a:solidFill>
              <a:srgbClr val="00263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FAA121-BBCD-4983-94FB-421EEF434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2895600"/>
            <a:ext cx="9715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00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001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AE78B7-C217-4CC4-81F5-11F7EFC8E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2933700"/>
            <a:ext cx="533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315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315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315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3153C9-0987-4F25-93D1-313AFA536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819400"/>
            <a:ext cx="1181100" cy="828675"/>
          </a:xfrm>
          <a:prstGeom xmlns:a="http://schemas.openxmlformats.org/drawingml/2006/main" prst="roundRect">
            <a:avLst>
              <a:gd name="adj" fmla="val 9195"/>
            </a:avLst>
          </a:prstGeom>
          <a:solidFill xmlns:a="http://schemas.openxmlformats.org/drawingml/2006/main">
            <a:srgbClr val="F3F1ED"/>
          </a:solidFill>
          <a:ln xmlns:a="http://schemas.openxmlformats.org/drawingml/2006/main" w="19050">
            <a:solidFill>
              <a:srgbClr val="00263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37CF0D-A0AD-46F1-AD06-5E98990E4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895600"/>
            <a:ext cx="9715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00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010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A1601F-BE43-4A59-86A7-C9547C5CB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2933700"/>
            <a:ext cx="533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315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315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315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094A06-0F99-426B-B586-77F02351B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19400"/>
            <a:ext cx="1181100" cy="828675"/>
          </a:xfrm>
          <a:prstGeom xmlns:a="http://schemas.openxmlformats.org/drawingml/2006/main" prst="roundRect">
            <a:avLst>
              <a:gd name="adj" fmla="val 9195"/>
            </a:avLst>
          </a:prstGeom>
          <a:solidFill xmlns:a="http://schemas.openxmlformats.org/drawingml/2006/main">
            <a:srgbClr val="F3F1ED"/>
          </a:solidFill>
          <a:ln xmlns:a="http://schemas.openxmlformats.org/drawingml/2006/main" w="19050">
            <a:solidFill>
              <a:srgbClr val="00263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4F127D-01C0-4C0E-8AF0-A954D88D5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895600"/>
            <a:ext cx="9715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00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011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CFD536-8C1C-42B2-BC0D-0B7A81D0E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2933700"/>
            <a:ext cx="533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315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315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315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685D0C-282C-466D-855A-9C73A3393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819400"/>
            <a:ext cx="1181100" cy="828675"/>
          </a:xfrm>
          <a:prstGeom xmlns:a="http://schemas.openxmlformats.org/drawingml/2006/main" prst="roundRect">
            <a:avLst>
              <a:gd name="adj" fmla="val 9195"/>
            </a:avLst>
          </a:prstGeom>
          <a:solidFill xmlns:a="http://schemas.openxmlformats.org/drawingml/2006/main">
            <a:srgbClr val="F3F1ED"/>
          </a:solidFill>
          <a:ln xmlns:a="http://schemas.openxmlformats.org/drawingml/2006/main" w="19050">
            <a:solidFill>
              <a:srgbClr val="00263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D818C95-BAA4-42EB-AF82-61C8C8ED6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895600"/>
            <a:ext cx="9715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00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100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DC4F8D5-4439-409A-BDDC-9DCD577FD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2933700"/>
            <a:ext cx="533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315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315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315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BCB5648-A6D7-4627-88C9-11A9D6016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819400"/>
            <a:ext cx="1181100" cy="828675"/>
          </a:xfrm>
          <a:prstGeom xmlns:a="http://schemas.openxmlformats.org/drawingml/2006/main" prst="roundRect">
            <a:avLst>
              <a:gd name="adj" fmla="val 9195"/>
            </a:avLst>
          </a:prstGeom>
          <a:solidFill xmlns:a="http://schemas.openxmlformats.org/drawingml/2006/main">
            <a:srgbClr val="F3F1ED"/>
          </a:solidFill>
          <a:ln xmlns:a="http://schemas.openxmlformats.org/drawingml/2006/main" w="19050">
            <a:solidFill>
              <a:srgbClr val="00263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374CF93-F922-4C5C-899B-96306E46A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2895600"/>
            <a:ext cx="9715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00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101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E6A4827-04EE-48FD-99AD-DF991E209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162425"/>
            <a:ext cx="5381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All stages sample one shared edge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CFE1D1B-94DB-46F0-A03E-13F60390D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752975"/>
            <a:ext cx="9810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65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The table assigns 110 and 111 to recover to 000. Watch all three bits update on the same edge.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F2250C0-6EF9-4914-875B-78692E7FC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514975"/>
            <a:ext cx="9334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Open lesson-03.html for the animated model and state-by-state controls.</a:t>
            </a:r>
          </a:p>
        </p:txBody>
      </p:sp>
    </p:spTree>
    <p:extLst>
      <p:ext uri="{BB962C8B-B14F-4D97-AF65-F5344CB8AC3E}">
        <p14:creationId xmlns:p14="http://schemas.microsoft.com/office/powerpoint/2010/main" val="187397425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6B2FE1-F10D-4B27-87F4-496116FA9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305050" cy="666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C5624E-FF0D-4642-9AB2-EFB714FB05E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f7753480ca42b5"/>
          <a:srcRect xmlns:a="http://schemas.openxmlformats.org/drawingml/2006/main" l="0" t="23428" r="0" b="234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15525" y="0"/>
            <a:ext cx="2276475" cy="1019175"/>
          </a:xfrm>
          <a:prstGeom xmlns:a="http://schemas.openxmlformats.org/drawingml/2006/main" prst="rect">
            <a:avLst/>
          </a:prstGeom>
        </p:spPr>
      </p:pic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D67E2A-9BD1-46D7-BBAC-B3FC4D37F03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886bd1999e4e8a"/>
          <a:stretch xmlns:a="http://schemas.openxmlformats.org/drawingml/2006/main"/>
        </p:blipFill>
        <p:spPr>
          <a:xfrm xmlns:a="http://schemas.openxmlformats.org/drawingml/2006/main">
            <a:off x="8422741" y="228600"/>
            <a:ext cx="3137967" cy="5143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354C48-D136-4A06-AB3E-41CB89946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790575"/>
            <a:ext cx="1571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ACTIVITY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B6B5C6-0090-4798-B3EB-CF48F1BEE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04975"/>
            <a:ext cx="1238250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5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5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L17</a:t>
            </a:r>
          </a:p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5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TEAM</a:t>
            </a:r>
          </a:p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5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AA8E8D-FE25-40DD-BD39-62CA32FF8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781050"/>
            <a:ext cx="78771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600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3600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Apply the method together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D77A3D-5219-47CF-8C1E-9F78E78D7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990725"/>
            <a:ext cx="82867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Build the complete transition table for a mod-6 counter. Assign 110 and 111 to recover to 000, then fill D₂D₁D₀.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3973CD-7AAF-4D89-8877-F4C599AC7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3362325"/>
            <a:ext cx="7991475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Write the required state sequence and include every unused encoding.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C9E10D-7EB3-461C-90F7-55B2E85B2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181600"/>
            <a:ext cx="798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9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973413-0AB8-4120-8732-EA4BDF297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5391150"/>
            <a:ext cx="1590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DELIVERABLE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916D3B-16D9-49FE-A8F0-FCFCF7022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267325"/>
            <a:ext cx="62007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Eight present-state rows, next states, and three D-input columns.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E7993B-18BA-4961-9D80-62191C430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6115050"/>
            <a:ext cx="98869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3CC887-9007-4030-B32F-BDB31F79D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6143625"/>
            <a:ext cx="8620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Textbook: Ch. 7 §§7.1–7.2, pp. 420–447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F15D9F-0194-4123-A954-EF0296AF8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81750"/>
            <a:ext cx="1476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0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L17  |  Week 10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57F36C-DEDE-4A55-8F92-96194AA24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6429375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ELEC 335  |  Digital Logic Design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28B2CE-6A39-4418-A464-1427C4231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13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AC9ED1-C833-433E-AA4C-D699EBEF8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87456049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C94335-FD76-4E63-8249-DB984C95229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d74e99db644e2e"/>
          <a:srcRect xmlns:a="http://schemas.openxmlformats.org/drawingml/2006/main" l="0" t="23428" r="0" b="234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15525" y="0"/>
            <a:ext cx="2276475" cy="1019175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AB64CD-B0E4-443C-8EE7-6CEF83CEC20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4efff2cda74d27"/>
          <a:stretch xmlns:a="http://schemas.openxmlformats.org/drawingml/2006/main"/>
        </p:blipFill>
        <p:spPr>
          <a:xfrm xmlns:a="http://schemas.openxmlformats.org/drawingml/2006/main">
            <a:off x="8422741" y="228600"/>
            <a:ext cx="3137967" cy="514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DC2B4D-3E2C-4F9E-A9F3-7A3632EFA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6225"/>
            <a:ext cx="723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L17 · GUIDED EXAMPLE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7A7D37-7A5E-42CB-B11C-40B63036A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9715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Try the first move before I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D1CF07-2AD4-413A-8098-1FFBA770F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485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4A12B7-DF72-4D42-B766-91AABF328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F96BE9-2FC6-4E38-A464-61BAEC2ED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43625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Textbook: Ch. 7 §§7.1–7.2, pp. 420–447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E325E2-7E48-4C7B-9AA8-0251FC2D4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642937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ELEC 335  |  L17  |  Week 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1B31B8-7A3F-4E9E-9BB1-86A875874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14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84163B-C64E-45BF-B839-D465F9BA4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03C82E-CCC5-4359-82D1-129A218C7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90700"/>
            <a:ext cx="10477500" cy="1628775"/>
          </a:xfrm>
          <a:prstGeom xmlns:a="http://schemas.openxmlformats.org/drawingml/2006/main" prst="roundRect">
            <a:avLst>
              <a:gd name="adj" fmla="val 4678"/>
            </a:avLst>
          </a:prstGeom>
          <a:solidFill xmlns:a="http://schemas.openxmlformats.org/drawingml/2006/main">
            <a:srgbClr val="F3F1ED"/>
          </a:solidFill>
          <a:ln xmlns:a="http://schemas.openxmlformats.org/drawingml/2006/main" w="19050">
            <a:solidFill>
              <a:srgbClr val="E5AB5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3AA754-9777-40C3-9E96-C21D84DAE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2057400"/>
            <a:ext cx="9144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3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23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23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A state bit must move 1→0. Determine D, T and the constrained JK input.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A0A8E5-D7D4-429A-8DE2-5A6C5AAE8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3971925"/>
            <a:ext cx="40671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575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YOUR FIRST MOVE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15B80A-0E29-437C-A395-9CEA72DF9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4305300"/>
            <a:ext cx="88582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1E252B"/>
                </a:solidFill>
                <a:latin typeface="Tahoma"/>
                <a:ea typeface="Tahoma"/>
                <a:cs typeface="Tahoma"/>
              </a:rPr>
              <a:t>D must equal the requested next value, so D=0.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6D1B72-9FA4-4AD4-89CF-7CE49AD10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5429250"/>
            <a:ext cx="8810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Pause for 60–90 seconds. Write, then compare with a partner.</a:t>
            </a:r>
          </a:p>
        </p:txBody>
      </p:sp>
    </p:spTree>
    <p:extLst>
      <p:ext uri="{BB962C8B-B14F-4D97-AF65-F5344CB8AC3E}">
        <p14:creationId xmlns:p14="http://schemas.microsoft.com/office/powerpoint/2010/main" val="110202918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FA2B73-F23A-4FB4-B02B-EE91C6A9834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094d0a0b284490"/>
          <a:srcRect xmlns:a="http://schemas.openxmlformats.org/drawingml/2006/main" l="0" t="23428" r="0" b="234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15525" y="0"/>
            <a:ext cx="2276475" cy="1019175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877279-15B1-4C14-813F-3F6D91B5D43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aa8bf044c34076"/>
          <a:stretch xmlns:a="http://schemas.openxmlformats.org/drawingml/2006/main"/>
        </p:blipFill>
        <p:spPr>
          <a:xfrm xmlns:a="http://schemas.openxmlformats.org/drawingml/2006/main">
            <a:off x="8422741" y="228600"/>
            <a:ext cx="3137967" cy="514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1DE123-B909-4ACB-B38E-1AF58BB54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6225"/>
            <a:ext cx="723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L17 · GUIDED SOLUTION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69D428-938E-4B15-9D0B-73FA66690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9715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Now make every step visible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0063BC-22C0-43F6-91A2-9181133AE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485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D86D53-98D0-4877-B902-4C8E13232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8B964B-0921-4D7F-92C3-ECCCC3E26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43625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Textbook: Ch. 7 §§7.1–7.2, pp. 420–447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FF36C6-DBBF-4666-98F7-FD460853F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642937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ELEC 335  |  L17  |  Week 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FF01FC-F269-46A0-BFAA-6F4B07C76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15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29D7B2-E1CC-4ABA-B2EF-8C63B239C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B1C984-19C4-48B6-A3BE-497DBCADB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24025"/>
            <a:ext cx="5238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59341D-80A1-4205-8AEA-833FE6503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1752600"/>
            <a:ext cx="3714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03E6BA-74B6-457E-96BB-B3E57FB66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1676400"/>
            <a:ext cx="9163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D must equal the requested next value, so D=0.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CC803B-7AC9-4D6B-B40F-AF7357EAC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505075"/>
            <a:ext cx="5238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CCE990-B1F5-43DF-9BB1-89D63A80D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533650"/>
            <a:ext cx="3714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DEF559-1EDD-412C-A62B-1E6376ECB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2457450"/>
            <a:ext cx="9163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T=Q⊕Q⁺=1⊕0=1.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789444-34D9-43CD-9446-E3805D61C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86125"/>
            <a:ext cx="5238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0026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AC781C-6199-4A50-B9E8-F58E13E4C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3314700"/>
            <a:ext cx="3714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F6A876-DA57-4D49-B693-B0982AAC7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3238500"/>
            <a:ext cx="9163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For JK, K must be 1; J is a don’t-care because Q=1.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84DADF-C547-4C03-A90C-D21FB359A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010150"/>
            <a:ext cx="9934575" cy="866775"/>
          </a:xfrm>
          <a:prstGeom xmlns:a="http://schemas.openxmlformats.org/drawingml/2006/main" prst="roundRect">
            <a:avLst>
              <a:gd name="adj" fmla="val 8791"/>
            </a:avLst>
          </a:prstGeom>
          <a:solidFill xmlns:a="http://schemas.openxmlformats.org/drawingml/2006/main">
            <a:srgbClr val="0026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7A6F609-FA21-4E33-8D1B-4D5D169C0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172075"/>
            <a:ext cx="9001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D=0, T=1, J=–, K=1.</a:t>
            </a:r>
          </a:p>
        </p:txBody>
      </p:sp>
    </p:spTree>
    <p:extLst>
      <p:ext uri="{BB962C8B-B14F-4D97-AF65-F5344CB8AC3E}">
        <p14:creationId xmlns:p14="http://schemas.microsoft.com/office/powerpoint/2010/main" val="101128810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B38080-97F1-4D72-AA60-EC1946353FC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4256e39cf24e9e"/>
          <a:srcRect xmlns:a="http://schemas.openxmlformats.org/drawingml/2006/main" l="0" t="23428" r="0" b="234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15525" y="0"/>
            <a:ext cx="2276475" cy="1019175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E1BD2E-24B2-4F6D-8DC9-044C50FA148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74b2677f2c49f9"/>
          <a:stretch xmlns:a="http://schemas.openxmlformats.org/drawingml/2006/main"/>
        </p:blipFill>
        <p:spPr>
          <a:xfrm xmlns:a="http://schemas.openxmlformats.org/drawingml/2006/main">
            <a:off x="8422741" y="228600"/>
            <a:ext cx="3137967" cy="514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2EDF82-B46D-4DE2-BA13-D30C700C9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6225"/>
            <a:ext cx="723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L17 · MISCONCEPTION CLINIC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9439E6-8CB0-426B-B492-16A93FA59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9715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A tempting mistake to remove now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E8CBDE-739E-4047-B65E-F524F32C8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485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7EFE7A-FA37-4F51-843A-86A5EF0C7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7EE237-02EC-468E-B810-39F5FE444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43625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Textbook: Ch. 7 §§7.1–7.2, pp. 420–447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CA28C4-B7A1-489B-9A2F-9AA77CA9B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642937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ELEC 335  |  L17  |  Week 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98BC6B-1DFC-4CBB-8B2E-1C99D292F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16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467F58-D940-4839-BE40-970E9D6ED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B06AE7-08BF-4EAC-AFA7-A488E1162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52600"/>
            <a:ext cx="104394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3202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775764-C5A6-4002-B5A2-756BC0DDA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1914525"/>
            <a:ext cx="20383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TEMPTING CLAIM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AF43B1-F75B-4B2F-B0F5-67C33515C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1876425"/>
            <a:ext cx="76771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Unused counter codes can be omitted from the design table.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81E67C-6544-4A6D-B025-9166D5B4C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09900"/>
            <a:ext cx="104394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3F1ED"/>
          </a:solidFill>
          <a:ln xmlns:a="http://schemas.openxmlformats.org/drawingml/2006/main" w="19050">
            <a:solidFill>
              <a:srgbClr val="E5AB5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7F7BB2-CFDA-4AF7-875D-9864B94A7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3171825"/>
            <a:ext cx="20383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E5AB5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E5AB52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E5AB52"/>
                </a:solidFill>
                <a:latin typeface="Tahoma"/>
                <a:ea typeface="Tahoma"/>
                <a:cs typeface="Tahoma"/>
              </a:rPr>
              <a:t>WHY IT FAILS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C8FE9C-8498-4983-93A8-4DF144D12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3133725"/>
            <a:ext cx="76771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A real circuit can enter an unused code after reset, noise, or fault.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576952-2130-4BEF-8D25-08609F43B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67200"/>
            <a:ext cx="104394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263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5C56EA-2647-49F1-A211-64F326676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4429125"/>
            <a:ext cx="20383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REPAIR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DAE62E-BF24-4F71-8E2C-0835CAF06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4391025"/>
            <a:ext cx="76771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1E252B"/>
                </a:solidFill>
                <a:latin typeface="Tahoma"/>
                <a:ea typeface="Tahoma"/>
                <a:cs typeface="Tahoma"/>
              </a:rPr>
              <a:t>Specify recovery and verify every binary code.</a:t>
            </a:r>
          </a:p>
        </p:txBody>
      </p:sp>
    </p:spTree>
    <p:extLst>
      <p:ext uri="{BB962C8B-B14F-4D97-AF65-F5344CB8AC3E}">
        <p14:creationId xmlns:p14="http://schemas.microsoft.com/office/powerpoint/2010/main" val="80391721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0D135A-EB2C-4365-86DD-78720F220B1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39ff56e4ff40b3"/>
          <a:srcRect xmlns:a="http://schemas.openxmlformats.org/drawingml/2006/main" l="0" t="23428" r="0" b="234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15525" y="0"/>
            <a:ext cx="2276475" cy="1019175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A7A4E9-D23F-4017-A7DB-40921ADFC40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dc494bb9c442a2"/>
          <a:stretch xmlns:a="http://schemas.openxmlformats.org/drawingml/2006/main"/>
        </p:blipFill>
        <p:spPr>
          <a:xfrm xmlns:a="http://schemas.openxmlformats.org/drawingml/2006/main">
            <a:off x="8422741" y="228600"/>
            <a:ext cx="3137967" cy="514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57F4BE-0E1A-4E15-BFD3-4A95CAD0A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6225"/>
            <a:ext cx="723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L17 · ONE-MINUTE CHECKS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4CFDF2-A7E2-4EE4-98B3-A76075581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9715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Close the book: can you apply it?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6C22E4-1BC4-4503-B006-83251B6C1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485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B420F7-7E38-4247-9B3B-B927052D5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BD776B-85AF-43F7-82FD-6BB34441F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43625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Textbook: Ch. 7 §§7.1–7.2, pp. 420–447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9E8C4C-97D5-4261-AF3A-E7519C4EC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642937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ELEC 335  |  L17  |  Week 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AD231D-87F8-478F-9EBC-D74451C50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17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8523A9-03DE-44F3-996E-199B5B177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1010A3-80BB-4B49-AF8E-3C6AB14EC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076450"/>
            <a:ext cx="6572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Q1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0AA92E-8629-4EBD-8798-B4539FE85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000250"/>
            <a:ext cx="92964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A T flip-flop must move 0→0. What T is required?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7B2C5C-F408-4597-AF58-4C44D7E8C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829050"/>
            <a:ext cx="6572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Q2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B4A1BA-2E80-468F-836A-1F5A5B008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752850"/>
            <a:ext cx="92964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How many flip-flops are needed for a mod-10 binary counter?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5A2CB2-81C3-4BFD-9D14-498F897B0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5486400"/>
            <a:ext cx="847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Answer without notes, then compare your reasoning with the next slide.</a:t>
            </a:r>
          </a:p>
        </p:txBody>
      </p:sp>
    </p:spTree>
    <p:extLst>
      <p:ext uri="{BB962C8B-B14F-4D97-AF65-F5344CB8AC3E}">
        <p14:creationId xmlns:p14="http://schemas.microsoft.com/office/powerpoint/2010/main" val="19094814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860587-A051-4551-8BD0-346F5B5A2FB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81b03b20f44d29"/>
          <a:srcRect xmlns:a="http://schemas.openxmlformats.org/drawingml/2006/main" l="0" t="23428" r="0" b="234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15525" y="0"/>
            <a:ext cx="2276475" cy="1019175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2D541C-7F71-4E53-B897-C859F6797E0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ebaf71f04e4b16"/>
          <a:stretch xmlns:a="http://schemas.openxmlformats.org/drawingml/2006/main"/>
        </p:blipFill>
        <p:spPr>
          <a:xfrm xmlns:a="http://schemas.openxmlformats.org/drawingml/2006/main">
            <a:off x="8422741" y="228600"/>
            <a:ext cx="3137967" cy="514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98D7F0-B6AE-4572-8A2F-A7D902EA1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6225"/>
            <a:ext cx="723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L17 · PRACTICE SOLUTIONS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10FF78-A512-450A-89FD-0B34044D9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9715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Check the rule behind each answer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0E8473-2395-4371-98FB-472BDB8B4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485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BFBF6E-BB92-4A2C-9837-3517766BD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756F1B-1F7F-4F06-AFC6-CF92B0EB2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43625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Textbook: Ch. 7 §§7.1–7.2, pp. 420–447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CD99CA-B0B0-4680-9B2B-6D0EE2D17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642937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ELEC 335  |  L17  |  Week 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91CC50-E18C-4BA3-AC46-065FC5348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18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6EE20B-8C79-4F2C-98EE-F182149DD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175EE2-DB68-43F4-84BA-57D46EA01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66900"/>
            <a:ext cx="1043940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3F1ED"/>
          </a:solidFill>
          <a:ln xmlns:a="http://schemas.openxmlformats.org/drawingml/2006/main" w="19050">
            <a:solidFill>
              <a:srgbClr val="E5AB5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DAC23C-3CA6-41EE-8E91-1577E8092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2047875"/>
            <a:ext cx="704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Q1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32EFCA-9217-4933-BD88-7B72B9A80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057400"/>
            <a:ext cx="8858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T=0⊕0=0.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AAFB49-FA86-4D66-9E7B-CA0B58A2B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76650"/>
            <a:ext cx="1043940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9C9C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958523-E24A-452B-BCF5-96B7844B8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3857625"/>
            <a:ext cx="704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Q2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D9E067-FD66-4D12-AC8B-544A7E0CD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867150"/>
            <a:ext cx="8858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Four flip-flops; 2³=8 is insufficient and 2⁴=16 is sufficient.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A09FC8-5F7C-4334-9912-3B91D2B4C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5553075"/>
            <a:ext cx="86963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Return to the reference table if your answer used a different rule.</a:t>
            </a:r>
          </a:p>
        </p:txBody>
      </p:sp>
    </p:spTree>
    <p:extLst>
      <p:ext uri="{BB962C8B-B14F-4D97-AF65-F5344CB8AC3E}">
        <p14:creationId xmlns:p14="http://schemas.microsoft.com/office/powerpoint/2010/main" val="181057372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E4BFB1-7F45-4D16-A83C-C09628533B8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179048430f4510"/>
          <a:srcRect xmlns:a="http://schemas.openxmlformats.org/drawingml/2006/main" l="0" t="23428" r="0" b="234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15525" y="0"/>
            <a:ext cx="2276475" cy="1019175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8895B5-24B3-43B0-9312-CB2155F4A9C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6b0c4063674ae8"/>
          <a:stretch xmlns:a="http://schemas.openxmlformats.org/drawingml/2006/main"/>
        </p:blipFill>
        <p:spPr>
          <a:xfrm xmlns:a="http://schemas.openxmlformats.org/drawingml/2006/main">
            <a:off x="8422741" y="228600"/>
            <a:ext cx="3137967" cy="514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65A966-65BA-4D09-B0BE-FE12EA5FD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6225"/>
            <a:ext cx="723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L17 · CLOSE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FB8B8F-A10D-46B7-BA86-22154A745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9715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What should stay with you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0150E1-C9DA-43BC-A225-C21A97AD2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485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FBD108-66FA-4866-B62E-26EF8130C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9ADD0A-93D0-4DD8-924D-316197CD4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43625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Textbook: Ch. 7 §§7.1–7.2, pp. 420–447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75FAA5-C6A9-41A4-912D-8E66980D9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642937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ELEC 335  |  L17  |  Week 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ECC81E-367F-483C-8B01-22B445A8B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19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AEA2E2-D9BB-4A0A-BAB4-262E355A0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E9EF0B-62DE-4A73-8EF4-5284E89C8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28800"/>
            <a:ext cx="104775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740730-C701-44B4-B66E-6D2EB1816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858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1E252B"/>
                </a:solidFill>
                <a:latin typeface="Tahoma"/>
                <a:ea typeface="Tahoma"/>
                <a:cs typeface="Tahoma"/>
              </a:rPr>
              <a:t>Use D, T and JK excitation requirements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D6220B-DE75-4877-8CAB-5C77B4B7F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19400"/>
            <a:ext cx="104775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0936EA-6D9E-405D-96EF-A35B73113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743200"/>
            <a:ext cx="9858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Design a synchronous modulus-six counter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948A36-25DA-4BE6-A7E5-4CDB66666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10000"/>
            <a:ext cx="104775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5147DC-A78D-4ECB-9FAC-9F8D19903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33800"/>
            <a:ext cx="9858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Specify recovery from unused encodings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FA7129-0C75-4A72-9785-67F4821F9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4972050"/>
            <a:ext cx="9725025" cy="981075"/>
          </a:xfrm>
          <a:prstGeom xmlns:a="http://schemas.openxmlformats.org/drawingml/2006/main" prst="roundRect">
            <a:avLst>
              <a:gd name="adj" fmla="val 7767"/>
            </a:avLst>
          </a:prstGeom>
          <a:solidFill xmlns:a="http://schemas.openxmlformats.org/drawingml/2006/main">
            <a:srgbClr val="F3F1ED"/>
          </a:solidFill>
          <a:ln xmlns:a="http://schemas.openxmlformats.org/drawingml/2006/main" w="19050">
            <a:solidFill>
              <a:srgbClr val="E5AB5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506F65-937C-4D76-899A-5A78F0F69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181600"/>
            <a:ext cx="9620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NEXT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1C4AAB-E880-4860-A53D-21A3D132A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095875"/>
            <a:ext cx="78581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Next: Ripple counters and asynchronous behavior. Use lesson-04.html to preview its model.</a:t>
            </a:r>
          </a:p>
        </p:txBody>
      </p:sp>
    </p:spTree>
    <p:extLst>
      <p:ext uri="{BB962C8B-B14F-4D97-AF65-F5344CB8AC3E}">
        <p14:creationId xmlns:p14="http://schemas.microsoft.com/office/powerpoint/2010/main" val="25059170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2026-10-13T11:24:29.1500000Z</dcterms:created>
  <dcterms:modified xsi:type="dcterms:W3CDTF">2026-10-13T11:24:29.1500000Z</dcterms:modified>
</coreProperties>
</file>