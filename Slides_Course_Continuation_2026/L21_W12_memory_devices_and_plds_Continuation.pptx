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e12eff1e073483b" /><Relationship Type="http://schemas.openxmlformats.org/officeDocument/2006/relationships/extended-properties" Target="/docProps/app.xml" Id="R4b933c65cbb2496a" /><Relationship Type="http://schemas.openxmlformats.org/officeDocument/2006/relationships/officeDocument" Target="/ppt/presentation.xml" Id="R3e711b897c7648b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ca506340677474b"/>
  </p:sldMasterIdLst>
  <p:notesMasterIdLst>
    <p:notesMasterId xmlns:r="http://schemas.openxmlformats.org/officeDocument/2006/relationships" r:id="R9cec2785a8494d86"/>
  </p:notesMasterIdLst>
  <p:sldIdLst>
    <p:sldId xmlns:r="http://schemas.openxmlformats.org/officeDocument/2006/relationships" id="256" r:id="R006dce3e6fb143d4"/>
    <p:sldId xmlns:r="http://schemas.openxmlformats.org/officeDocument/2006/relationships" id="257" r:id="R1585713bf2b24537"/>
    <p:sldId xmlns:r="http://schemas.openxmlformats.org/officeDocument/2006/relationships" id="258" r:id="R1841295c614347ca"/>
    <p:sldId xmlns:r="http://schemas.openxmlformats.org/officeDocument/2006/relationships" id="259" r:id="Rccbbe3a7cf1c411c"/>
    <p:sldId xmlns:r="http://schemas.openxmlformats.org/officeDocument/2006/relationships" id="260" r:id="Rdd132f29b7e24b69"/>
    <p:sldId xmlns:r="http://schemas.openxmlformats.org/officeDocument/2006/relationships" id="261" r:id="R0582b1408e12467f"/>
    <p:sldId xmlns:r="http://schemas.openxmlformats.org/officeDocument/2006/relationships" id="262" r:id="R357efbeac5434772"/>
    <p:sldId xmlns:r="http://schemas.openxmlformats.org/officeDocument/2006/relationships" id="263" r:id="R46fb8121ab874815"/>
    <p:sldId xmlns:r="http://schemas.openxmlformats.org/officeDocument/2006/relationships" id="264" r:id="R68e709b3443c43f4"/>
    <p:sldId xmlns:r="http://schemas.openxmlformats.org/officeDocument/2006/relationships" id="265" r:id="R7a9ec6ac9257419b"/>
    <p:sldId xmlns:r="http://schemas.openxmlformats.org/officeDocument/2006/relationships" id="266" r:id="R4a4543ce841e456d"/>
    <p:sldId xmlns:r="http://schemas.openxmlformats.org/officeDocument/2006/relationships" id="267" r:id="R1ec1b9995d6643a1"/>
    <p:sldId xmlns:r="http://schemas.openxmlformats.org/officeDocument/2006/relationships" id="268" r:id="R5812b771e0894b1c"/>
    <p:sldId xmlns:r="http://schemas.openxmlformats.org/officeDocument/2006/relationships" id="269" r:id="R7b84acf894224690"/>
    <p:sldId xmlns:r="http://schemas.openxmlformats.org/officeDocument/2006/relationships" id="270" r:id="Rbf4212f88bb444fc"/>
    <p:sldId xmlns:r="http://schemas.openxmlformats.org/officeDocument/2006/relationships" id="271" r:id="R2411fa4721ff4853"/>
    <p:sldId xmlns:r="http://schemas.openxmlformats.org/officeDocument/2006/relationships" id="272" r:id="R5dc1b6145d6d4ef7"/>
    <p:sldId xmlns:r="http://schemas.openxmlformats.org/officeDocument/2006/relationships" id="273" r:id="R2753245d60c64745"/>
    <p:sldId xmlns:r="http://schemas.openxmlformats.org/officeDocument/2006/relationships" id="274" r:id="R5f45eb42e9054ec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e783b0c98854b24" /><Relationship Type="http://schemas.openxmlformats.org/officeDocument/2006/relationships/slideMaster" Target="/ppt/slideMasters/slideMaster1.xml" Id="R9ca506340677474b" /><Relationship Type="http://schemas.openxmlformats.org/officeDocument/2006/relationships/notesMaster" Target="/ppt/notesMasters/notesMaster1.xml" Id="R9cec2785a8494d86" /><Relationship Type="http://schemas.openxmlformats.org/officeDocument/2006/relationships/presProps" Target="/ppt/presProps.xml" Id="R0059cba0f3f144b3" /><Relationship Type="http://schemas.openxmlformats.org/officeDocument/2006/relationships/tableStyles" Target="/ppt/tableStyles.xml" Id="R2701c9e69e124e6b" /><Relationship Type="http://schemas.openxmlformats.org/officeDocument/2006/relationships/slide" Target="/ppt/slides/slide1.xml" Id="R006dce3e6fb143d4" /><Relationship Type="http://schemas.openxmlformats.org/officeDocument/2006/relationships/slide" Target="/ppt/slides/slide2.xml" Id="R1585713bf2b24537" /><Relationship Type="http://schemas.openxmlformats.org/officeDocument/2006/relationships/slide" Target="/ppt/slides/slide3.xml" Id="R1841295c614347ca" /><Relationship Type="http://schemas.openxmlformats.org/officeDocument/2006/relationships/slide" Target="/ppt/slides/slide4.xml" Id="Rccbbe3a7cf1c411c" /><Relationship Type="http://schemas.openxmlformats.org/officeDocument/2006/relationships/slide" Target="/ppt/slides/slide5.xml" Id="Rdd132f29b7e24b69" /><Relationship Type="http://schemas.openxmlformats.org/officeDocument/2006/relationships/slide" Target="/ppt/slides/slide6.xml" Id="R0582b1408e12467f" /><Relationship Type="http://schemas.openxmlformats.org/officeDocument/2006/relationships/slide" Target="/ppt/slides/slide7.xml" Id="R357efbeac5434772" /><Relationship Type="http://schemas.openxmlformats.org/officeDocument/2006/relationships/slide" Target="/ppt/slides/slide8.xml" Id="R46fb8121ab874815" /><Relationship Type="http://schemas.openxmlformats.org/officeDocument/2006/relationships/slide" Target="/ppt/slides/slide9.xml" Id="R68e709b3443c43f4" /><Relationship Type="http://schemas.openxmlformats.org/officeDocument/2006/relationships/slide" Target="/ppt/slides/slide10.xml" Id="R7a9ec6ac9257419b" /><Relationship Type="http://schemas.openxmlformats.org/officeDocument/2006/relationships/slide" Target="/ppt/slides/slide11.xml" Id="R4a4543ce841e456d" /><Relationship Type="http://schemas.openxmlformats.org/officeDocument/2006/relationships/slide" Target="/ppt/slides/slide12.xml" Id="R1ec1b9995d6643a1" /><Relationship Type="http://schemas.openxmlformats.org/officeDocument/2006/relationships/slide" Target="/ppt/slides/slide13.xml" Id="R5812b771e0894b1c" /><Relationship Type="http://schemas.openxmlformats.org/officeDocument/2006/relationships/slide" Target="/ppt/slides/slide14.xml" Id="R7b84acf894224690" /><Relationship Type="http://schemas.openxmlformats.org/officeDocument/2006/relationships/slide" Target="/ppt/slides/slide15.xml" Id="Rbf4212f88bb444fc" /><Relationship Type="http://schemas.openxmlformats.org/officeDocument/2006/relationships/slide" Target="/ppt/slides/slide16.xml" Id="R2411fa4721ff4853" /><Relationship Type="http://schemas.openxmlformats.org/officeDocument/2006/relationships/slide" Target="/ppt/slides/slide17.xml" Id="R5dc1b6145d6d4ef7" /><Relationship Type="http://schemas.openxmlformats.org/officeDocument/2006/relationships/slide" Target="/ppt/slides/slide18.xml" Id="R2753245d60c64745" /><Relationship Type="http://schemas.openxmlformats.org/officeDocument/2006/relationships/slide" Target="/ppt/slides/slide19.xml" Id="R5f45eb42e9054ec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a10c3b865314b1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295fe734906486a" /><Relationship Type="http://schemas.openxmlformats.org/officeDocument/2006/relationships/notesMaster" Target="/ppt/notesMasters/notesMaster1.xml" Id="R27b461e86bbd45f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4f22ae75eb24d0b" /><Relationship Type="http://schemas.openxmlformats.org/officeDocument/2006/relationships/notesMaster" Target="/ppt/notesMasters/notesMaster1.xml" Id="R10946fef3f224d2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f70ba9c7d474136" /><Relationship Type="http://schemas.openxmlformats.org/officeDocument/2006/relationships/notesMaster" Target="/ppt/notesMasters/notesMaster1.xml" Id="R232c88090718448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2acab56585542ca" /><Relationship Type="http://schemas.openxmlformats.org/officeDocument/2006/relationships/notesMaster" Target="/ppt/notesMasters/notesMaster1.xml" Id="R8f9f7fb477fc489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c9fa7de3a404488" /><Relationship Type="http://schemas.openxmlformats.org/officeDocument/2006/relationships/notesMaster" Target="/ppt/notesMasters/notesMaster1.xml" Id="Rb6f2f6af83d1450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b4f6dc6a3bc4833" /><Relationship Type="http://schemas.openxmlformats.org/officeDocument/2006/relationships/notesMaster" Target="/ppt/notesMasters/notesMaster1.xml" Id="R1a827f8248424ce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607112b48024f11" /><Relationship Type="http://schemas.openxmlformats.org/officeDocument/2006/relationships/notesMaster" Target="/ppt/notesMasters/notesMaster1.xml" Id="R41d25b824dbb4a5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97266b5ec174ce2" /><Relationship Type="http://schemas.openxmlformats.org/officeDocument/2006/relationships/notesMaster" Target="/ppt/notesMasters/notesMaster1.xml" Id="Rb17a315d8df1426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531112da4e4444c" /><Relationship Type="http://schemas.openxmlformats.org/officeDocument/2006/relationships/notesMaster" Target="/ppt/notesMasters/notesMaster1.xml" Id="R9271ca3f73eb466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00abe6cf3dc467e" /><Relationship Type="http://schemas.openxmlformats.org/officeDocument/2006/relationships/notesMaster" Target="/ppt/notesMasters/notesMaster1.xml" Id="R3bc8d2a00c5041f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76c229b63434ca9" /><Relationship Type="http://schemas.openxmlformats.org/officeDocument/2006/relationships/notesMaster" Target="/ppt/notesMasters/notesMaster1.xml" Id="R0b08ad29700b4a0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913371d41d94865" /><Relationship Type="http://schemas.openxmlformats.org/officeDocument/2006/relationships/notesMaster" Target="/ppt/notesMasters/notesMaster1.xml" Id="R6b4cb0d6bf744a3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46dd4d07d894d65" /><Relationship Type="http://schemas.openxmlformats.org/officeDocument/2006/relationships/notesMaster" Target="/ppt/notesMasters/notesMaster1.xml" Id="Rc3a9b55f2d944bb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05cea25ea2d4241" /><Relationship Type="http://schemas.openxmlformats.org/officeDocument/2006/relationships/notesMaster" Target="/ppt/notesMasters/notesMaster1.xml" Id="R781b50b601e041f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350bd65110b4667" /><Relationship Type="http://schemas.openxmlformats.org/officeDocument/2006/relationships/notesMaster" Target="/ppt/notesMasters/notesMaster1.xml" Id="Rc34b4218fc9f49e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8114733b638430d" /><Relationship Type="http://schemas.openxmlformats.org/officeDocument/2006/relationships/notesMaster" Target="/ppt/notesMasters/notesMaster1.xml" Id="R782f07b4394345a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2cf0f75d0964bd0" /><Relationship Type="http://schemas.openxmlformats.org/officeDocument/2006/relationships/notesMaster" Target="/ppt/notesMasters/notesMaster1.xml" Id="R78ddaeb9a7e047d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b4b00bb214d4490" /><Relationship Type="http://schemas.openxmlformats.org/officeDocument/2006/relationships/notesMaster" Target="/ppt/notesMasters/notesMaster1.xml" Id="R3103e9792a4f48f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d24b008f4b44514" /><Relationship Type="http://schemas.openxmlformats.org/officeDocument/2006/relationships/notesMaster" Target="/ppt/notesMasters/notesMaster1.xml" Id="R03124bd6d0aa42a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21 | Week 12</a:t>
            </a:r>
          </a:p>
          <a:p xmlns:a="http://schemas.openxmlformats.org/drawingml/2006/main">
            <a:r>
              <a:t>Opening</a:t>
            </a:r>
          </a:p>
          <a:p xmlns:a="http://schemas.openxmlformats.org/drawingml/2006/main">
            <a:r>
              <a:t>Reading: Alan B. Marcovitz, Introduction to Logic Design, 3rd ed., Ch. 5 §5.6, pp. 276 onward; Ch. 8 §8.3, pp. 506–511.</a:t>
            </a:r>
          </a:p>
          <a:p xmlns:a="http://schemas.openxmlformats.org/drawingml/2006/main">
            <a:r>
              <a:t>Companion animation: lesson-07.html</a:t>
            </a:r>
          </a:p>
          <a:p xmlns:a="http://schemas.openxmlformats.org/drawingml/2006/main">
            <a:r>
              <a:t>Opening question: How can one truth table be realized with three programmable structures?</a:t>
            </a:r>
          </a:p>
          <a:p xmlns:a="http://schemas.openxmlformats.org/drawingml/2006/main">
            <a:r>
              <a:t>Outcomes: Map inputs to ROM addresses and output words | Build shared product terms in a PLA | Explain fixed OR allocation in a PAL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21 | Week 12</a:t>
            </a:r>
          </a:p>
          <a:p xmlns:a="http://schemas.openxmlformats.org/drawingml/2006/main">
            <a:r>
              <a:t>Reading map</a:t>
            </a:r>
          </a:p>
          <a:p xmlns:a="http://schemas.openxmlformats.org/drawingml/2006/main">
            <a:r>
              <a:t>Reading: Alan B. Marcovitz, Introduction to Logic Design, 3rd ed., Ch. 5 §5.6, pp. 276 onward; Ch. 8 §8.3, pp. 506–511.</a:t>
            </a:r>
          </a:p>
          <a:p xmlns:a="http://schemas.openxmlformats.org/drawingml/2006/main">
            <a:r>
              <a:t>Companion animation: lesson-07.html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21 | Week 12</a:t>
            </a:r>
          </a:p>
          <a:p xmlns:a="http://schemas.openxmlformats.org/drawingml/2006/main">
            <a:r>
              <a:t>Learning outcomes</a:t>
            </a:r>
          </a:p>
          <a:p xmlns:a="http://schemas.openxmlformats.org/drawingml/2006/main">
            <a:r>
              <a:t>Reading: Alan B. Marcovitz, Introduction to Logic Design, 3rd ed., Ch. 5 §5.6, pp. 276 onward; Ch. 8 §8.3, pp. 506–511.</a:t>
            </a:r>
          </a:p>
          <a:p xmlns:a="http://schemas.openxmlformats.org/drawingml/2006/main">
            <a:r>
              <a:t>Companion animation: lesson-07.html</a:t>
            </a:r>
          </a:p>
          <a:p xmlns:a="http://schemas.openxmlformats.org/drawingml/2006/main">
            <a:r>
              <a:t>Map inputs to ROM addresses and output words</a:t>
            </a:r>
          </a:p>
          <a:p xmlns:a="http://schemas.openxmlformats.org/drawingml/2006/main">
            <a:r>
              <a:t>Build shared product terms in a PLA</a:t>
            </a:r>
          </a:p>
          <a:p xmlns:a="http://schemas.openxmlformats.org/drawingml/2006/main">
            <a:r>
              <a:t>Explain fixed OR allocation in a PAL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21 | Week 12</a:t>
            </a:r>
          </a:p>
          <a:p xmlns:a="http://schemas.openxmlformats.org/drawingml/2006/main">
            <a:r>
              <a:t>Guiding question</a:t>
            </a:r>
          </a:p>
          <a:p xmlns:a="http://schemas.openxmlformats.org/drawingml/2006/main">
            <a:r>
              <a:t>Reading: Alan B. Marcovitz, Introduction to Logic Design, 3rd ed., Ch. 5 §5.6, pp. 276 onward; Ch. 8 §8.3, pp. 506–511.</a:t>
            </a:r>
          </a:p>
          <a:p xmlns:a="http://schemas.openxmlformats.org/drawingml/2006/main">
            <a:r>
              <a:t>Companion animation: lesson-07.html</a:t>
            </a:r>
          </a:p>
          <a:p xmlns:a="http://schemas.openxmlformats.org/drawingml/2006/main">
            <a:r>
              <a:t>Ask students for an initial answer: How can one truth table be realized with three programmable structures?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21 | Week 12</a:t>
            </a:r>
          </a:p>
          <a:p xmlns:a="http://schemas.openxmlformats.org/drawingml/2006/main">
            <a:r>
              <a:t>Prerequisite bridge</a:t>
            </a:r>
          </a:p>
          <a:p xmlns:a="http://schemas.openxmlformats.org/drawingml/2006/main">
            <a:r>
              <a:t>Reading: Alan B. Marcovitz, Introduction to Logic Design, 3rd ed., Ch. 5 §5.6, pp. 276 onward; Ch. 8 §8.3, pp. 506–511.</a:t>
            </a:r>
          </a:p>
          <a:p xmlns:a="http://schemas.openxmlformats.org/drawingml/2006/main">
            <a:r>
              <a:t>Companion animation: lesson-07.html</a:t>
            </a:r>
          </a:p>
          <a:p xmlns:a="http://schemas.openxmlformats.org/drawingml/2006/main">
            <a:r>
              <a:t>A truth table assigns output values to input combinations.</a:t>
            </a:r>
          </a:p>
          <a:p xmlns:a="http://schemas.openxmlformats.org/drawingml/2006/main">
            <a:r>
              <a:t>A decoder selects one minterm from an address.</a:t>
            </a:r>
          </a:p>
          <a:p xmlns:a="http://schemas.openxmlformats.org/drawingml/2006/main">
            <a:r>
              <a:t>Product terms can be shared across multiple output functions.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21 | Week 12</a:t>
            </a:r>
          </a:p>
          <a:p xmlns:a="http://schemas.openxmlformats.org/drawingml/2006/main">
            <a:r>
              <a:t>Vocabulary</a:t>
            </a:r>
          </a:p>
          <a:p xmlns:a="http://schemas.openxmlformats.org/drawingml/2006/main">
            <a:r>
              <a:t>Reading: Alan B. Marcovitz, Introduction to Logic Design, 3rd ed., Ch. 5 §5.6, pp. 276 onward; Ch. 8 §8.3, pp. 506–511.</a:t>
            </a:r>
          </a:p>
          <a:p xmlns:a="http://schemas.openxmlformats.org/drawingml/2006/main">
            <a:r>
              <a:t>Companion animation: lesson-07.html</a:t>
            </a:r>
          </a:p>
          <a:p xmlns:a="http://schemas.openxmlformats.org/drawingml/2006/main">
            <a:r>
              <a:t>ROM: addressed store of complete output words</a:t>
            </a:r>
          </a:p>
          <a:p xmlns:a="http://schemas.openxmlformats.org/drawingml/2006/main">
            <a:r>
              <a:t>PLA: programmable AND and OR connections</a:t>
            </a:r>
          </a:p>
          <a:p xmlns:a="http://schemas.openxmlformats.org/drawingml/2006/main">
            <a:r>
              <a:t>PAL: programmable AND plane with fixed OR allocation</a:t>
            </a:r>
          </a:p>
          <a:p xmlns:a="http://schemas.openxmlformats.org/drawingml/2006/main">
            <a:r>
              <a:t>product term: AND of literals used in a sum-of-products form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21 | Week 12</a:t>
            </a:r>
          </a:p>
          <a:p xmlns:a="http://schemas.openxmlformats.org/drawingml/2006/main">
            <a:r>
              <a:t>Plain-language model</a:t>
            </a:r>
          </a:p>
          <a:p xmlns:a="http://schemas.openxmlformats.org/drawingml/2006/main">
            <a:r>
              <a:t>Reading: Alan B. Marcovitz, Introduction to Logic Design, 3rd ed., Ch. 5 §5.6, pp. 276 onward; Ch. 8 §8.3, pp. 506–511.</a:t>
            </a:r>
          </a:p>
          <a:p xmlns:a="http://schemas.openxmlformats.org/drawingml/2006/main">
            <a:r>
              <a:t>Companion animation: lesson-07.html</a:t>
            </a:r>
          </a:p>
          <a:p xmlns:a="http://schemas.openxmlformats.org/drawingml/2006/main">
            <a:r>
              <a:t>List every address and required output word.</a:t>
            </a:r>
          </a:p>
          <a:p xmlns:a="http://schemas.openxmlformats.org/drawingml/2006/main">
            <a:r>
              <a:t>Identify shared product terms for a PLA.</a:t>
            </a:r>
          </a:p>
          <a:p xmlns:a="http://schemas.openxmlformats.org/drawingml/2006/main">
            <a:r>
              <a:t>Check the available OR allocation for a PAL.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21 | Week 12</a:t>
            </a:r>
          </a:p>
          <a:p xmlns:a="http://schemas.openxmlformats.org/drawingml/2006/main">
            <a:r>
              <a:t>Reference table</a:t>
            </a:r>
          </a:p>
          <a:p xmlns:a="http://schemas.openxmlformats.org/drawingml/2006/main">
            <a:r>
              <a:t>Reading: Alan B. Marcovitz, Introduction to Logic Design, 3rd ed., Ch. 5 §5.6, pp. 276 onward; Ch. 8 §8.3, pp. 506–511.</a:t>
            </a:r>
          </a:p>
          <a:p xmlns:a="http://schemas.openxmlformats.org/drawingml/2006/main">
            <a:r>
              <a:t>Companion animation: lesson-07.html</a:t>
            </a:r>
          </a:p>
          <a:p xmlns:a="http://schemas.openxmlformats.org/drawingml/2006/main">
            <a:r>
              <a:t>Read all columns in the bit order shown. Ask students to predict one row before the worked example.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21 | Week 12</a:t>
            </a:r>
          </a:p>
          <a:p xmlns:a="http://schemas.openxmlformats.org/drawingml/2006/main">
            <a:r>
              <a:t>Textbook exercise method</a:t>
            </a:r>
          </a:p>
          <a:p xmlns:a="http://schemas.openxmlformats.org/drawingml/2006/main">
            <a:r>
              <a:t>Reading: Alan B. Marcovitz, Introduction to Logic Design, 3rd ed., Ch. 5 §5.6, pp. 276 onward; Ch. 8 §8.3, pp. 506–511.</a:t>
            </a:r>
          </a:p>
          <a:p xmlns:a="http://schemas.openxmlformats.org/drawingml/2006/main">
            <a:r>
              <a:t>Companion animation: lesson-07.html</a:t>
            </a:r>
          </a:p>
          <a:p xmlns:a="http://schemas.openxmlformats.org/drawingml/2006/main">
            <a:r>
              <a:t>Write the full input/output truth table with a fixed address order.</a:t>
            </a:r>
          </a:p>
          <a:p xmlns:a="http://schemas.openxmlformats.org/drawingml/2006/main">
            <a:r>
              <a:t>For ROM, copy output words into addresses; for PLA, minimize and list product terms.</a:t>
            </a:r>
          </a:p>
          <a:p xmlns:a="http://schemas.openxmlformats.org/drawingml/2006/main">
            <a:r>
              <a:t>For PAL, allocate product terms to each fixed output OR and check device limits.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21 | Week 12</a:t>
            </a:r>
          </a:p>
          <a:p xmlns:a="http://schemas.openxmlformats.org/drawingml/2006/main">
            <a:r>
              <a:t>Implement XOR and AND</a:t>
            </a:r>
          </a:p>
          <a:p xmlns:a="http://schemas.openxmlformats.org/drawingml/2006/main">
            <a:r>
              <a:t>Reading: Alan B. Marcovitz, Introduction to Logic Design, 3rd ed., Ch. 5 §5.6, pp. 276 onward; Ch. 8 §8.3, pp. 506–511.</a:t>
            </a:r>
          </a:p>
          <a:p xmlns:a="http://schemas.openxmlformats.org/drawingml/2006/main">
            <a:r>
              <a:t>Companion animation: lesson-07.html</a:t>
            </a:r>
          </a:p>
          <a:p xmlns:a="http://schemas.openxmlformats.org/drawingml/2006/main">
            <a:r>
              <a:t>Prompt: Let F=A⊕B and G=AB. Realize both functions by ROM and PLA.</a:t>
            </a:r>
          </a:p>
          <a:p xmlns:a="http://schemas.openxmlformats.org/drawingml/2006/main">
            <a:r>
              <a:t>Steps:</a:t>
            </a:r>
          </a:p>
          <a:p xmlns:a="http://schemas.openxmlformats.org/drawingml/2006/main">
            <a:r>
              <a:t>List output words at addresses 00,01,10,11: 00,10,10,01.</a:t>
            </a:r>
          </a:p>
          <a:p xmlns:a="http://schemas.openxmlformats.org/drawingml/2006/main">
            <a:r>
              <a:t>A 4×2 ROM stores those four words.</a:t>
            </a:r>
          </a:p>
          <a:p xmlns:a="http://schemas.openxmlformats.org/drawingml/2006/main">
            <a:r>
              <a:t>Form PLA terms P₁=A′B, P₂=AB′ and P₃=AB.</a:t>
            </a:r>
          </a:p>
          <a:p xmlns:a="http://schemas.openxmlformats.org/drawingml/2006/main">
            <a:r>
              <a:t>Connect F=P₁+P₂ and G=P₃.</a:t>
            </a:r>
          </a:p>
          <a:p xmlns:a="http://schemas.openxmlformats.org/drawingml/2006/main">
            <a:r>
              <a:t>Answer: The ROM stores 8 output bits. The PLA uses three product terms for this direct SOP realization.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21 | Week 12</a:t>
            </a:r>
          </a:p>
          <a:p xmlns:a="http://schemas.openxmlformats.org/drawingml/2006/main">
            <a:r>
              <a:t>Concept comparison</a:t>
            </a:r>
          </a:p>
          <a:p xmlns:a="http://schemas.openxmlformats.org/drawingml/2006/main">
            <a:r>
              <a:t>Reading: Alan B. Marcovitz, Introduction to Logic Design, 3rd ed., Ch. 5 §5.6, pp. 276 onward; Ch. 8 §8.3, pp. 506–511.</a:t>
            </a:r>
          </a:p>
          <a:p xmlns:a="http://schemas.openxmlformats.org/drawingml/2006/main">
            <a:r>
              <a:t>Companion animation: lesson-07.html</a:t>
            </a:r>
          </a:p>
          <a:p xmlns:a="http://schemas.openxmlformats.org/drawingml/2006/main">
            <a:r>
              <a:t>ROM | Stores one word for every input address. | Direct table implementation.</a:t>
            </a:r>
          </a:p>
          <a:p xmlns:a="http://schemas.openxmlformats.org/drawingml/2006/main">
            <a:r>
              <a:t>PLA / PAL | Implements selected product terms. | Economical when expressions are sparse or shared.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21 | Week 12</a:t>
            </a:r>
          </a:p>
          <a:p xmlns:a="http://schemas.openxmlformats.org/drawingml/2006/main">
            <a:r>
              <a:t>Interactive model</a:t>
            </a:r>
          </a:p>
          <a:p xmlns:a="http://schemas.openxmlformats.org/drawingml/2006/main">
            <a:r>
              <a:t>Reading: Alan B. Marcovitz, Introduction to Logic Design, 3rd ed., Ch. 5 §5.6, pp. 276 onward; Ch. 8 §8.3, pp. 506–511.</a:t>
            </a:r>
          </a:p>
          <a:p xmlns:a="http://schemas.openxmlformats.org/drawingml/2006/main">
            <a:r>
              <a:t>Companion animation: lesson-07.html</a:t>
            </a:r>
          </a:p>
          <a:p xmlns:a="http://schemas.openxmlformats.org/drawingml/2006/main">
            <a:r>
              <a:t>Select A and B. The highlighted address, product term and outputs update together.</a:t>
            </a:r>
          </a:p>
          <a:p xmlns:a="http://schemas.openxmlformats.org/drawingml/2006/main">
            <a:r>
              <a:t>Toggle the address and have students read the ROM word before exposing equations.</a:t>
            </a:r>
          </a:p>
          <a:p xmlns:a="http://schemas.openxmlformats.org/drawingml/2006/main">
            <a:r>
              <a:t>Highlight how the same truth table maps to a PLA product plane.</a:t>
            </a:r>
          </a:p>
          <a:p xmlns:a="http://schemas.openxmlformats.org/drawingml/2006/main">
            <a:r>
              <a:t>Ask students to count terms required at each PAL output.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21 | Week 12</a:t>
            </a:r>
          </a:p>
          <a:p xmlns:a="http://schemas.openxmlformats.org/drawingml/2006/main">
            <a:r>
              <a:t>Team activity</a:t>
            </a:r>
          </a:p>
          <a:p xmlns:a="http://schemas.openxmlformats.org/drawingml/2006/main">
            <a:r>
              <a:t>Reading: Alan B. Marcovitz, Introduction to Logic Design, 3rd ed., Ch. 5 §5.6, pp. 276 onward; Ch. 8 §8.3, pp. 506–511.</a:t>
            </a:r>
          </a:p>
          <a:p xmlns:a="http://schemas.openxmlformats.org/drawingml/2006/main">
            <a:r>
              <a:t>Companion animation: lesson-07.html</a:t>
            </a:r>
          </a:p>
          <a:p xmlns:a="http://schemas.openxmlformats.org/drawingml/2006/main">
            <a:r>
              <a:t>Given two functions of A and B, write a four-address ROM table and identify product terms that could be shared in a PLA.</a:t>
            </a:r>
          </a:p>
          <a:p xmlns:a="http://schemas.openxmlformats.org/drawingml/2006/main">
            <a:r>
              <a:t>Deliverable: A four-row ROM map and a labelled sum-of-products implementation.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21 | Week 12</a:t>
            </a:r>
          </a:p>
          <a:p xmlns:a="http://schemas.openxmlformats.org/drawingml/2006/main">
            <a:r>
              <a:t>Guided example</a:t>
            </a:r>
          </a:p>
          <a:p xmlns:a="http://schemas.openxmlformats.org/drawingml/2006/main">
            <a:r>
              <a:t>Reading: Alan B. Marcovitz, Introduction to Logic Design, 3rd ed., Ch. 5 §5.6, pp. 276 onward; Ch. 8 §8.3, pp. 506–511.</a:t>
            </a:r>
          </a:p>
          <a:p xmlns:a="http://schemas.openxmlformats.org/drawingml/2006/main">
            <a:r>
              <a:t>Companion animation: lesson-07.html</a:t>
            </a:r>
          </a:p>
          <a:p xmlns:a="http://schemas.openxmlformats.org/drawingml/2006/main">
            <a:r>
              <a:t>Prompt: A PAL gives each output two fixed OR inputs. Can the same XOR/AND pair fit?</a:t>
            </a:r>
          </a:p>
          <a:p xmlns:a="http://schemas.openxmlformats.org/drawingml/2006/main">
            <a:r>
              <a:t>First move: F needs two product terms, A′B and AB′.</a:t>
            </a:r>
          </a:p>
          <a:p xmlns:a="http://schemas.openxmlformats.org/drawingml/2006/main">
            <a:r>
              <a:t>Pause before showing the next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21 | Week 12</a:t>
            </a:r>
          </a:p>
          <a:p xmlns:a="http://schemas.openxmlformats.org/drawingml/2006/main">
            <a:r>
              <a:t>Assess a PAL fit</a:t>
            </a:r>
          </a:p>
          <a:p xmlns:a="http://schemas.openxmlformats.org/drawingml/2006/main">
            <a:r>
              <a:t>Reading: Alan B. Marcovitz, Introduction to Logic Design, 3rd ed., Ch. 5 §5.6, pp. 276 onward; Ch. 8 §8.3, pp. 506–511.</a:t>
            </a:r>
          </a:p>
          <a:p xmlns:a="http://schemas.openxmlformats.org/drawingml/2006/main">
            <a:r>
              <a:t>Companion animation: lesson-07.html</a:t>
            </a:r>
          </a:p>
          <a:p xmlns:a="http://schemas.openxmlformats.org/drawingml/2006/main">
            <a:r>
              <a:t>Steps:</a:t>
            </a:r>
          </a:p>
          <a:p xmlns:a="http://schemas.openxmlformats.org/drawingml/2006/main">
            <a:r>
              <a:t>F needs two product terms, A′B and AB′.</a:t>
            </a:r>
          </a:p>
          <a:p xmlns:a="http://schemas.openxmlformats.org/drawingml/2006/main">
            <a:r>
              <a:t>G needs one product term, AB.</a:t>
            </a:r>
          </a:p>
          <a:p xmlns:a="http://schemas.openxmlformats.org/drawingml/2006/main">
            <a:r>
              <a:t>Allocate two AND terms to F and one to G.</a:t>
            </a:r>
          </a:p>
          <a:p xmlns:a="http://schemas.openxmlformats.org/drawingml/2006/main">
            <a:r>
              <a:t>Check the actual PAL for available true/complement input literals and output polarity.</a:t>
            </a:r>
          </a:p>
          <a:p xmlns:a="http://schemas.openxmlformats.org/drawingml/2006/main">
            <a:r>
              <a:t>Answer: It fits this stated two-terms-per-output model; a real device must be checked against its data sheet.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21 | Week 12</a:t>
            </a:r>
          </a:p>
          <a:p xmlns:a="http://schemas.openxmlformats.org/drawingml/2006/main">
            <a:r>
              <a:t>Misconception clinic</a:t>
            </a:r>
          </a:p>
          <a:p xmlns:a="http://schemas.openxmlformats.org/drawingml/2006/main">
            <a:r>
              <a:t>Reading: Alan B. Marcovitz, Introduction to Logic Design, 3rd ed., Ch. 5 §5.6, pp. 276 onward; Ch. 8 §8.3, pp. 506–511.</a:t>
            </a:r>
          </a:p>
          <a:p xmlns:a="http://schemas.openxmlformats.org/drawingml/2006/main">
            <a:r>
              <a:t>Companion animation: lesson-07.html</a:t>
            </a:r>
          </a:p>
          <a:p xmlns:a="http://schemas.openxmlformats.org/drawingml/2006/main">
            <a:r>
              <a:t>TEMPTING CLAIM: ROM, PLA and PAL all store a complete truth table in the same way.</a:t>
            </a:r>
          </a:p>
          <a:p xmlns:a="http://schemas.openxmlformats.org/drawingml/2006/main">
            <a:r>
              <a:t>WHY IT FAILS: A ROM stores addressable words, while a PLA or PAL implements product terms.</a:t>
            </a:r>
          </a:p>
          <a:p xmlns:a="http://schemas.openxmlformats.org/drawingml/2006/main">
            <a:r>
              <a:t>REPAIR: Compare the address map with the chosen product-term connections.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21 | Week 12</a:t>
            </a:r>
          </a:p>
          <a:p xmlns:a="http://schemas.openxmlformats.org/drawingml/2006/main">
            <a:r>
              <a:t>Practice questions</a:t>
            </a:r>
          </a:p>
          <a:p xmlns:a="http://schemas.openxmlformats.org/drawingml/2006/main">
            <a:r>
              <a:t>Reading: Alan B. Marcovitz, Introduction to Logic Design, 3rd ed., Ch. 5 §5.6, pp. 276 onward; Ch. 8 §8.3, pp. 506–511.</a:t>
            </a:r>
          </a:p>
          <a:p xmlns:a="http://schemas.openxmlformats.org/drawingml/2006/main">
            <a:r>
              <a:t>Companion animation: lesson-07.html</a:t>
            </a:r>
          </a:p>
          <a:p xmlns:a="http://schemas.openxmlformats.org/drawingml/2006/main">
            <a:r>
              <a:t>Q1: For two input bits and three output bits, what is the minimum ROM organization?</a:t>
            </a:r>
          </a:p>
          <a:p xmlns:a="http://schemas.openxmlformats.org/drawingml/2006/main">
            <a:r>
              <a:t>Hint: Addresses are all input combinations.</a:t>
            </a:r>
          </a:p>
          <a:p xmlns:a="http://schemas.openxmlformats.org/drawingml/2006/main">
            <a:r>
              <a:t>Answer: 4×3, meaning four addresses and three output bits per word.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Q2: Let H=A+B. Which input rows store H=1?</a:t>
            </a:r>
          </a:p>
          <a:p xmlns:a="http://schemas.openxmlformats.org/drawingml/2006/main">
            <a:r>
              <a:t>Hint: OR is 0 only when both inputs are 0.</a:t>
            </a:r>
          </a:p>
          <a:p xmlns:a="http://schemas.openxmlformats.org/drawingml/2006/main">
            <a:r>
              <a:t>Answer: Addresses 01, 10 and 11.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21 | Week 12</a:t>
            </a:r>
          </a:p>
          <a:p xmlns:a="http://schemas.openxmlformats.org/drawingml/2006/main">
            <a:r>
              <a:t>Practice solutions</a:t>
            </a:r>
          </a:p>
          <a:p xmlns:a="http://schemas.openxmlformats.org/drawingml/2006/main">
            <a:r>
              <a:t>Reading: Alan B. Marcovitz, Introduction to Logic Design, 3rd ed., Ch. 5 §5.6, pp. 276 onward; Ch. 8 §8.3, pp. 506–511.</a:t>
            </a:r>
          </a:p>
          <a:p xmlns:a="http://schemas.openxmlformats.org/drawingml/2006/main">
            <a:r>
              <a:t>Companion animation: lesson-07.html</a:t>
            </a:r>
          </a:p>
          <a:p xmlns:a="http://schemas.openxmlformats.org/drawingml/2006/main">
            <a:r>
              <a:t>Q1: For two input bits and three output bits, what is the minimum ROM organization?</a:t>
            </a:r>
          </a:p>
          <a:p xmlns:a="http://schemas.openxmlformats.org/drawingml/2006/main">
            <a:r>
              <a:t>4×3, meaning four addresses and three output bits per word.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Q2: Let H=A+B. Which input rows store H=1?</a:t>
            </a:r>
          </a:p>
          <a:p xmlns:a="http://schemas.openxmlformats.org/drawingml/2006/main">
            <a:r>
              <a:t>Addresses 01, 10 and 11.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21 | Week 12</a:t>
            </a:r>
          </a:p>
          <a:p xmlns:a="http://schemas.openxmlformats.org/drawingml/2006/main">
            <a:r>
              <a:t>Closing outcomes</a:t>
            </a:r>
          </a:p>
          <a:p xmlns:a="http://schemas.openxmlformats.org/drawingml/2006/main">
            <a:r>
              <a:t>Reading: Alan B. Marcovitz, Introduction to Logic Design, 3rd ed., Ch. 5 §5.6, pp. 276 onward; Ch. 8 §8.3, pp. 506–511.</a:t>
            </a:r>
          </a:p>
          <a:p xmlns:a="http://schemas.openxmlformats.org/drawingml/2006/main">
            <a:r>
              <a:t>Companion animation: lesson-07.html</a:t>
            </a:r>
          </a:p>
          <a:p xmlns:a="http://schemas.openxmlformats.org/drawingml/2006/main">
            <a:r>
              <a:t>Map inputs to ROM addresses and output words</a:t>
            </a:r>
          </a:p>
          <a:p xmlns:a="http://schemas.openxmlformats.org/drawingml/2006/main">
            <a:r>
              <a:t>Build shared product terms in a PLA</a:t>
            </a:r>
          </a:p>
          <a:p xmlns:a="http://schemas.openxmlformats.org/drawingml/2006/main">
            <a:r>
              <a:t>Explain fixed OR allocation in a PAL</a:t>
            </a:r>
          </a:p>
          <a:p xmlns:a="http://schemas.openxmlformats.org/drawingml/2006/main">
            <a:r>
              <a:t>Next companion: lesson-08.html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66918093eb408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2af76a1737404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63058da6a64e6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41736cc31a43e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a20721a60740d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bf6d3afbe24b5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9C37FD6-E840-480D-9E4F-B9B2E127F6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BE8B0F8-1C61-4F75-94FA-35CE69A3BD6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5C3B0A1-26C0-457F-A6D8-B6F9174DED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A5555B2-DE02-4B21-AFED-31FE9CB48D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91602A4-FD69-4D5D-8E51-4A547D0804B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863A13B-A7F7-40AF-AFAA-025F92AE3B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4063E0A-E21F-401B-9081-DCD36867787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A589FD4-3E7D-47D7-B91C-959285DDC0C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CEB3107-C512-4576-9BC2-9FE2D82E2D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250B345-E054-4F34-B756-ABE63EC85C2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3195d04c38a4828" /><Relationship Type="http://schemas.openxmlformats.org/officeDocument/2006/relationships/slideLayout" Target="/ppt/slideLayouts/slideLayout1.xml" Id="R6ae1f7635535442e" /><Relationship Type="http://schemas.openxmlformats.org/officeDocument/2006/relationships/slideLayout" Target="/ppt/slideLayouts/slideLayout2.xml" Id="Rc589620b50924a18" /><Relationship Type="http://schemas.openxmlformats.org/officeDocument/2006/relationships/slideLayout" Target="/ppt/slideLayouts/slideLayout3.xml" Id="Rb6c2556c86f14b65" /><Relationship Type="http://schemas.openxmlformats.org/officeDocument/2006/relationships/slideLayout" Target="/ppt/slideLayouts/slideLayout4.xml" Id="R898cca8c1feb49f1" /><Relationship Type="http://schemas.openxmlformats.org/officeDocument/2006/relationships/slideLayout" Target="/ppt/slideLayouts/slideLayout5.xml" Id="Rc2043791b1644f48" /><Relationship Type="http://schemas.openxmlformats.org/officeDocument/2006/relationships/slideLayout" Target="/ppt/slideLayouts/slideLayout6.xml" Id="Rc973cea8a4da479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ae1f7635535442e"/>
    <p:sldLayoutId xmlns:r="http://schemas.openxmlformats.org/officeDocument/2006/relationships" id="2147483650" r:id="Rc589620b50924a18"/>
    <p:sldLayoutId xmlns:r="http://schemas.openxmlformats.org/officeDocument/2006/relationships" id="2147483651" r:id="Rb6c2556c86f14b65"/>
    <p:sldLayoutId xmlns:r="http://schemas.openxmlformats.org/officeDocument/2006/relationships" id="2147483652" r:id="R898cca8c1feb49f1"/>
    <p:sldLayoutId xmlns:r="http://schemas.openxmlformats.org/officeDocument/2006/relationships" id="2147483653" r:id="Rc2043791b1644f48"/>
    <p:sldLayoutId xmlns:r="http://schemas.openxmlformats.org/officeDocument/2006/relationships" id="2147483654" r:id="Rc973cea8a4da479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615fef54824551" /><Relationship Type="http://schemas.openxmlformats.org/officeDocument/2006/relationships/image" Target="/ppt/media/image.png" Id="R7bf79febde194681" /><Relationship Type="http://schemas.openxmlformats.org/officeDocument/2006/relationships/image" Target="/ppt/media/image2.png" Id="R0a8117b6d87f4476" /><Relationship Type="http://schemas.openxmlformats.org/officeDocument/2006/relationships/notesSlide" Target="/ppt/notesSlides/notesSlide1.xml" Id="R4c430287f7f3486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db3f374ce04ed4" /><Relationship Type="http://schemas.openxmlformats.org/officeDocument/2006/relationships/image" Target="/ppt/media/image3.png" Id="Ra8fcd28e82b441cd" /><Relationship Type="http://schemas.openxmlformats.org/officeDocument/2006/relationships/image" Target="/ppt/media/image4.png" Id="Ra719731f6df4439d" /><Relationship Type="http://schemas.openxmlformats.org/officeDocument/2006/relationships/notesSlide" Target="/ppt/notesSlides/notesSlide2.xml" Id="R08a6aa9349cf466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4e578582bc47ce" /><Relationship Type="http://schemas.openxmlformats.org/officeDocument/2006/relationships/image" Target="/ppt/media/image5.png" Id="R323b5d218c3c4c8b" /><Relationship Type="http://schemas.openxmlformats.org/officeDocument/2006/relationships/image" Target="/ppt/media/image6.png" Id="Rc7a2083c2ccd406c" /><Relationship Type="http://schemas.openxmlformats.org/officeDocument/2006/relationships/notesSlide" Target="/ppt/notesSlides/notesSlide3.xml" Id="R00d1920c5c65424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8991aee3504a1b" /><Relationship Type="http://schemas.openxmlformats.org/officeDocument/2006/relationships/image" Target="/ppt/media/image7.png" Id="R09a5225523054beb" /><Relationship Type="http://schemas.openxmlformats.org/officeDocument/2006/relationships/image" Target="/ppt/media/image8.png" Id="R229a42c1db5c4a4d" /><Relationship Type="http://schemas.openxmlformats.org/officeDocument/2006/relationships/notesSlide" Target="/ppt/notesSlides/notesSlide4.xml" Id="Ra7be1cc3779d499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dda378f48f4104" /><Relationship Type="http://schemas.openxmlformats.org/officeDocument/2006/relationships/image" Target="/ppt/media/image9.png" Id="R8bc82dae6a934597" /><Relationship Type="http://schemas.openxmlformats.org/officeDocument/2006/relationships/image" Target="/ppt/media/image10.png" Id="R8472df65884e452a" /><Relationship Type="http://schemas.openxmlformats.org/officeDocument/2006/relationships/notesSlide" Target="/ppt/notesSlides/notesSlide5.xml" Id="R4ee94d8877f6469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4e669ea5d54456" /><Relationship Type="http://schemas.openxmlformats.org/officeDocument/2006/relationships/image" Target="/ppt/media/image11.png" Id="Rec15ab232a7d49e1" /><Relationship Type="http://schemas.openxmlformats.org/officeDocument/2006/relationships/image" Target="/ppt/media/image12.png" Id="R01b11ca79bf8436e" /><Relationship Type="http://schemas.openxmlformats.org/officeDocument/2006/relationships/notesSlide" Target="/ppt/notesSlides/notesSlide6.xml" Id="R069a36afa4e0493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8b1314acba45e4" /><Relationship Type="http://schemas.openxmlformats.org/officeDocument/2006/relationships/image" Target="/ppt/media/image13.png" Id="Rd1cc27c0fef74dd3" /><Relationship Type="http://schemas.openxmlformats.org/officeDocument/2006/relationships/image" Target="/ppt/media/image14.png" Id="R20b12c2baadd47d6" /><Relationship Type="http://schemas.openxmlformats.org/officeDocument/2006/relationships/notesSlide" Target="/ppt/notesSlides/notesSlide7.xml" Id="Rda3f26a35a3b44f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f49adabd8846ca" /><Relationship Type="http://schemas.openxmlformats.org/officeDocument/2006/relationships/image" Target="/ppt/media/image15.png" Id="Ra96fe36e80b244c2" /><Relationship Type="http://schemas.openxmlformats.org/officeDocument/2006/relationships/image" Target="/ppt/media/image16.png" Id="Red5ad002a45a4454" /><Relationship Type="http://schemas.openxmlformats.org/officeDocument/2006/relationships/notesSlide" Target="/ppt/notesSlides/notesSlide8.xml" Id="R50b15d3dff4649c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ecce7d97534608" /><Relationship Type="http://schemas.openxmlformats.org/officeDocument/2006/relationships/image" Target="/ppt/media/image17.png" Id="R6bd97ef70a6a4d29" /><Relationship Type="http://schemas.openxmlformats.org/officeDocument/2006/relationships/image" Target="/ppt/media/image18.png" Id="Ra31e7e6fb41a4a38" /><Relationship Type="http://schemas.openxmlformats.org/officeDocument/2006/relationships/notesSlide" Target="/ppt/notesSlides/notesSlide9.xml" Id="Rcb21c098a22b4ba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75ff1156a546d2" /><Relationship Type="http://schemas.openxmlformats.org/officeDocument/2006/relationships/image" Target="/ppt/media/image19.png" Id="Rf031157491d541a8" /><Relationship Type="http://schemas.openxmlformats.org/officeDocument/2006/relationships/image" Target="/ppt/media/image20.png" Id="R792e2514e1a84125" /><Relationship Type="http://schemas.openxmlformats.org/officeDocument/2006/relationships/notesSlide" Target="/ppt/notesSlides/notesSlide10.xml" Id="R2467afd39ec64b8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107962cbd44430" /><Relationship Type="http://schemas.openxmlformats.org/officeDocument/2006/relationships/image" Target="/ppt/media/image21.png" Id="Rc0236a5f320d4f62" /><Relationship Type="http://schemas.openxmlformats.org/officeDocument/2006/relationships/image" Target="/ppt/media/image22.png" Id="Re50aa4ae3ca04e65" /><Relationship Type="http://schemas.openxmlformats.org/officeDocument/2006/relationships/notesSlide" Target="/ppt/notesSlides/notesSlide11.xml" Id="R6c57e1f82a63485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2a1dedd2f647af" /><Relationship Type="http://schemas.openxmlformats.org/officeDocument/2006/relationships/image" Target="/ppt/media/image23.png" Id="Rac73ced502ef4c99" /><Relationship Type="http://schemas.openxmlformats.org/officeDocument/2006/relationships/image" Target="/ppt/media/image24.png" Id="Rb7d2847b2a5e4d7d" /><Relationship Type="http://schemas.openxmlformats.org/officeDocument/2006/relationships/notesSlide" Target="/ppt/notesSlides/notesSlide12.xml" Id="Rf3542f8b48394de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86822fd3514a2d" /><Relationship Type="http://schemas.openxmlformats.org/officeDocument/2006/relationships/image" Target="/ppt/media/image25.png" Id="Rdc9059294b1b4cc4" /><Relationship Type="http://schemas.openxmlformats.org/officeDocument/2006/relationships/image" Target="/ppt/media/image26.png" Id="Redb2c6777f144fc8" /><Relationship Type="http://schemas.openxmlformats.org/officeDocument/2006/relationships/notesSlide" Target="/ppt/notesSlides/notesSlide13.xml" Id="Rb7f61fe38c7b4ef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4bb360b34b4abb" /><Relationship Type="http://schemas.openxmlformats.org/officeDocument/2006/relationships/image" Target="/ppt/media/image27.png" Id="Rf3ba72b53ff64993" /><Relationship Type="http://schemas.openxmlformats.org/officeDocument/2006/relationships/image" Target="/ppt/media/image28.png" Id="Rb3f6bc7e96fc4961" /><Relationship Type="http://schemas.openxmlformats.org/officeDocument/2006/relationships/notesSlide" Target="/ppt/notesSlides/notesSlide14.xml" Id="Re6cfbcb1fc7f4c6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7f8428dda1408e" /><Relationship Type="http://schemas.openxmlformats.org/officeDocument/2006/relationships/image" Target="/ppt/media/image29.png" Id="R675da620de7c4416" /><Relationship Type="http://schemas.openxmlformats.org/officeDocument/2006/relationships/image" Target="/ppt/media/image30.png" Id="R4b8f081be8fe48ff" /><Relationship Type="http://schemas.openxmlformats.org/officeDocument/2006/relationships/notesSlide" Target="/ppt/notesSlides/notesSlide15.xml" Id="R3b690497ceea4fe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a711a108ef42ed" /><Relationship Type="http://schemas.openxmlformats.org/officeDocument/2006/relationships/image" Target="/ppt/media/image31.png" Id="R7ae5b7e07ee442bb" /><Relationship Type="http://schemas.openxmlformats.org/officeDocument/2006/relationships/image" Target="/ppt/media/image32.png" Id="Rdc75837165954760" /><Relationship Type="http://schemas.openxmlformats.org/officeDocument/2006/relationships/notesSlide" Target="/ppt/notesSlides/notesSlide16.xml" Id="Rb5b41b34fee346a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17c4aa292c4563" /><Relationship Type="http://schemas.openxmlformats.org/officeDocument/2006/relationships/image" Target="/ppt/media/image33.png" Id="R2ec0be42f4f642e0" /><Relationship Type="http://schemas.openxmlformats.org/officeDocument/2006/relationships/image" Target="/ppt/media/image34.png" Id="R9d3e5107b7ab4485" /><Relationship Type="http://schemas.openxmlformats.org/officeDocument/2006/relationships/notesSlide" Target="/ppt/notesSlides/notesSlide17.xml" Id="R6422fdd16626401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a331baa93f45a6" /><Relationship Type="http://schemas.openxmlformats.org/officeDocument/2006/relationships/image" Target="/ppt/media/image35.png" Id="Rf80096a681414ff2" /><Relationship Type="http://schemas.openxmlformats.org/officeDocument/2006/relationships/image" Target="/ppt/media/image36.png" Id="Ra3adee1f8dca4c8f" /><Relationship Type="http://schemas.openxmlformats.org/officeDocument/2006/relationships/notesSlide" Target="/ppt/notesSlides/notesSlide18.xml" Id="Rcb5459a0aa0548a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391bb3c41e4f11" /><Relationship Type="http://schemas.openxmlformats.org/officeDocument/2006/relationships/image" Target="/ppt/media/image37.png" Id="Rc93acffaad47406e" /><Relationship Type="http://schemas.openxmlformats.org/officeDocument/2006/relationships/image" Target="/ppt/media/image38.png" Id="Rec23e8b54b4e4f6a" /><Relationship Type="http://schemas.openxmlformats.org/officeDocument/2006/relationships/notesSlide" Target="/ppt/notesSlides/notesSlide19.xml" Id="R95bb9e6a9b73441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ECDDD8-B433-4AEB-8115-EA061357667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f79febde194681"/>
          <a:srcRect xmlns:a="http://schemas.openxmlformats.org/drawingml/2006/main" l="28940" t="0" r="2894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63000" y="0"/>
            <a:ext cx="3429000" cy="6858000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134520-4D44-48C5-A566-58F18F177E0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8117b6d87f4476"/>
          <a:stretch xmlns:a="http://schemas.openxmlformats.org/drawingml/2006/main"/>
        </p:blipFill>
        <p:spPr>
          <a:xfrm xmlns:a="http://schemas.openxmlformats.org/drawingml/2006/main">
            <a:off x="610120" y="457200"/>
            <a:ext cx="6275934" cy="10287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6ADE5D-0107-4A87-8ED0-EBC470F5E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790700"/>
            <a:ext cx="723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57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ELEC 335  |  Fall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7D2601-348D-44E2-A197-E1AA19F75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238375"/>
            <a:ext cx="7781925" cy="2228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27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427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427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ROM, PLA and PAL implementation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891D34-8D8A-4C98-B91D-E41672A03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591050"/>
            <a:ext cx="723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Week 12 · Lecture 1</a:t>
            </a:r>
          </a:p>
          <a:p xmlns:a="http://schemas.openxmlformats.org/drawingml/2006/main">
            <a:pPr algn="l">
              <a:defRPr sz="1800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Chapters 5 and 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71654B-D468-44C8-859C-BBD72DAC7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29300"/>
            <a:ext cx="8763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DDA95B-B298-416C-8E01-CF158CC34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00750"/>
            <a:ext cx="4238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Digital Logic Design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4781E2-631D-4D5E-A0E9-08E05F551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6019800"/>
            <a:ext cx="357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Textbook: Ch. 5 §5.6, pp. 276 onward; Ch. 8 §8.3, pp. 506–511</a:t>
            </a:r>
          </a:p>
        </p:txBody>
      </p:sp>
    </p:spTree>
    <p:extLst>
      <p:ext uri="{BB962C8B-B14F-4D97-AF65-F5344CB8AC3E}">
        <p14:creationId xmlns:p14="http://schemas.microsoft.com/office/powerpoint/2010/main" val="5596723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B70617-2326-47C1-BF25-99FB016EA4B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fcd28e82b441cd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590778-08BD-4F6A-BC80-592A90496F5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19731f6df4439d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9F4170-DCA7-481B-84AA-3FCD48E14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L21 · READING 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1DD44C-58EA-448E-9427-B610264CA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Where this lecture sits in the course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09CA2E-181D-4E28-8538-36582BF9B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CB8827-E727-455A-8018-3380782BB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9008B4-978B-4DE5-8B6D-4AACBEE4A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5 §5.6, pp. 276 onward; Ch. 8 §8.3, pp. 506–511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1D8712-9A71-433E-9E03-C63003986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L21  |  Week 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0410E0-EF2D-43E5-9B7F-8C5988E18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19479A-002B-4E36-BA01-759A3C234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D56D04-DC6C-4FE7-91A6-F44A4FEA2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10477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3F1ED"/>
          </a:solidFill>
          <a:ln xmlns:a="http://schemas.openxmlformats.org/drawingml/2006/main" w="19050">
            <a:solidFill>
              <a:srgbClr val="E5AB5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D9F53A-EB47-4D90-A161-17EE9387A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000250"/>
            <a:ext cx="457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06DCEA-9044-4160-8A27-DB7DA932D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952625"/>
            <a:ext cx="904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Textbook: Ch. 5 §5.6, pp. 276 onward; Ch. 8 §8.3, pp. 506–511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6E3173-2284-4C18-B308-14CDABC43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9900"/>
            <a:ext cx="10477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C9C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2BFC3E-93EB-4E89-A754-77B8D68E8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200400"/>
            <a:ext cx="457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608B28-6E9E-4645-B125-15367668B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152775"/>
            <a:ext cx="904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00263E"/>
                </a:solidFill>
                <a:latin typeface="Tahoma"/>
                <a:ea typeface="Tahoma"/>
                <a:cs typeface="Tahoma"/>
              </a:rPr>
              <a:t>Interactive companion: Lesson 07, ROM, PLA and PAL implementation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328F4A-EA47-426E-BFB0-F5E7DB582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10050"/>
            <a:ext cx="10477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C9C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DE48A4-672D-40C6-A834-BA8DE3711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4400550"/>
            <a:ext cx="457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30ED2C-BCA0-412D-9A88-EEFC7BFEC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352925"/>
            <a:ext cx="904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00263E"/>
                </a:solidFill>
                <a:latin typeface="Tahoma"/>
                <a:ea typeface="Tahoma"/>
                <a:cs typeface="Tahoma"/>
              </a:rPr>
              <a:t>After class: worked examples and practice in the HTML lesson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5B4AC3-BF01-4DF0-AA3A-5F7461043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57825"/>
            <a:ext cx="981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Preparation: read the named section, then use the worked slides to check each design step.</a:t>
            </a:r>
          </a:p>
        </p:txBody>
      </p:sp>
    </p:spTree>
    <p:extLst>
      <p:ext uri="{BB962C8B-B14F-4D97-AF65-F5344CB8AC3E}">
        <p14:creationId xmlns:p14="http://schemas.microsoft.com/office/powerpoint/2010/main" val="109483031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C1F34A-4C8C-4FB7-89BD-0679CBE1ACC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3b5d218c3c4c8b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2F2CD6-390A-4F09-90CD-211B518C31A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a2083c2ccd406c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E57697-240C-425E-8BD2-6852709D6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L21 · LEARNING OUTCOMES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C12607-ED75-488E-A477-A90478D72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Today's destination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AF276D-CCBE-4513-AC49-49FCE7F68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BC1F6C-80F7-41C9-A720-AEDA843B5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F59C4F-C7E2-4D17-9F95-68D313787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5 §5.6, pp. 276 onward; Ch. 8 §8.3, pp. 506–511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0D19A9-A5B0-4A5F-B575-CF1654F73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L21  |  Week 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34BA75-445C-42D0-8DBA-1F912D4A8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FAD921-D75D-4680-8C04-718B10DB1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E08047-2249-4B8E-9D6B-A3DB976EA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14300" cy="3438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1471C0-E2D0-46F9-B81B-633DBB5C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952625"/>
            <a:ext cx="619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6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262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B970FF-6CE0-40DF-9F96-2E7162FB6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1914525"/>
            <a:ext cx="89535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Map inputs to ROM addresses and output words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7D1FA8-B32B-437E-94FF-9CDF5B353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095625"/>
            <a:ext cx="619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6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262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45EE4E-D53E-40B7-B559-E923A69B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3057525"/>
            <a:ext cx="89535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Build shared product terms in a PLA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CF82A8-E362-43EB-B977-5E055A589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238625"/>
            <a:ext cx="619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6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262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A3EFCC-7308-4210-9C76-B49E0603C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4200525"/>
            <a:ext cx="89535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Explain fixed OR allocation in a PAL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241766-6999-488A-8842-E9A9C70BE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5553075"/>
            <a:ext cx="876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484342"/>
                </a:solidFill>
                <a:latin typeface="Tahoma"/>
                <a:ea typeface="Tahoma"/>
                <a:cs typeface="Tahoma"/>
              </a:rPr>
              <a:t>Course outcome: ROM, PLA and PAL circuit design</a:t>
            </a:r>
          </a:p>
        </p:txBody>
      </p:sp>
    </p:spTree>
    <p:extLst>
      <p:ext uri="{BB962C8B-B14F-4D97-AF65-F5344CB8AC3E}">
        <p14:creationId xmlns:p14="http://schemas.microsoft.com/office/powerpoint/2010/main" val="19397102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B04F8E-40FD-48F3-8D9A-9D8D50A790C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a5225523054beb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4A0E7D-354B-4A0F-A61C-EC4A51950EC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9a42c1db5c4a4d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FCDDDB-0D3E-417D-884F-04CB75B9D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L21 · BIG PICTURE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9B7A82-CFFF-44FF-B46E-BF2A6B471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The question that organizes today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A7693F-C634-407E-AC72-1409ABE0F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05C5D9-04FB-431D-8E29-6F862B757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51CF18-605A-493B-9D84-58C01B8B8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5 §5.6, pp. 276 onward; Ch. 8 §8.3, pp. 506–511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A8A956-253D-4A31-81AB-39E8FDD25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L21  |  Week 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1F9457-C608-4F96-9568-9B7CC7721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414C41-7288-45E6-AF54-D6AAA33A3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E6A665-B50F-47B0-B384-F38343088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1021080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0026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FFF499-C138-4EE7-910E-EAD0B051C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2162175"/>
            <a:ext cx="8763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30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30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How can one truth table be realized with three programmable structures?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122CEB-29D0-470A-9507-D1049CEEF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705350"/>
            <a:ext cx="8763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Keep this question in view as the circuit models and examples develop.</a:t>
            </a:r>
          </a:p>
        </p:txBody>
      </p:sp>
    </p:spTree>
    <p:extLst>
      <p:ext uri="{BB962C8B-B14F-4D97-AF65-F5344CB8AC3E}">
        <p14:creationId xmlns:p14="http://schemas.microsoft.com/office/powerpoint/2010/main" val="118605437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B52AD6-95B2-41F7-8A6C-8F0F8DD6504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c82dae6a934597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EB7AE9-B0DE-4D7C-A13A-FD71F3E4944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72df65884e452a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14E0DD-94EE-49F6-B437-A68765DAE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L21 · PREREQUISITE BRIDGE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8BD2FC-E8FA-4E52-BFC4-BAB075941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Start from what you already know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F3503B-059A-4D11-BA14-4A21F3C3E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2C0D6D-A63D-4A62-BD7D-3B3449BC2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F53F07-2B7B-4B98-AB34-F8CB2451E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5 §5.6, pp. 276 onward; Ch. 8 §8.3, pp. 506–511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DA20BA-03F2-4680-9016-2E6AB0BA2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L21  |  Week 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FBAD84-6038-4A32-8706-95C0CA674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3A73ED-317C-4B73-87F4-3C7FB659B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DAA833-26CE-40C3-B409-B8484B14C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38325"/>
            <a:ext cx="5238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055D1B-D3B6-4855-AFD5-F5316354F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1847850"/>
            <a:ext cx="3905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4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24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4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98DE64-A97D-4003-AE42-1E5641288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1771650"/>
            <a:ext cx="9144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A truth table assigns output values to input combinations.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447BF8-B4C0-4537-A21F-F2E397844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5238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1FF230-C304-4AB3-9A7B-8C8AB526C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019425"/>
            <a:ext cx="3905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4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24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4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6F7EE7-FE1B-4280-877B-2EE01F188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2943225"/>
            <a:ext cx="9144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A decoder selects one minterm from an address.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584C06-4B18-41D1-AF99-6D35D3437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81475"/>
            <a:ext cx="5238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0026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447A78-4993-493F-8F4F-B886FFE3E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191000"/>
            <a:ext cx="3905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4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24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4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59270D-C7F9-41F7-BBF8-93DDAC852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4114800"/>
            <a:ext cx="9144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Product terms can be shared across multiple output functions.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AB2235-B615-46F9-978D-F1F65F9E6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476875"/>
            <a:ext cx="809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15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Turn to a partner: explain one statement without reading it aloud.</a:t>
            </a:r>
          </a:p>
        </p:txBody>
      </p:sp>
    </p:spTree>
    <p:extLst>
      <p:ext uri="{BB962C8B-B14F-4D97-AF65-F5344CB8AC3E}">
        <p14:creationId xmlns:p14="http://schemas.microsoft.com/office/powerpoint/2010/main" val="196215309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6A17AF-E8CB-4CD5-9BBF-22F7F8C28F1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15ab232a7d49e1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BC69B2-E8BD-471F-A957-23A135AABCC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b11ca79bf8436e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6B35A6-A14F-4593-B62D-101BB04B4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L21 · VOCABULARY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F0FBB5-63D8-48CF-AC63-B64B99F1D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Four words to make precise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0FA315-4258-4A5A-806E-403062827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5120C7-5E59-4CBA-B3E5-4BBFD5D28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4DD24C-816E-402C-96E8-4B1AACF65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5 §5.6, pp. 276 onward; Ch. 8 §8.3, pp. 506–511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1AC1A2-1CB4-4BF8-BF07-E130F5FA4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L21  |  Week 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708D32-6058-412F-98C8-90D8144BC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EAC4A0-06C2-4AB5-9996-AEBF51047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3132A6-6DA6-4999-B2B8-61431E033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51435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3F1ED"/>
          </a:solidFill>
          <a:ln xmlns:a="http://schemas.openxmlformats.org/drawingml/2006/main" w="19050">
            <a:solidFill>
              <a:srgbClr val="D3202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FD6F8F-80B2-4502-91DE-47F5EDBBF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4310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ROM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CD5D7D-29D1-4B94-91ED-B408EFCCD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47925"/>
            <a:ext cx="457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addressed store of complete output words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AF1A11-9F2E-4E4B-BB19-9F0CB2AB4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52600"/>
            <a:ext cx="51435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3F1ED"/>
          </a:solidFill>
          <a:ln xmlns:a="http://schemas.openxmlformats.org/drawingml/2006/main" w="19050">
            <a:solidFill>
              <a:srgbClr val="00263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3CB476-46D4-4C7F-8C1D-923F1E6A7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94310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PLA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730D3C-51DF-4438-8D0B-4264DDF94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447925"/>
            <a:ext cx="457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programmable AND and OR connections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1620F4-ECF8-4CD0-A0CF-BEB5CDE61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76650"/>
            <a:ext cx="51435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3202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0B95D8-57FF-4A8E-8F3D-FFF227FEC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6715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PAL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B153F2-F46A-4209-AE53-119DF8A05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71975"/>
            <a:ext cx="457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programmable AND plane with fixed OR allocation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E437A5-9A09-41D4-986C-212E5EF53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676650"/>
            <a:ext cx="51435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263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E14C62-F9BA-4744-9647-724CFE87A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86715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product term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4613E3-8AC7-43F2-8A8E-FE20805F5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371975"/>
            <a:ext cx="457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AND of literals used in a sum-of-products form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EB6DC4-E276-443B-A6AB-145E86998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5591175"/>
            <a:ext cx="914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Use each term when explaining the circuit, table, or timing trace.</a:t>
            </a:r>
          </a:p>
        </p:txBody>
      </p:sp>
    </p:spTree>
    <p:extLst>
      <p:ext uri="{BB962C8B-B14F-4D97-AF65-F5344CB8AC3E}">
        <p14:creationId xmlns:p14="http://schemas.microsoft.com/office/powerpoint/2010/main" val="14182130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2D8891-D854-4C27-A1AE-4D48D859237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cc27c0fef74dd3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13559A-8DA0-4147-BF33-D5225D5D587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b12c2baadd47d6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B3DF70-4560-4E77-BD7F-1E3049925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L21 · PLAIN-LANGUAGE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2A45F2-C253-49FD-AE2C-9EAE84B16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The reasoning sequence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48CE14-7085-4954-A5F9-14CCA98E7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C41BD2-E0CA-45FD-9582-2101B5A26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B2EBB9-7CD8-44B1-88FD-60F81468D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5 §5.6, pp. 276 onward; Ch. 8 §8.3, pp. 506–511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E8EDAB-9DAD-4CA3-8859-63DD3B180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L21  |  Week 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2D0871-4BF5-4A4D-B20C-F20893182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CA3EB9-0A95-4035-A8B4-CDD3A0D14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DE71E4-3797-4967-B06A-FCD8CE6E3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09750"/>
            <a:ext cx="76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2E7E0D-B27A-4587-9D4D-667BDE113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762125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List every address and required output word.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1C2265-53A8-4D9D-B7BE-EC5122D46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67025"/>
            <a:ext cx="76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1B311A-4144-4B91-BC22-4FB3AD88E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8194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Identify shared product terms for a PLA.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66A551-C15E-4AB1-8231-1F232F1EC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24300"/>
            <a:ext cx="76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7C7C2F-77C3-4FA5-A5AC-334A3DB01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876675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Check the available OR allocation for a PAL.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AACD5E-25CC-444B-882B-9E683764A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5038725"/>
            <a:ext cx="9782175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0026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57C4D7-97FF-4036-AA90-F68AD46C2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53025"/>
            <a:ext cx="89249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6921"/>
          </a:bodyPr>
          <a:lstStyle xmlns:a="http://schemas.openxmlformats.org/drawingml/2006/main">
            <a:defPPr algn="ctr">
              <a:defRPr sz="19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How can one truth table be realized with three programmable structures?</a:t>
            </a:r>
          </a:p>
        </p:txBody>
      </p:sp>
    </p:spTree>
    <p:extLst>
      <p:ext uri="{BB962C8B-B14F-4D97-AF65-F5344CB8AC3E}">
        <p14:creationId xmlns:p14="http://schemas.microsoft.com/office/powerpoint/2010/main" val="106607552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28A1D1-3799-437F-9B13-51E12008E85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6fe36e80b244c2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B945AE-492C-4D15-8D50-285D7C4EAB9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5ad002a45a4454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06E24E-CEA4-4C8E-9849-A9699876B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L21 · REFERENCE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E39169-FB5B-43EB-87DA-3C359304D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The table to keep beside the method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565B72-91C8-4163-9B2A-3C055B138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D7468A-DC1E-4AAC-8351-BD91EA637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CDE733-EACD-448C-B574-E9F2E8B69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5 §5.6, pp. 276 onward; Ch. 8 §8.3, pp. 506–511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1E8801-922F-47C9-AB6E-6E9F611AA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L21  |  Week 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135CAF-AF6F-4349-87FD-5052AC89E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4E8BE9-41F4-460F-B0F7-DE3E0692E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07254E-FA24-416D-A86A-337A2B469983}"/>
              </a:ext>
            </a:extLst>
          </p:cNvPr>
          <p:cNvGraphicFramePr/>
          <p:nvPr/>
        </p:nvGraphicFramePr>
        <p:xfrm>
          <a:off xmlns:a="http://schemas.openxmlformats.org/drawingml/2006/main" x="771525" y="1790700"/>
          <a:ext xmlns:a="http://schemas.openxmlformats.org/drawingml/2006/main" cx="10591800" cy="2714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30600"/>
                <a:gridCol w="3530600"/>
                <a:gridCol w="3530600"/>
              </a:tblGrid>
              <a:tr h="542925"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A B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333333"/>
                      </a:solidFill>
                      <a:prstDash val="solid"/>
                    </a:lnL>
                    <a:lnR w="9525">
                      <a:solidFill>
                        <a:srgbClr val="333333"/>
                      </a:solidFill>
                      <a:prstDash val="solid"/>
                    </a:lnR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00263E"/>
                    </a:solidFill>
                  </a:tcPr>
                </a:tc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ROM word F G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00263E"/>
                    </a:solidFill>
                  </a:tcPr>
                </a:tc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Active product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00263E"/>
                    </a:solidFill>
                  </a:tcPr>
                </a:tc>
              </a:tr>
              <a:tr h="542925"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0 0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333333"/>
                      </a:solidFill>
                      <a:prstDash val="solid"/>
                    </a:lnL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0 0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none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0 1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333333"/>
                      </a:solidFill>
                      <a:prstDash val="solid"/>
                    </a:lnL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3F1ED"/>
                    </a:solidFill>
                  </a:tcPr>
                </a:tc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1 0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3F1ED"/>
                    </a:solidFill>
                  </a:tcPr>
                </a:tc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A′B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3F1ED"/>
                    </a:solidFill>
                  </a:tcPr>
                </a:tc>
              </a:tr>
              <a:tr h="542925"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1 0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333333"/>
                      </a:solidFill>
                      <a:prstDash val="solid"/>
                    </a:lnL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1 0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AB′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1 1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333333"/>
                      </a:solidFill>
                      <a:prstDash val="solid"/>
                    </a:lnL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3F1ED"/>
                    </a:solidFill>
                  </a:tcPr>
                </a:tc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0 1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3F1ED"/>
                    </a:solidFill>
                  </a:tcPr>
                </a:tc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AB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3F1ED"/>
                    </a:solidFill>
                  </a:tcPr>
                </a:tc>
              </a:tr>
            </a:tbl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5A10F1-0717-47AB-9195-56A088CD7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410200"/>
            <a:ext cx="8801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15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Name the bit order and control conditions before using a row.</a:t>
            </a:r>
          </a:p>
        </p:txBody>
      </p:sp>
    </p:spTree>
    <p:extLst>
      <p:ext uri="{BB962C8B-B14F-4D97-AF65-F5344CB8AC3E}">
        <p14:creationId xmlns:p14="http://schemas.microsoft.com/office/powerpoint/2010/main" val="60906525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B2DF06-421F-44EE-8696-97D2F14002A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d97ef70a6a4d29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9B4716-F7EF-4CE7-9F54-5CF1B48C29D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1e7e6fb41a4a38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A934A9-96BF-4CF2-951E-DFDF3F54E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L21 · METHOD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5C807A-1D73-4CD2-8147-78B79C424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A reliable procedure for exercises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370F47-37B4-402A-AC80-57BECC0C4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03E15D-47F9-4913-8CB0-D7502CC9B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321B55-06BE-4431-A828-C2B4EBB8C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5 §5.6, pp. 276 onward; Ch. 8 §8.3, pp. 506–511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494EF5-394B-4B21-B82D-B80315A3E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L21  |  Week 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E9E3D5-2330-475C-BD38-610565E19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DF25EE-23D5-4CF1-BFE9-5A27B8F64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23B024-06BD-4817-B559-DC17ECDA8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885950"/>
            <a:ext cx="6096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2B7B76-FF38-415E-8FA9-60BDE52B5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1962150"/>
            <a:ext cx="428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F0C653-52FB-4E78-A4A6-256363163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857375"/>
            <a:ext cx="93154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Write the full input/output truth table with a fixed address order.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BAF7B6-42EF-4906-BD9D-A65BAEBB5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952750"/>
            <a:ext cx="6096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38B152-8E72-45D3-B5FA-7E8CA9D59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028950"/>
            <a:ext cx="428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80A6C0-295E-478A-BCB4-F1BF8F2D0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24175"/>
            <a:ext cx="93154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For ROM, copy output words into addresses; for PLA, minimize and list product terms.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3A2413-6ACD-4F9C-BA68-F98D27650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019550"/>
            <a:ext cx="6096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026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E7EA63-6BE3-40F1-B652-3419534DF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095750"/>
            <a:ext cx="428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C600C9-1182-49EA-BA4A-CD7818F7E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90975"/>
            <a:ext cx="93154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For PAL, allocate product terms to each fixed output OR and check device limits.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036A3A-76E1-48DE-8824-7F0351C27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38750"/>
            <a:ext cx="895350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3F1ED"/>
          </a:solidFill>
          <a:ln xmlns:a="http://schemas.openxmlformats.org/drawingml/2006/main" w="19050">
            <a:solidFill>
              <a:srgbClr val="E5AB5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AE26A0-6BE5-4077-B292-C76B73995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314950"/>
            <a:ext cx="847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Complete the table or trace, then verify the circuit one row at a time.</a:t>
            </a:r>
          </a:p>
        </p:txBody>
      </p:sp>
    </p:spTree>
    <p:extLst>
      <p:ext uri="{BB962C8B-B14F-4D97-AF65-F5344CB8AC3E}">
        <p14:creationId xmlns:p14="http://schemas.microsoft.com/office/powerpoint/2010/main" val="111456069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3F0867-544D-4D13-9A05-694BEAEF137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31157491d541a8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C24C6E-C7CA-4140-80C8-778ACD1FC81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2e2514e1a84125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DFD61A-8E9E-4B3B-9EBA-5262F5341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L21 · WORKED EXAMPLE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4E07FF-E04A-46FA-8AF8-6A52ED3F6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Implement XOR and AND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4EFBE6-7394-481B-834C-2946BA984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CAE460-3C75-4AEC-AC63-448DECE64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30B8EB-B479-459F-8B4B-17D051DA9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5 §5.6, pp. 276 onward; Ch. 8 §8.3, pp. 506–511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3CC463-F9AE-4126-AC4C-DD5E589A1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L21  |  Week 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1731EE-8BC6-415C-B29C-667ECC4AC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9C2B93-8D29-4A49-8FCA-02F0E49DC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4D6CA0-C1BB-4F53-9CB2-7E5984F78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76400"/>
            <a:ext cx="10753725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19050">
            <a:solidFill>
              <a:srgbClr val="E5AB5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D954CA-4962-4D57-9066-AF9BB1910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81175"/>
            <a:ext cx="1021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Let F=A⊕B and G=AB. Realize both functions by ROM and PLA.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61A98F-B720-486C-AFE6-188ED0371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781300"/>
            <a:ext cx="447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DCC121-F0DB-4A4F-971D-1798EBDF7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2762250"/>
            <a:ext cx="9525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List output words at addresses 00,01,10,11: 00,10,10,01.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850964-3A76-4DE2-B88E-D72A5DF0E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305175"/>
            <a:ext cx="447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A35092-3BDA-4060-820D-923E4754C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3286125"/>
            <a:ext cx="9525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A 4×2 ROM stores those four words.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AEEF89-1E8C-4351-94BB-665324009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829050"/>
            <a:ext cx="447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85F010-EC33-48B1-B4C7-B0A70AA32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3810000"/>
            <a:ext cx="9525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Form PLA terms P₁=A′B, P₂=AB′ and P₃=AB.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F7A567-4B1F-4D99-8881-12F68DCB4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352925"/>
            <a:ext cx="447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82F7A1-ED3D-4568-9435-C11A70943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4333875"/>
            <a:ext cx="9525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Connect F=P₁+P₂ and G=P₃.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97B1ED-975C-4D75-A4D8-548AB14CC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29200"/>
            <a:ext cx="1219200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FC7B6A-418D-4FC3-A19F-A6A065BC5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14925"/>
            <a:ext cx="10191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The ROM stores 8 output bits. The PLA uses three product terms for this direct SOP realization.</a:t>
            </a:r>
          </a:p>
        </p:txBody>
      </p:sp>
    </p:spTree>
    <p:extLst>
      <p:ext uri="{BB962C8B-B14F-4D97-AF65-F5344CB8AC3E}">
        <p14:creationId xmlns:p14="http://schemas.microsoft.com/office/powerpoint/2010/main" val="181111375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13A37A-87C2-4658-8754-618F97D7EB2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236a5f320d4f62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994517-892C-4B43-A652-B8E07FED453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0aa4ae3ca04e65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7AA4B1-F3FF-4A33-BDCF-B033C1CA3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L21 · CONCEPT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0EF492-2BB7-499E-8F93-ADB6A9C9D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Two designs to distinguish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99D98B-3BFA-4481-A1FE-05208BAFA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DAB764-B967-44DE-9494-DD7ABCF90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1956D5-D16B-42BE-B6DB-101780E15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5 §5.6, pp. 276 onward; Ch. 8 §8.3, pp. 506–511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BFA90F-3544-497F-A27F-1D94D28BD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L21  |  Week 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69784D-292E-4C5B-8CE6-07CD0D685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11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B0968D-A6BC-40CB-B63C-0C446DD65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5E5F61-2FB6-4336-A00D-3C0672ACE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847850"/>
            <a:ext cx="19050" cy="2943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9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192097-BE7B-4FF9-A50B-6A0349B9F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81175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ROM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510517-55AF-4509-B921-D98169342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43175"/>
            <a:ext cx="4857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Stores one word for every input address.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0B85DC-B874-46FB-BDFF-208CD13AC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33775"/>
            <a:ext cx="48577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Direct table implementation.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2EBAF4-CC4F-4965-A14F-BB44D6D49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781175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PLA / PAL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E49B64-AD50-4EDC-B18A-4262EF8F4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543175"/>
            <a:ext cx="4857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Implements selected product terms.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F5166B-E778-4312-9F66-86D48A762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533775"/>
            <a:ext cx="48577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Economical when expressions are sparse or shared.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7342CE-2FE2-4C0F-9A92-1F481F859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62525"/>
            <a:ext cx="10572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DD3BD3-08E9-4DFE-828B-4284BEC02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153025"/>
            <a:ext cx="962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Explain the difference using behavior and timing, then test one case.</a:t>
            </a:r>
          </a:p>
        </p:txBody>
      </p:sp>
    </p:spTree>
    <p:extLst>
      <p:ext uri="{BB962C8B-B14F-4D97-AF65-F5344CB8AC3E}">
        <p14:creationId xmlns:p14="http://schemas.microsoft.com/office/powerpoint/2010/main" val="117591369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1BF138-678D-4F93-88A4-34F39D1867F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73ced502ef4c99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EE8C98-4019-4C42-9C98-4C4095287B6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d2847b2a5e4d7d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AB5ABF-946B-4CD6-8470-BAD9C87B6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L21 · INTERACTIVE COMPANION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23184F-4DDA-41AE-A594-0E7920AF2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One function, three architectures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5A42C2-1F13-486D-A0F9-BA9A26AB2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F0A20C-FCFE-4952-95B3-EB2F61ADE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81A904-23CD-4239-9CC7-D4563E1EF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5 §5.6, pp. 276 onward; Ch. 8 §8.3, pp. 506–511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368FD2-48E2-4244-875A-730C4F130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L21  |  Week 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AE712F-1585-4B4D-83A9-AC07161D4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12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B4BC23-7D8C-43A6-9133-0EE14B2BA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C1AF2A-6009-481B-8223-42ACFC8D6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819400"/>
            <a:ext cx="1704975" cy="828675"/>
          </a:xfrm>
          <a:prstGeom xmlns:a="http://schemas.openxmlformats.org/drawingml/2006/main" prst="roundRect">
            <a:avLst>
              <a:gd name="adj" fmla="val 9195"/>
            </a:avLst>
          </a:prstGeom>
          <a:solidFill xmlns:a="http://schemas.openxmlformats.org/drawingml/2006/main">
            <a:srgbClr val="F3F1ED"/>
          </a:solidFill>
          <a:ln xmlns:a="http://schemas.openxmlformats.org/drawingml/2006/main" w="19050">
            <a:solidFill>
              <a:srgbClr val="00263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C31709-55AD-4133-B9F3-037FFB2CA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2895600"/>
            <a:ext cx="14954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A, 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9BA95A-5B87-47E8-BEBE-0472FD877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914650"/>
            <a:ext cx="6000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315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315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D95752-A381-44BF-8342-35A6A8213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19400"/>
            <a:ext cx="2190750" cy="828675"/>
          </a:xfrm>
          <a:prstGeom xmlns:a="http://schemas.openxmlformats.org/drawingml/2006/main" prst="roundRect">
            <a:avLst>
              <a:gd name="adj" fmla="val 9195"/>
            </a:avLst>
          </a:prstGeom>
          <a:solidFill xmlns:a="http://schemas.openxmlformats.org/drawingml/2006/main">
            <a:srgbClr val="F3F1ED"/>
          </a:solidFill>
          <a:ln xmlns:a="http://schemas.openxmlformats.org/drawingml/2006/main" w="19050">
            <a:solidFill>
              <a:srgbClr val="00263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67B2E9-D1AD-461E-9204-1139EFA9A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895600"/>
            <a:ext cx="19812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ROM 4 × 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B73D04-9392-4D49-9BF5-F2890AABF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14650"/>
            <a:ext cx="6000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315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315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FB6BD9-A15C-4471-B6CE-1171F2561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819400"/>
            <a:ext cx="1704975" cy="828675"/>
          </a:xfrm>
          <a:prstGeom xmlns:a="http://schemas.openxmlformats.org/drawingml/2006/main" prst="roundRect">
            <a:avLst>
              <a:gd name="adj" fmla="val 9195"/>
            </a:avLst>
          </a:prstGeom>
          <a:solidFill xmlns:a="http://schemas.openxmlformats.org/drawingml/2006/main">
            <a:srgbClr val="F3F1ED"/>
          </a:solidFill>
          <a:ln xmlns:a="http://schemas.openxmlformats.org/drawingml/2006/main" w="19050">
            <a:solidFill>
              <a:srgbClr val="00263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1EAD5D-0718-422B-8B20-CFE9F16BF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895600"/>
            <a:ext cx="14954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F, 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BEDB09-C8C3-47DB-9610-D8C92F824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71950"/>
            <a:ext cx="86963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Compare the ROM table with PLA and PAL product terms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9CD03A-F15C-41AA-BD59-AAC8984F0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52975"/>
            <a:ext cx="9810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Select A and B. The highlighted address, product term and outputs update together.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64138D-CD4B-46B6-9DD7-F84C08DD8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514975"/>
            <a:ext cx="9334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Open lesson-07.html for the animated model and state-by-state controls.</a:t>
            </a:r>
          </a:p>
        </p:txBody>
      </p:sp>
    </p:spTree>
    <p:extLst>
      <p:ext uri="{BB962C8B-B14F-4D97-AF65-F5344CB8AC3E}">
        <p14:creationId xmlns:p14="http://schemas.microsoft.com/office/powerpoint/2010/main" val="7399176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9D93B6-64C2-4A72-B750-F931AE63D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305050" cy="666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F786C3-5B1B-401A-9E64-CC4398DAB5D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9059294b1b4cc4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A37925-7882-4F85-B45B-5ABB92C48DD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b2c6777f144fc8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39952C-C035-4E9D-A377-5B175706C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790575"/>
            <a:ext cx="1571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ACTIVITY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190379-C4DD-4611-9C76-A33F4B64F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04975"/>
            <a:ext cx="123825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5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L21</a:t>
            </a:r>
          </a:p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TEAM</a:t>
            </a:r>
          </a:p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2DDF65-0460-4857-8C83-C785A2427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781050"/>
            <a:ext cx="78771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60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600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Apply the method together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C741D4-A3CE-447A-8CEC-09FB87246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990725"/>
            <a:ext cx="8286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Given two functions of A and B, write a four-address ROM table and identify product terms that could be shared in a PLA.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78E954-8B19-40AF-A684-F64A6CF24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362325"/>
            <a:ext cx="79914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Write the full input/output truth table with a fixed address order.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46C99A-3F4C-4DFC-B917-94BED7FAF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181600"/>
            <a:ext cx="798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9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92C290-BA56-4B2A-B4BF-6017C1466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5391150"/>
            <a:ext cx="1590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DELIVERABLE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474D22-31CD-49F2-A8D5-2A9BC9E9E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267325"/>
            <a:ext cx="62007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A four-row ROM map and a labelled sum-of-products implementation.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060DBC-C16B-41B3-93AF-77BD71450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6115050"/>
            <a:ext cx="98869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34300F-D9C7-4372-ACCB-06AEA0EA1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6143625"/>
            <a:ext cx="8620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5 §5.6, pp. 276 onward; Ch. 8 §8.3, pp. 506–511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D6F696-7615-48B5-AEAF-64519270A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0"/>
            <a:ext cx="1476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0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L21  |  Week 12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31C75E-ECEF-4679-99D3-7464D9F98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6429375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Digital Logic Design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5A68E8-A850-419E-B447-524FB5C4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13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AAA6F3-8EC8-47A3-BFD9-7BF11B23C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2865694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B6201D-442B-4BEB-B8B2-786C94908FD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ba72b53ff64993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8DDFC9-CDEF-434B-87AC-461455CAC87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f6bc7e96fc4961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72750B-FDA9-4E33-B93E-046301CC7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L21 · GUIDED EXAMPLE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0DCC25-8E6F-4592-A9E7-DFE741FB8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Try the first move before 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237B87-82CA-4DBA-9517-828650B36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525BFF-611A-4FAF-B195-829D056D7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14AAC8-9848-44D4-A1C8-F2D5A5D39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5 §5.6, pp. 276 onward; Ch. 8 §8.3, pp. 506–511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FE660B-EE80-4C60-94EC-5623BAB2A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L21  |  Week 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C46A41-8864-4246-8E42-C316D786F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14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F32DF0-4DD9-46D5-B44B-4C1745CC2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477FEA-F255-4633-BAD9-A7B7B580C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90700"/>
            <a:ext cx="10477500" cy="1628775"/>
          </a:xfrm>
          <a:prstGeom xmlns:a="http://schemas.openxmlformats.org/drawingml/2006/main" prst="roundRect">
            <a:avLst>
              <a:gd name="adj" fmla="val 4678"/>
            </a:avLst>
          </a:prstGeom>
          <a:solidFill xmlns:a="http://schemas.openxmlformats.org/drawingml/2006/main">
            <a:srgbClr val="F3F1ED"/>
          </a:solidFill>
          <a:ln xmlns:a="http://schemas.openxmlformats.org/drawingml/2006/main" w="19050">
            <a:solidFill>
              <a:srgbClr val="E5AB5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EA4BD2-CC36-40D4-9589-39E64D708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2057400"/>
            <a:ext cx="9144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3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23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A PAL gives each output two fixed OR inputs. Can the same XOR/AND pair fit?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B9883F-2A7C-4889-8832-12E051A93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3971925"/>
            <a:ext cx="40671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57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YOUR FIRST MOVE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4DF92D-077B-4A23-8E6E-52B1BB071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4305300"/>
            <a:ext cx="88582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E252B"/>
                </a:solidFill>
                <a:latin typeface="Tahoma"/>
                <a:ea typeface="Tahoma"/>
                <a:cs typeface="Tahoma"/>
              </a:rPr>
              <a:t>F needs two product terms, A′B and AB′.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2125FA-A26C-45FB-B749-5F0407E4D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5429250"/>
            <a:ext cx="881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Pause for 60–90 seconds. Write, then compare with a partner.</a:t>
            </a:r>
          </a:p>
        </p:txBody>
      </p:sp>
    </p:spTree>
    <p:extLst>
      <p:ext uri="{BB962C8B-B14F-4D97-AF65-F5344CB8AC3E}">
        <p14:creationId xmlns:p14="http://schemas.microsoft.com/office/powerpoint/2010/main" val="13379985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7DFF3B-55DD-4937-8A49-21CA245AED8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5da620de7c4416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CE76B3-B919-436D-8208-829FA5C873E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8f081be8fe48ff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86260F-CAE1-4C66-8AAD-93080A36C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L21 · GUIDED SOLUTION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B5F8D2-7E8D-4B98-ADD7-406BC2CCB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Now make every step visible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C232F8-9834-4C37-8D20-DDCA52038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42263F-445A-43E5-9741-7CF315182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6FB7AE-1084-4A2E-BAE1-F146EF68B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5 §5.6, pp. 276 onward; Ch. 8 §8.3, pp. 506–511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59AEA8-C205-42F2-9285-1B875AE86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L21  |  Week 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9E8202-F1DE-4C07-8B9E-A6A874B85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15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0ABF59-81D5-4AD2-99C3-AAACF69C1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3705F4-FB1E-4A48-A564-6FFC8FEC8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24025"/>
            <a:ext cx="5238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2ECA0E-BDEB-4C19-8FE0-2CEE1313A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1752600"/>
            <a:ext cx="3714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4B28C2-A564-4D1F-8EB8-51D73276D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1676400"/>
            <a:ext cx="9163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F needs two product terms, A′B and AB′.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1C097C-9E81-4B70-8A5B-4306DBF84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05075"/>
            <a:ext cx="5238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2D302F-10AF-43B4-BF6F-1C4FAE2C7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533650"/>
            <a:ext cx="3714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F6616D-8133-462E-843C-76D3DDF9A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2457450"/>
            <a:ext cx="9163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G needs one product term, AB.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7395F5-7735-4014-BCBF-C9C13F832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86125"/>
            <a:ext cx="5238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0026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5464D2-6F1E-40F7-BE81-7BD1042BB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314700"/>
            <a:ext cx="3714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367215-5A16-47F2-889B-337DB02C1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3238500"/>
            <a:ext cx="9163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Allocate two AND terms to F and one to G.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1D33C6-F111-4D65-9289-FE8ADC486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67175"/>
            <a:ext cx="5238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0026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07AF22-4EE6-4DB1-B9BC-7D098FB9A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095750"/>
            <a:ext cx="3714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2DAC3E-3F28-42CD-B3ED-853F1E3B0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4019550"/>
            <a:ext cx="9163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Check the actual PAL for available true/complement input literals and output polarity.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DA7000-69D9-449E-96F1-A54D1E8A4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010150"/>
            <a:ext cx="9934575" cy="866775"/>
          </a:xfrm>
          <a:prstGeom xmlns:a="http://schemas.openxmlformats.org/drawingml/2006/main" prst="roundRect">
            <a:avLst>
              <a:gd name="adj" fmla="val 8791"/>
            </a:avLst>
          </a:prstGeom>
          <a:solidFill xmlns:a="http://schemas.openxmlformats.org/drawingml/2006/main">
            <a:srgbClr val="0026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974DDD-103F-4551-93D0-01613D9CB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172075"/>
            <a:ext cx="9001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958"/>
          </a:bodyPr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It fits this stated two-terms-per-output model; a real device must be checked against its data sheet.</a:t>
            </a:r>
          </a:p>
        </p:txBody>
      </p:sp>
    </p:spTree>
    <p:extLst>
      <p:ext uri="{BB962C8B-B14F-4D97-AF65-F5344CB8AC3E}">
        <p14:creationId xmlns:p14="http://schemas.microsoft.com/office/powerpoint/2010/main" val="12722986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899A9B-4AEB-4215-A490-8ED86E570FF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e5b7e07ee442bb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EF9F8D-A90C-4B2B-9248-6E2C31F0B82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75837165954760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8B324B-70BF-404A-8CD6-36CCAFF04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L21 · MISCONCEPTION CLINIC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BBCA18-2A31-4D63-9A5D-5D15AA810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A tempting mistake to remove now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C6D133-A3FF-4824-A59A-7AD2AF63E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40C7C3-9547-4709-B55B-1CC971204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A20EFC-84D2-46FA-9D03-60555A279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5 §5.6, pp. 276 onward; Ch. 8 §8.3, pp. 506–511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CAA51D-92D1-4EB2-A95D-64895C60E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L21  |  Week 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B62F8C-51E3-469F-BBE4-864E3BE11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16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EBBD75-C9BC-43FB-BF1A-09CCF3436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EE0ADF-EAB0-4F4D-9918-15D945C7A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52600"/>
            <a:ext cx="104394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3202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0E6C97-F675-4304-9AE9-EBD23E9E3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1914525"/>
            <a:ext cx="20383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TEMPTING CLAIM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0E8821-31A9-4CBC-A113-87D61AC7F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1876425"/>
            <a:ext cx="7677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ROM, PLA and PAL all store a complete truth table in the same way.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07D20B-933B-4B77-A54C-1F0B8AAD9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09900"/>
            <a:ext cx="104394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3F1ED"/>
          </a:solidFill>
          <a:ln xmlns:a="http://schemas.openxmlformats.org/drawingml/2006/main" w="19050">
            <a:solidFill>
              <a:srgbClr val="E5AB5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F19FA8-3745-43FE-8DFD-60468D846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171825"/>
            <a:ext cx="20383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E5AB5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E5AB52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E5AB52"/>
                </a:solidFill>
                <a:latin typeface="Tahoma"/>
                <a:ea typeface="Tahoma"/>
                <a:cs typeface="Tahoma"/>
              </a:rPr>
              <a:t>WHY IT FAILS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B48FFA-4371-4B06-B040-28BBB6D0F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133725"/>
            <a:ext cx="7677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A ROM stores addressable words, while a PLA or PAL implements product terms.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B02E72-407E-42FB-9C29-1BAA9E453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67200"/>
            <a:ext cx="104394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263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FE6285-9878-45DE-A87D-163E64124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429125"/>
            <a:ext cx="20383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REPAIR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46C27F-0446-4916-A709-16A9A3535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4391025"/>
            <a:ext cx="7677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1E252B"/>
                </a:solidFill>
                <a:latin typeface="Tahoma"/>
                <a:ea typeface="Tahoma"/>
                <a:cs typeface="Tahoma"/>
              </a:rPr>
              <a:t>Compare the address map with the chosen product-term connections.</a:t>
            </a:r>
          </a:p>
        </p:txBody>
      </p:sp>
    </p:spTree>
    <p:extLst>
      <p:ext uri="{BB962C8B-B14F-4D97-AF65-F5344CB8AC3E}">
        <p14:creationId xmlns:p14="http://schemas.microsoft.com/office/powerpoint/2010/main" val="214745087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E67CA1-1CCB-4555-B75C-06015EB6714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c0be42f4f642e0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E31AB1-9C44-429B-9C14-A71B88628A1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3e5107b7ab4485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EBAE39-81EC-4579-A036-82ECA25CD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L21 · ONE-MINUTE CHECKS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74A6D5-EE93-4646-A104-04D3B79D2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Close the book: can you apply it?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934F31-1520-4BCA-B472-0CC22C630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F1EC94-B21B-43A4-99D7-5CAF05D78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AEEC48-F59A-4C3E-BEA4-54D7129D4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5 §5.6, pp. 276 onward; Ch. 8 §8.3, pp. 506–511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46D3C1-805C-45D6-90C0-E471A553B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L21  |  Week 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F80C5E-4C1F-4276-B4B1-FDA1F8841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17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319D02-9B39-4B8F-92BA-142BFA2AA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B1EB7C-2FB3-4C19-98F0-07E850B81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076450"/>
            <a:ext cx="6572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Q1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3F190A-406A-4FD1-8CAB-EF8FBBF50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000250"/>
            <a:ext cx="92964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For two input bits and three output bits, what is the minimum ROM organization?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F4CF1A-8D9F-423A-A227-D1087BA8E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829050"/>
            <a:ext cx="6572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Q2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519034-2D5D-4DA5-A977-B2B7EBBA4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752850"/>
            <a:ext cx="92964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Let H=A+B. Which input rows store H=1?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29D39B-3ADD-4AFB-8FC4-005C8B431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5486400"/>
            <a:ext cx="847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Answer without notes, then compare your reasoning with the next slide.</a:t>
            </a:r>
          </a:p>
        </p:txBody>
      </p:sp>
    </p:spTree>
    <p:extLst>
      <p:ext uri="{BB962C8B-B14F-4D97-AF65-F5344CB8AC3E}">
        <p14:creationId xmlns:p14="http://schemas.microsoft.com/office/powerpoint/2010/main" val="34051119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74BE79-6709-48CF-A23E-D272023E4A4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0096a681414ff2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8AC3D8-9BB6-45D0-B4C7-7B85C9F5C89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adee1f8dca4c8f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546C5C-7390-4C45-9851-844442500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L21 · PRACTICE SOLUTIONS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6717E3-57E6-4522-88F5-8A9B5ECBB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Check the rule behind each answer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AA5AD1-55E0-4E99-B673-578024119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1E2310-2C22-49B6-A913-780C464E1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FC2685-A2F0-45EF-8F94-7E3FCF812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5 §5.6, pp. 276 onward; Ch. 8 §8.3, pp. 506–511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2238A0-C0C6-4011-8D8A-D479FD884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L21  |  Week 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50FE7F-B7D3-4990-87EE-A8E63C181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18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299AFF-F7DE-42AD-BD96-C83B2F2BA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2E9642-398B-494A-A09B-DC7C0F11F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66900"/>
            <a:ext cx="1043940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3F1ED"/>
          </a:solidFill>
          <a:ln xmlns:a="http://schemas.openxmlformats.org/drawingml/2006/main" w="19050">
            <a:solidFill>
              <a:srgbClr val="E5AB5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200ACD-F7F6-4F0F-8860-59E574F29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2047875"/>
            <a:ext cx="70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Q1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8A2AA6-4E90-464B-BC52-EDC06DBD0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057400"/>
            <a:ext cx="8858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4×3, meaning four addresses and three output bits per word.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7E93E0-EAF7-4398-98E8-28B47F055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76650"/>
            <a:ext cx="1043940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C9C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D63764-4D87-4CBE-A0F0-8C29518A5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3857625"/>
            <a:ext cx="70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Q2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F5BFB6-81D8-43F6-A82A-5AB20DE97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867150"/>
            <a:ext cx="8858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Addresses 01, 10 and 11.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8BF4C9-FA35-4DD7-B988-E31400879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5553075"/>
            <a:ext cx="86963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Return to the reference table if your answer used a different rule.</a:t>
            </a:r>
          </a:p>
        </p:txBody>
      </p:sp>
    </p:spTree>
    <p:extLst>
      <p:ext uri="{BB962C8B-B14F-4D97-AF65-F5344CB8AC3E}">
        <p14:creationId xmlns:p14="http://schemas.microsoft.com/office/powerpoint/2010/main" val="95608387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C651EA-7FE0-46AB-92E2-B46236D2AAA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3acffaad47406e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BF18AA-E6F3-4009-B254-BDB7C90C816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23e8b54b4e4f6a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05B176-5CDB-4ED4-B6B2-DDA00894E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L21 · CLOSE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48CC20-5890-48A1-9769-5F48A3C5F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What should stay with you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4829F8-16A3-41F4-8415-0E3C98E15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092421-4FA0-4C80-BF07-84F9CF0EB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6810E1-805C-413B-B245-F66FC7C1F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5 §5.6, pp. 276 onward; Ch. 8 §8.3, pp. 506–511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0EDC63-06D4-464C-9D64-11D76C1DE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L21  |  Week 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38FC19-9D93-4FEA-B64C-63C71F898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19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07888C-329D-4F27-92B5-72561532E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6B2F44-C883-4F5A-9BCC-21A4DDD5B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28800"/>
            <a:ext cx="104775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B65A67-E419-4703-A5F8-B98390A85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858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1E252B"/>
                </a:solidFill>
                <a:latin typeface="Tahoma"/>
                <a:ea typeface="Tahoma"/>
                <a:cs typeface="Tahoma"/>
              </a:rPr>
              <a:t>Map inputs to ROM addresses and output words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1504AC-9E3E-4C78-9278-38CFC4317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19400"/>
            <a:ext cx="104775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180873-677F-4B78-8188-FE022E37D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743200"/>
            <a:ext cx="9858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Build shared product terms in a PLA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CB500F-64B0-4A1D-88A2-335DA754B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10000"/>
            <a:ext cx="104775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725D23-5C95-4685-A1B8-F9394C90C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33800"/>
            <a:ext cx="9858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Explain fixed OR allocation in a PAL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A1825D-1A81-4EEC-9A52-F6483509D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972050"/>
            <a:ext cx="9725025" cy="981075"/>
          </a:xfrm>
          <a:prstGeom xmlns:a="http://schemas.openxmlformats.org/drawingml/2006/main" prst="roundRect">
            <a:avLst>
              <a:gd name="adj" fmla="val 7767"/>
            </a:avLst>
          </a:prstGeom>
          <a:solidFill xmlns:a="http://schemas.openxmlformats.org/drawingml/2006/main">
            <a:srgbClr val="F3F1ED"/>
          </a:solidFill>
          <a:ln xmlns:a="http://schemas.openxmlformats.org/drawingml/2006/main" w="19050">
            <a:solidFill>
              <a:srgbClr val="E5AB5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043B70-E6AB-482F-9236-44A017A26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181600"/>
            <a:ext cx="9620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NEXT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2313FE-27FC-480F-BAE5-532759143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095875"/>
            <a:ext cx="78581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Next: State reduction by implication. Use lesson-08.html to preview its model.</a:t>
            </a:r>
          </a:p>
        </p:txBody>
      </p:sp>
    </p:spTree>
    <p:extLst>
      <p:ext uri="{BB962C8B-B14F-4D97-AF65-F5344CB8AC3E}">
        <p14:creationId xmlns:p14="http://schemas.microsoft.com/office/powerpoint/2010/main" val="11607467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2026-10-13T11:24:47.3390000Z</dcterms:created>
  <dcterms:modified xsi:type="dcterms:W3CDTF">2026-10-13T11:24:47.3390000Z</dcterms:modified>
</coreProperties>
</file>