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be534502534b8c" /><Relationship Type="http://schemas.openxmlformats.org/officeDocument/2006/relationships/extended-properties" Target="/docProps/app.xml" Id="R5b29c4b19b9b4368" /><Relationship Type="http://schemas.openxmlformats.org/officeDocument/2006/relationships/officeDocument" Target="/ppt/presentation.xml" Id="Rd63b410e362b4d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a72f1ee96a419e"/>
  </p:sldMasterIdLst>
  <p:notesMasterIdLst>
    <p:notesMasterId xmlns:r="http://schemas.openxmlformats.org/officeDocument/2006/relationships" r:id="Rfe7ea5f8f85240b3"/>
  </p:notesMasterIdLst>
  <p:sldIdLst>
    <p:sldId xmlns:r="http://schemas.openxmlformats.org/officeDocument/2006/relationships" id="256" r:id="R1c3696eb525b49ff"/>
    <p:sldId xmlns:r="http://schemas.openxmlformats.org/officeDocument/2006/relationships" id="257" r:id="R9d42dce066654ce5"/>
    <p:sldId xmlns:r="http://schemas.openxmlformats.org/officeDocument/2006/relationships" id="258" r:id="R3d343b5ec06f4aa7"/>
    <p:sldId xmlns:r="http://schemas.openxmlformats.org/officeDocument/2006/relationships" id="259" r:id="Rff07186e6d724086"/>
    <p:sldId xmlns:r="http://schemas.openxmlformats.org/officeDocument/2006/relationships" id="260" r:id="R4536006fe6514b73"/>
    <p:sldId xmlns:r="http://schemas.openxmlformats.org/officeDocument/2006/relationships" id="261" r:id="R8e8e5208d27d432e"/>
    <p:sldId xmlns:r="http://schemas.openxmlformats.org/officeDocument/2006/relationships" id="262" r:id="Rf7a180d3b6cc45b6"/>
    <p:sldId xmlns:r="http://schemas.openxmlformats.org/officeDocument/2006/relationships" id="263" r:id="R20e485f5bb4e40c4"/>
    <p:sldId xmlns:r="http://schemas.openxmlformats.org/officeDocument/2006/relationships" id="264" r:id="R924673e64542458a"/>
    <p:sldId xmlns:r="http://schemas.openxmlformats.org/officeDocument/2006/relationships" id="265" r:id="Rf96ce577ec2c4d97"/>
    <p:sldId xmlns:r="http://schemas.openxmlformats.org/officeDocument/2006/relationships" id="266" r:id="R29649c1a49e643bb"/>
    <p:sldId xmlns:r="http://schemas.openxmlformats.org/officeDocument/2006/relationships" id="267" r:id="Rd3e87c8dd55e4050"/>
    <p:sldId xmlns:r="http://schemas.openxmlformats.org/officeDocument/2006/relationships" id="268" r:id="R24782670481c4257"/>
    <p:sldId xmlns:r="http://schemas.openxmlformats.org/officeDocument/2006/relationships" id="269" r:id="R1891faa1087e4eb8"/>
    <p:sldId xmlns:r="http://schemas.openxmlformats.org/officeDocument/2006/relationships" id="270" r:id="R9e04313040474973"/>
    <p:sldId xmlns:r="http://schemas.openxmlformats.org/officeDocument/2006/relationships" id="271" r:id="Rb51a4b9ce70b4628"/>
    <p:sldId xmlns:r="http://schemas.openxmlformats.org/officeDocument/2006/relationships" id="272" r:id="Rb1bc78a754054091"/>
    <p:sldId xmlns:r="http://schemas.openxmlformats.org/officeDocument/2006/relationships" id="273" r:id="R489f11124f4b48c2"/>
    <p:sldId xmlns:r="http://schemas.openxmlformats.org/officeDocument/2006/relationships" id="274" r:id="R06cde55a4a6146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974620d8934a8e" /><Relationship Type="http://schemas.openxmlformats.org/officeDocument/2006/relationships/slideMaster" Target="/ppt/slideMasters/slideMaster1.xml" Id="R2fa72f1ee96a419e" /><Relationship Type="http://schemas.openxmlformats.org/officeDocument/2006/relationships/notesMaster" Target="/ppt/notesMasters/notesMaster1.xml" Id="Rfe7ea5f8f85240b3" /><Relationship Type="http://schemas.openxmlformats.org/officeDocument/2006/relationships/presProps" Target="/ppt/presProps.xml" Id="R7b35975dbb9c499a" /><Relationship Type="http://schemas.openxmlformats.org/officeDocument/2006/relationships/tableStyles" Target="/ppt/tableStyles.xml" Id="R582b686159db4509" /><Relationship Type="http://schemas.openxmlformats.org/officeDocument/2006/relationships/slide" Target="/ppt/slides/slide1.xml" Id="R1c3696eb525b49ff" /><Relationship Type="http://schemas.openxmlformats.org/officeDocument/2006/relationships/slide" Target="/ppt/slides/slide2.xml" Id="R9d42dce066654ce5" /><Relationship Type="http://schemas.openxmlformats.org/officeDocument/2006/relationships/slide" Target="/ppt/slides/slide3.xml" Id="R3d343b5ec06f4aa7" /><Relationship Type="http://schemas.openxmlformats.org/officeDocument/2006/relationships/slide" Target="/ppt/slides/slide4.xml" Id="Rff07186e6d724086" /><Relationship Type="http://schemas.openxmlformats.org/officeDocument/2006/relationships/slide" Target="/ppt/slides/slide5.xml" Id="R4536006fe6514b73" /><Relationship Type="http://schemas.openxmlformats.org/officeDocument/2006/relationships/slide" Target="/ppt/slides/slide6.xml" Id="R8e8e5208d27d432e" /><Relationship Type="http://schemas.openxmlformats.org/officeDocument/2006/relationships/slide" Target="/ppt/slides/slide7.xml" Id="Rf7a180d3b6cc45b6" /><Relationship Type="http://schemas.openxmlformats.org/officeDocument/2006/relationships/slide" Target="/ppt/slides/slide8.xml" Id="R20e485f5bb4e40c4" /><Relationship Type="http://schemas.openxmlformats.org/officeDocument/2006/relationships/slide" Target="/ppt/slides/slide9.xml" Id="R924673e64542458a" /><Relationship Type="http://schemas.openxmlformats.org/officeDocument/2006/relationships/slide" Target="/ppt/slides/slide10.xml" Id="Rf96ce577ec2c4d97" /><Relationship Type="http://schemas.openxmlformats.org/officeDocument/2006/relationships/slide" Target="/ppt/slides/slide11.xml" Id="R29649c1a49e643bb" /><Relationship Type="http://schemas.openxmlformats.org/officeDocument/2006/relationships/slide" Target="/ppt/slides/slide12.xml" Id="Rd3e87c8dd55e4050" /><Relationship Type="http://schemas.openxmlformats.org/officeDocument/2006/relationships/slide" Target="/ppt/slides/slide13.xml" Id="R24782670481c4257" /><Relationship Type="http://schemas.openxmlformats.org/officeDocument/2006/relationships/slide" Target="/ppt/slides/slide14.xml" Id="R1891faa1087e4eb8" /><Relationship Type="http://schemas.openxmlformats.org/officeDocument/2006/relationships/slide" Target="/ppt/slides/slide15.xml" Id="R9e04313040474973" /><Relationship Type="http://schemas.openxmlformats.org/officeDocument/2006/relationships/slide" Target="/ppt/slides/slide16.xml" Id="Rb51a4b9ce70b4628" /><Relationship Type="http://schemas.openxmlformats.org/officeDocument/2006/relationships/slide" Target="/ppt/slides/slide17.xml" Id="Rb1bc78a754054091" /><Relationship Type="http://schemas.openxmlformats.org/officeDocument/2006/relationships/slide" Target="/ppt/slides/slide18.xml" Id="R489f11124f4b48c2" /><Relationship Type="http://schemas.openxmlformats.org/officeDocument/2006/relationships/slide" Target="/ppt/slides/slide19.xml" Id="R06cde55a4a6146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439932dc3440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6f868b8ade4d59" /><Relationship Type="http://schemas.openxmlformats.org/officeDocument/2006/relationships/notesMaster" Target="/ppt/notesMasters/notesMaster1.xml" Id="R3e72435e17a441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8ab0983a684da3" /><Relationship Type="http://schemas.openxmlformats.org/officeDocument/2006/relationships/notesMaster" Target="/ppt/notesMasters/notesMaster1.xml" Id="Rc92e2d9f9df542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93373ca8324445" /><Relationship Type="http://schemas.openxmlformats.org/officeDocument/2006/relationships/notesMaster" Target="/ppt/notesMasters/notesMaster1.xml" Id="Rf88d5e5ad3a146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89461679074c1d" /><Relationship Type="http://schemas.openxmlformats.org/officeDocument/2006/relationships/notesMaster" Target="/ppt/notesMasters/notesMaster1.xml" Id="R09b445d0d95e4d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dac2af05fc4357" /><Relationship Type="http://schemas.openxmlformats.org/officeDocument/2006/relationships/notesMaster" Target="/ppt/notesMasters/notesMaster1.xml" Id="R9af987f605314a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ffc6796a2a49de" /><Relationship Type="http://schemas.openxmlformats.org/officeDocument/2006/relationships/notesMaster" Target="/ppt/notesMasters/notesMaster1.xml" Id="R2ceda96d51154f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47e50200314cf3" /><Relationship Type="http://schemas.openxmlformats.org/officeDocument/2006/relationships/notesMaster" Target="/ppt/notesMasters/notesMaster1.xml" Id="R68d7157895e740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31ffa4760040fd" /><Relationship Type="http://schemas.openxmlformats.org/officeDocument/2006/relationships/notesMaster" Target="/ppt/notesMasters/notesMaster1.xml" Id="Ra724ed75a6a241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223b9a231040ae" /><Relationship Type="http://schemas.openxmlformats.org/officeDocument/2006/relationships/notesMaster" Target="/ppt/notesMasters/notesMaster1.xml" Id="R9480f06a8cf84a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0fe49eb8874165" /><Relationship Type="http://schemas.openxmlformats.org/officeDocument/2006/relationships/notesMaster" Target="/ppt/notesMasters/notesMaster1.xml" Id="Ra9791749ea4040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e657e67c07415b" /><Relationship Type="http://schemas.openxmlformats.org/officeDocument/2006/relationships/notesMaster" Target="/ppt/notesMasters/notesMaster1.xml" Id="R4fb2a75f22834a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b27a2940844bab" /><Relationship Type="http://schemas.openxmlformats.org/officeDocument/2006/relationships/notesMaster" Target="/ppt/notesMasters/notesMaster1.xml" Id="Rfa148e0a037045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a79c8939ad4f51" /><Relationship Type="http://schemas.openxmlformats.org/officeDocument/2006/relationships/notesMaster" Target="/ppt/notesMasters/notesMaster1.xml" Id="R7e758e8e749545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d227c1fbc44cd1" /><Relationship Type="http://schemas.openxmlformats.org/officeDocument/2006/relationships/notesMaster" Target="/ppt/notesMasters/notesMaster1.xml" Id="R998b33afdbda4b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83ad23043d4ede" /><Relationship Type="http://schemas.openxmlformats.org/officeDocument/2006/relationships/notesMaster" Target="/ppt/notesMasters/notesMaster1.xml" Id="R750a5318f56345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50408656b84810" /><Relationship Type="http://schemas.openxmlformats.org/officeDocument/2006/relationships/notesMaster" Target="/ppt/notesMasters/notesMaster1.xml" Id="R63fabd6c6ab7458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be5cf8c08240c7" /><Relationship Type="http://schemas.openxmlformats.org/officeDocument/2006/relationships/notesMaster" Target="/ppt/notesMasters/notesMaster1.xml" Id="R64914552f5de4c7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c7f3f306ee04c04" /><Relationship Type="http://schemas.openxmlformats.org/officeDocument/2006/relationships/notesMaster" Target="/ppt/notesMasters/notesMaster1.xml" Id="Reca8839d04e2474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7ecf0541e1548b4" /><Relationship Type="http://schemas.openxmlformats.org/officeDocument/2006/relationships/notesMaster" Target="/ppt/notesMasters/notesMaster1.xml" Id="Rb7ab4e83109845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20 | Week 11</a:t>
            </a:r>
          </a:p>
          <a:p xmlns:a="http://schemas.openxmlformats.org/drawingml/2006/main">
            <a:r>
              <a:t>Opening</a:t>
            </a:r>
          </a:p>
          <a:p xmlns:a="http://schemas.openxmlformats.org/drawingml/2006/main">
            <a:r>
              <a:t>Reading: Alan B. Marcovitz, Introduction to Logic Design, 3rd ed., Ch. 7 §7.4, pp. 450–465; Ch. 8 §§8.4–8.6, pp. 511–518.</a:t>
            </a:r>
          </a:p>
          <a:p xmlns:a="http://schemas.openxmlformats.org/drawingml/2006/main">
            <a:r>
              <a:t>Companion animation: lesson-06.html</a:t>
            </a:r>
          </a:p>
          <a:p xmlns:a="http://schemas.openxmlformats.org/drawingml/2006/main">
            <a:r>
              <a:t>Opening question: What history must a detector remember to report an overlapping pattern?</a:t>
            </a:r>
          </a:p>
          <a:p xmlns:a="http://schemas.openxmlformats.org/drawingml/2006/main">
            <a:r>
              <a:t>Outcomes: Derive states from useful input suffixes | Design an overlapping 101 detector | Interpret an ASM block and compare binary with one-hot encoding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20 | Week 11</a:t>
            </a:r>
          </a:p>
          <a:p xmlns:a="http://schemas.openxmlformats.org/drawingml/2006/main">
            <a:r>
              <a:t>Reading map</a:t>
            </a:r>
          </a:p>
          <a:p xmlns:a="http://schemas.openxmlformats.org/drawingml/2006/main">
            <a:r>
              <a:t>Reading: Alan B. Marcovitz, Introduction to Logic Design, 3rd ed., Ch. 7 §7.4, pp. 450–465; Ch. 8 §§8.4–8.6, pp. 511–518.</a:t>
            </a:r>
          </a:p>
          <a:p xmlns:a="http://schemas.openxmlformats.org/drawingml/2006/main">
            <a:r>
              <a:t>Companion animation: lesson-06.html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20 | Week 11</a:t>
            </a:r>
          </a:p>
          <a:p xmlns:a="http://schemas.openxmlformats.org/drawingml/2006/main">
            <a:r>
              <a:t>Learning outcomes</a:t>
            </a:r>
          </a:p>
          <a:p xmlns:a="http://schemas.openxmlformats.org/drawingml/2006/main">
            <a:r>
              <a:t>Reading: Alan B. Marcovitz, Introduction to Logic Design, 3rd ed., Ch. 7 §7.4, pp. 450–465; Ch. 8 §§8.4–8.6, pp. 511–518.</a:t>
            </a:r>
          </a:p>
          <a:p xmlns:a="http://schemas.openxmlformats.org/drawingml/2006/main">
            <a:r>
              <a:t>Companion animation: lesson-06.html</a:t>
            </a:r>
          </a:p>
          <a:p xmlns:a="http://schemas.openxmlformats.org/drawingml/2006/main">
            <a:r>
              <a:t>Derive states from useful input suffixes</a:t>
            </a:r>
          </a:p>
          <a:p xmlns:a="http://schemas.openxmlformats.org/drawingml/2006/main">
            <a:r>
              <a:t>Design an overlapping 101 detector</a:t>
            </a:r>
          </a:p>
          <a:p xmlns:a="http://schemas.openxmlformats.org/drawingml/2006/main">
            <a:r>
              <a:t>Interpret an ASM block and compare binary with one-hot encoding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20 | Week 11</a:t>
            </a:r>
          </a:p>
          <a:p xmlns:a="http://schemas.openxmlformats.org/drawingml/2006/main">
            <a:r>
              <a:t>Guiding question</a:t>
            </a:r>
          </a:p>
          <a:p xmlns:a="http://schemas.openxmlformats.org/drawingml/2006/main">
            <a:r>
              <a:t>Reading: Alan B. Marcovitz, Introduction to Logic Design, 3rd ed., Ch. 7 §7.4, pp. 450–465; Ch. 8 §§8.4–8.6, pp. 511–518.</a:t>
            </a:r>
          </a:p>
          <a:p xmlns:a="http://schemas.openxmlformats.org/drawingml/2006/main">
            <a:r>
              <a:t>Companion animation: lesson-06.html</a:t>
            </a:r>
          </a:p>
          <a:p xmlns:a="http://schemas.openxmlformats.org/drawingml/2006/main">
            <a:r>
              <a:t>Ask students for an initial answer: What history must a detector remember to report an overlapping pattern?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20 | Week 11</a:t>
            </a:r>
          </a:p>
          <a:p xmlns:a="http://schemas.openxmlformats.org/drawingml/2006/main">
            <a:r>
              <a:t>Prerequisite bridge</a:t>
            </a:r>
          </a:p>
          <a:p xmlns:a="http://schemas.openxmlformats.org/drawingml/2006/main">
            <a:r>
              <a:t>Reading: Alan B. Marcovitz, Introduction to Logic Design, 3rd ed., Ch. 7 §7.4, pp. 450–465; Ch. 8 §§8.4–8.6, pp. 511–518.</a:t>
            </a:r>
          </a:p>
          <a:p xmlns:a="http://schemas.openxmlformats.org/drawingml/2006/main">
            <a:r>
              <a:t>Companion animation: lesson-06.html</a:t>
            </a:r>
          </a:p>
          <a:p xmlns:a="http://schemas.openxmlformats.org/drawingml/2006/main">
            <a:r>
              <a:t>A state represents the history needed for future behavior.</a:t>
            </a:r>
          </a:p>
          <a:p xmlns:a="http://schemas.openxmlformats.org/drawingml/2006/main">
            <a:r>
              <a:t>A Mealy output may be attached to an input-labelled transition.</a:t>
            </a:r>
          </a:p>
          <a:p xmlns:a="http://schemas.openxmlformats.org/drawingml/2006/main">
            <a:r>
              <a:t>Binary codes are assigned after state meanings are settled.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20 | Week 11</a:t>
            </a:r>
          </a:p>
          <a:p xmlns:a="http://schemas.openxmlformats.org/drawingml/2006/main">
            <a:r>
              <a:t>Vocabulary</a:t>
            </a:r>
          </a:p>
          <a:p xmlns:a="http://schemas.openxmlformats.org/drawingml/2006/main">
            <a:r>
              <a:t>Reading: Alan B. Marcovitz, Introduction to Logic Design, 3rd ed., Ch. 7 §7.4, pp. 450–465; Ch. 8 §§8.4–8.6, pp. 511–518.</a:t>
            </a:r>
          </a:p>
          <a:p xmlns:a="http://schemas.openxmlformats.org/drawingml/2006/main">
            <a:r>
              <a:t>Companion animation: lesson-06.html</a:t>
            </a:r>
          </a:p>
          <a:p xmlns:a="http://schemas.openxmlformats.org/drawingml/2006/main">
            <a:r>
              <a:t>useful suffix: recent input ending that could begin a target pattern</a:t>
            </a:r>
          </a:p>
          <a:p xmlns:a="http://schemas.openxmlformats.org/drawingml/2006/main">
            <a:r>
              <a:t>overlap: one detection shares bits with the next</a:t>
            </a:r>
          </a:p>
          <a:p xmlns:a="http://schemas.openxmlformats.org/drawingml/2006/main">
            <a:r>
              <a:t>ASM block: chart element for state actions or decisions</a:t>
            </a:r>
          </a:p>
          <a:p xmlns:a="http://schemas.openxmlformats.org/drawingml/2006/main">
            <a:r>
              <a:t>one-hot encoding: one state bit asserted per valid 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20 | Week 11</a:t>
            </a:r>
          </a:p>
          <a:p xmlns:a="http://schemas.openxmlformats.org/drawingml/2006/main">
            <a:r>
              <a:t>Plain-language model</a:t>
            </a:r>
          </a:p>
          <a:p xmlns:a="http://schemas.openxmlformats.org/drawingml/2006/main">
            <a:r>
              <a:t>Reading: Alan B. Marcovitz, Introduction to Logic Design, 3rd ed., Ch. 7 §7.4, pp. 450–465; Ch. 8 §§8.4–8.6, pp. 511–518.</a:t>
            </a:r>
          </a:p>
          <a:p xmlns:a="http://schemas.openxmlformats.org/drawingml/2006/main">
            <a:r>
              <a:t>Companion animation: lesson-06.html</a:t>
            </a:r>
          </a:p>
          <a:p xmlns:a="http://schemas.openxmlformats.org/drawingml/2006/main">
            <a:r>
              <a:t>Name each useful suffix as a state.</a:t>
            </a:r>
          </a:p>
          <a:p xmlns:a="http://schemas.openxmlformats.org/drawingml/2006/main">
            <a:r>
              <a:t>Append each input and keep the longest useful suffix.</a:t>
            </a:r>
          </a:p>
          <a:p xmlns:a="http://schemas.openxmlformats.org/drawingml/2006/main">
            <a:r>
              <a:t>Place detection on the completing transition and choose codes.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20 | Week 11</a:t>
            </a:r>
          </a:p>
          <a:p xmlns:a="http://schemas.openxmlformats.org/drawingml/2006/main">
            <a:r>
              <a:t>Reference table</a:t>
            </a:r>
          </a:p>
          <a:p xmlns:a="http://schemas.openxmlformats.org/drawingml/2006/main">
            <a:r>
              <a:t>Reading: Alan B. Marcovitz, Introduction to Logic Design, 3rd ed., Ch. 7 §7.4, pp. 450–465; Ch. 8 §§8.4–8.6, pp. 511–518.</a:t>
            </a:r>
          </a:p>
          <a:p xmlns:a="http://schemas.openxmlformats.org/drawingml/2006/main">
            <a:r>
              <a:t>Companion animation: lesson-06.html</a:t>
            </a:r>
          </a:p>
          <a:p xmlns:a="http://schemas.openxmlformats.org/drawingml/2006/main">
            <a:r>
              <a:t>Read all columns in the bit order shown. Ask students to predict one row before the worked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20 | Week 11</a:t>
            </a:r>
          </a:p>
          <a:p xmlns:a="http://schemas.openxmlformats.org/drawingml/2006/main">
            <a:r>
              <a:t>Textbook exercise method</a:t>
            </a:r>
          </a:p>
          <a:p xmlns:a="http://schemas.openxmlformats.org/drawingml/2006/main">
            <a:r>
              <a:t>Reading: Alan B. Marcovitz, Introduction to Logic Design, 3rd ed., Ch. 7 §7.4, pp. 450–465; Ch. 8 §§8.4–8.6, pp. 511–518.</a:t>
            </a:r>
          </a:p>
          <a:p xmlns:a="http://schemas.openxmlformats.org/drawingml/2006/main">
            <a:r>
              <a:t>Companion animation: lesson-06.html</a:t>
            </a:r>
          </a:p>
          <a:p xmlns:a="http://schemas.openxmlformats.org/drawingml/2006/main">
            <a:r>
              <a:t>Identify the shortest history that affects future output and name one state per useful history.</a:t>
            </a:r>
          </a:p>
          <a:p xmlns:a="http://schemas.openxmlformats.org/drawingml/2006/main">
            <a:r>
              <a:t>For every state and input, append the bit, place any output, and retain the longest useful suffix.</a:t>
            </a:r>
          </a:p>
          <a:p xmlns:a="http://schemas.openxmlformats.org/drawingml/2006/main">
            <a:r>
              <a:t>Only after the diagram is complete, assign codes and derive next-state equations.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20 | Week 11</a:t>
            </a:r>
          </a:p>
          <a:p xmlns:a="http://schemas.openxmlformats.org/drawingml/2006/main">
            <a:r>
              <a:t>Derive the 101 state table</a:t>
            </a:r>
          </a:p>
          <a:p xmlns:a="http://schemas.openxmlformats.org/drawingml/2006/main">
            <a:r>
              <a:t>Reading: Alan B. Marcovitz, Introduction to Logic Design, 3rd ed., Ch. 7 §7.4, pp. 450–465; Ch. 8 §§8.4–8.6, pp. 511–518.</a:t>
            </a:r>
          </a:p>
          <a:p xmlns:a="http://schemas.openxmlformats.org/drawingml/2006/main">
            <a:r>
              <a:t>Companion animation: lesson-06.html</a:t>
            </a:r>
          </a:p>
          <a:p xmlns:a="http://schemas.openxmlformats.org/drawingml/2006/main">
            <a:r>
              <a:t>Prompt: Detect every overlapping occurrence of 101 in a serial stream.</a:t>
            </a:r>
          </a:p>
          <a:p xmlns:a="http://schemas.openxmlformats.org/drawingml/2006/main">
            <a:r>
              <a:t>Steps:</a:t>
            </a:r>
          </a:p>
          <a:p xmlns:a="http://schemas.openxmlformats.org/drawingml/2006/main">
            <a:r>
              <a:t>S₀ stores no useful suffix. Input 1 moves to S₁.</a:t>
            </a:r>
          </a:p>
          <a:p xmlns:a="http://schemas.openxmlformats.org/drawingml/2006/main">
            <a:r>
              <a:t>S₁ stores suffix 1. Input 0 moves to S₂; input 1 stays S₁.</a:t>
            </a:r>
          </a:p>
          <a:p xmlns:a="http://schemas.openxmlformats.org/drawingml/2006/main">
            <a:r>
              <a:t>S₂ stores suffix 10. Input 1 asserts Z=1 and moves to S₁.</a:t>
            </a:r>
          </a:p>
          <a:p xmlns:a="http://schemas.openxmlformats.org/drawingml/2006/main">
            <a:r>
              <a:t>Input 0 from S₂ gives 100, with no useful suffix, so return to S₀.</a:t>
            </a:r>
          </a:p>
          <a:p xmlns:a="http://schemas.openxmlformats.org/drawingml/2006/main">
            <a:r>
              <a:t>Answer: The Mealy machine has three states and detects both occurrences in 10101.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20 | Week 11</a:t>
            </a:r>
          </a:p>
          <a:p xmlns:a="http://schemas.openxmlformats.org/drawingml/2006/main">
            <a:r>
              <a:t>Concept comparison</a:t>
            </a:r>
          </a:p>
          <a:p xmlns:a="http://schemas.openxmlformats.org/drawingml/2006/main">
            <a:r>
              <a:t>Reading: Alan B. Marcovitz, Introduction to Logic Design, 3rd ed., Ch. 7 §7.4, pp. 450–465; Ch. 8 §§8.4–8.6, pp. 511–518.</a:t>
            </a:r>
          </a:p>
          <a:p xmlns:a="http://schemas.openxmlformats.org/drawingml/2006/main">
            <a:r>
              <a:t>Companion animation: lesson-06.html</a:t>
            </a:r>
          </a:p>
          <a:p xmlns:a="http://schemas.openxmlformats.org/drawingml/2006/main">
            <a:r>
              <a:t>Binary encoding | Needs ⌈log₂N⌉ flip-flops for N states. | May require more state decoding.</a:t>
            </a:r>
          </a:p>
          <a:p xmlns:a="http://schemas.openxmlformats.org/drawingml/2006/main">
            <a:r>
              <a:t>One-hot encoding | Needs N flip-flops for N states. | Can simplify some next-state logic.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20 | Week 11</a:t>
            </a:r>
          </a:p>
          <a:p xmlns:a="http://schemas.openxmlformats.org/drawingml/2006/main">
            <a:r>
              <a:t>Interactive model</a:t>
            </a:r>
          </a:p>
          <a:p xmlns:a="http://schemas.openxmlformats.org/drawingml/2006/main">
            <a:r>
              <a:t>Reading: Alan B. Marcovitz, Introduction to Logic Design, 3rd ed., Ch. 7 §7.4, pp. 450–465; Ch. 8 §§8.4–8.6, pp. 511–518.</a:t>
            </a:r>
          </a:p>
          <a:p xmlns:a="http://schemas.openxmlformats.org/drawingml/2006/main">
            <a:r>
              <a:t>Companion animation: lesson-06.html</a:t>
            </a:r>
          </a:p>
          <a:p xmlns:a="http://schemas.openxmlformats.org/drawingml/2006/main">
            <a:r>
              <a:t>Enter bits one by one or play 10101. Watch the retained suffix and the detection pulse.</a:t>
            </a:r>
          </a:p>
          <a:p xmlns:a="http://schemas.openxmlformats.org/drawingml/2006/main">
            <a:r>
              <a:t>Enter 10101 and pause at the first detection. Ask why the next state is S₁.</a:t>
            </a:r>
          </a:p>
          <a:p xmlns:a="http://schemas.openxmlformats.org/drawingml/2006/main">
            <a:r>
              <a:t>Draw the three suffix meanings before showing codes.</a:t>
            </a:r>
          </a:p>
          <a:p xmlns:a="http://schemas.openxmlformats.org/drawingml/2006/main">
            <a:r>
              <a:t>Translate one transition into an ASM decision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20 | Week 11</a:t>
            </a:r>
          </a:p>
          <a:p xmlns:a="http://schemas.openxmlformats.org/drawingml/2006/main">
            <a:r>
              <a:t>Team activity</a:t>
            </a:r>
          </a:p>
          <a:p xmlns:a="http://schemas.openxmlformats.org/drawingml/2006/main">
            <a:r>
              <a:t>Reading: Alan B. Marcovitz, Introduction to Logic Design, 3rd ed., Ch. 7 §7.4, pp. 450–465; Ch. 8 §§8.4–8.6, pp. 511–518.</a:t>
            </a:r>
          </a:p>
          <a:p xmlns:a="http://schemas.openxmlformats.org/drawingml/2006/main">
            <a:r>
              <a:t>Companion animation: lesson-06.html</a:t>
            </a:r>
          </a:p>
          <a:p xmlns:a="http://schemas.openxmlformats.org/drawingml/2006/main">
            <a:r>
              <a:t>Feed 10101 to an overlapping 101 detector. Mark the state after every bit and the two detection pulses.</a:t>
            </a:r>
          </a:p>
          <a:p xmlns:a="http://schemas.openxmlformats.org/drawingml/2006/main">
            <a:r>
              <a:t>Deliverable: A five-step state trace with each output pulse identified.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20 | Week 11</a:t>
            </a:r>
          </a:p>
          <a:p xmlns:a="http://schemas.openxmlformats.org/drawingml/2006/main">
            <a:r>
              <a:t>Guided example</a:t>
            </a:r>
          </a:p>
          <a:p xmlns:a="http://schemas.openxmlformats.org/drawingml/2006/main">
            <a:r>
              <a:t>Reading: Alan B. Marcovitz, Introduction to Logic Design, 3rd ed., Ch. 7 §7.4, pp. 450–465; Ch. 8 §§8.4–8.6, pp. 511–518.</a:t>
            </a:r>
          </a:p>
          <a:p xmlns:a="http://schemas.openxmlformats.org/drawingml/2006/main">
            <a:r>
              <a:t>Companion animation: lesson-06.html</a:t>
            </a:r>
          </a:p>
          <a:p xmlns:a="http://schemas.openxmlformats.org/drawingml/2006/main">
            <a:r>
              <a:t>Prompt: Encode a five-state controller with binary and one-hot assignments.</a:t>
            </a:r>
          </a:p>
          <a:p xmlns:a="http://schemas.openxmlformats.org/drawingml/2006/main">
            <a:r>
              <a:t>First move: Binary needs ⌈log₂5⌉=3 flip-flops.</a:t>
            </a:r>
          </a:p>
          <a:p xmlns:a="http://schemas.openxmlformats.org/drawingml/2006/main">
            <a:r>
              <a:t>Pause before showing the next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20 | Week 11</a:t>
            </a:r>
          </a:p>
          <a:p xmlns:a="http://schemas.openxmlformats.org/drawingml/2006/main">
            <a:r>
              <a:t>Choose an encoding</a:t>
            </a:r>
          </a:p>
          <a:p xmlns:a="http://schemas.openxmlformats.org/drawingml/2006/main">
            <a:r>
              <a:t>Reading: Alan B. Marcovitz, Introduction to Logic Design, 3rd ed., Ch. 7 §7.4, pp. 450–465; Ch. 8 §§8.4–8.6, pp. 511–518.</a:t>
            </a:r>
          </a:p>
          <a:p xmlns:a="http://schemas.openxmlformats.org/drawingml/2006/main">
            <a:r>
              <a:t>Companion animation: lesson-06.html</a:t>
            </a:r>
          </a:p>
          <a:p xmlns:a="http://schemas.openxmlformats.org/drawingml/2006/main">
            <a:r>
              <a:t>Steps:</a:t>
            </a:r>
          </a:p>
          <a:p xmlns:a="http://schemas.openxmlformats.org/drawingml/2006/main">
            <a:r>
              <a:t>Binary needs ⌈log₂5⌉=3 flip-flops.</a:t>
            </a:r>
          </a:p>
          <a:p xmlns:a="http://schemas.openxmlformats.org/drawingml/2006/main">
            <a:r>
              <a:t>One-hot needs five flip-flops.</a:t>
            </a:r>
          </a:p>
          <a:p xmlns:a="http://schemas.openxmlformats.org/drawingml/2006/main">
            <a:r>
              <a:t>Binary leaves three unused codes; one-hot leaves many invalid patterns.</a:t>
            </a:r>
          </a:p>
          <a:p xmlns:a="http://schemas.openxmlformats.org/drawingml/2006/main">
            <a:r>
              <a:t>Compare next-state logic, reset strategy and timing before choosing.</a:t>
            </a:r>
          </a:p>
          <a:p xmlns:a="http://schemas.openxmlformats.org/drawingml/2006/main">
            <a:r>
              <a:t>Answer: Storage counts are 3 versus 5; neither count alone determines the best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20 | Week 11</a:t>
            </a:r>
          </a:p>
          <a:p xmlns:a="http://schemas.openxmlformats.org/drawingml/2006/main">
            <a:r>
              <a:t>Misconception clinic</a:t>
            </a:r>
          </a:p>
          <a:p xmlns:a="http://schemas.openxmlformats.org/drawingml/2006/main">
            <a:r>
              <a:t>Reading: Alan B. Marcovitz, Introduction to Logic Design, 3rd ed., Ch. 7 §7.4, pp. 450–465; Ch. 8 §§8.4–8.6, pp. 511–518.</a:t>
            </a:r>
          </a:p>
          <a:p xmlns:a="http://schemas.openxmlformats.org/drawingml/2006/main">
            <a:r>
              <a:t>Companion animation: lesson-06.html</a:t>
            </a:r>
          </a:p>
          <a:p xmlns:a="http://schemas.openxmlformats.org/drawingml/2006/main">
            <a:r>
              <a:t>TEMPTING CLAIM: After detecting 101, the machine returns to the empty-suffix state.</a:t>
            </a:r>
          </a:p>
          <a:p xmlns:a="http://schemas.openxmlformats.org/drawingml/2006/main">
            <a:r>
              <a:t>WHY IT FAILS: The last 1 is already a useful prefix of the next occurrence.</a:t>
            </a:r>
          </a:p>
          <a:p xmlns:a="http://schemas.openxmlformats.org/drawingml/2006/main">
            <a:r>
              <a:t>REPAIR: Return to the suffix-1 state to allow overlap.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20 | Week 11</a:t>
            </a:r>
          </a:p>
          <a:p xmlns:a="http://schemas.openxmlformats.org/drawingml/2006/main">
            <a:r>
              <a:t>Practice questions</a:t>
            </a:r>
          </a:p>
          <a:p xmlns:a="http://schemas.openxmlformats.org/drawingml/2006/main">
            <a:r>
              <a:t>Reading: Alan B. Marcovitz, Introduction to Logic Design, 3rd ed., Ch. 7 §7.4, pp. 450–465; Ch. 8 §§8.4–8.6, pp. 511–518.</a:t>
            </a:r>
          </a:p>
          <a:p xmlns:a="http://schemas.openxmlformats.org/drawingml/2006/main">
            <a:r>
              <a:t>Companion animation: lesson-06.html</a:t>
            </a:r>
          </a:p>
          <a:p xmlns:a="http://schemas.openxmlformats.org/drawingml/2006/main">
            <a:r>
              <a:t>Q1: What state follows S₂ after input 1 in the overlapping 101 detector?</a:t>
            </a:r>
          </a:p>
          <a:p xmlns:a="http://schemas.openxmlformats.org/drawingml/2006/main">
            <a:r>
              <a:t>Hint: The final 1 is a useful prefix.</a:t>
            </a:r>
          </a:p>
          <a:p xmlns:a="http://schemas.openxmlformats.org/drawingml/2006/main">
            <a:r>
              <a:t>Answer: S₁, with Z=1 on that transition.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Q2: How many state bits does binary encoding need for 12 states?</a:t>
            </a:r>
          </a:p>
          <a:p xmlns:a="http://schemas.openxmlformats.org/drawingml/2006/main">
            <a:r>
              <a:t>Hint: Find the smallest n with 2ⁿ≥12.</a:t>
            </a:r>
          </a:p>
          <a:p xmlns:a="http://schemas.openxmlformats.org/drawingml/2006/main">
            <a:r>
              <a:t>Answer: Four bits.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20 | Week 11</a:t>
            </a:r>
          </a:p>
          <a:p xmlns:a="http://schemas.openxmlformats.org/drawingml/2006/main">
            <a:r>
              <a:t>Practice solutions</a:t>
            </a:r>
          </a:p>
          <a:p xmlns:a="http://schemas.openxmlformats.org/drawingml/2006/main">
            <a:r>
              <a:t>Reading: Alan B. Marcovitz, Introduction to Logic Design, 3rd ed., Ch. 7 §7.4, pp. 450–465; Ch. 8 §§8.4–8.6, pp. 511–518.</a:t>
            </a:r>
          </a:p>
          <a:p xmlns:a="http://schemas.openxmlformats.org/drawingml/2006/main">
            <a:r>
              <a:t>Companion animation: lesson-06.html</a:t>
            </a:r>
          </a:p>
          <a:p xmlns:a="http://schemas.openxmlformats.org/drawingml/2006/main">
            <a:r>
              <a:t>Q1: What state follows S₂ after input 1 in the overlapping 101 detector?</a:t>
            </a:r>
          </a:p>
          <a:p xmlns:a="http://schemas.openxmlformats.org/drawingml/2006/main">
            <a:r>
              <a:t>S₁, with Z=1 on that transition.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Q2: How many state bits does binary encoding need for 12 states?</a:t>
            </a:r>
          </a:p>
          <a:p xmlns:a="http://schemas.openxmlformats.org/drawingml/2006/main">
            <a:r>
              <a:t>Four bits.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20 | Week 11</a:t>
            </a:r>
          </a:p>
          <a:p xmlns:a="http://schemas.openxmlformats.org/drawingml/2006/main">
            <a:r>
              <a:t>Closing outcomes</a:t>
            </a:r>
          </a:p>
          <a:p xmlns:a="http://schemas.openxmlformats.org/drawingml/2006/main">
            <a:r>
              <a:t>Reading: Alan B. Marcovitz, Introduction to Logic Design, 3rd ed., Ch. 7 §7.4, pp. 450–465; Ch. 8 §§8.4–8.6, pp. 511–518.</a:t>
            </a:r>
          </a:p>
          <a:p xmlns:a="http://schemas.openxmlformats.org/drawingml/2006/main">
            <a:r>
              <a:t>Companion animation: lesson-06.html</a:t>
            </a:r>
          </a:p>
          <a:p xmlns:a="http://schemas.openxmlformats.org/drawingml/2006/main">
            <a:r>
              <a:t>Derive states from useful input suffixes</a:t>
            </a:r>
          </a:p>
          <a:p xmlns:a="http://schemas.openxmlformats.org/drawingml/2006/main">
            <a:r>
              <a:t>Design an overlapping 101 detector</a:t>
            </a:r>
          </a:p>
          <a:p xmlns:a="http://schemas.openxmlformats.org/drawingml/2006/main">
            <a:r>
              <a:t>Interpret an ASM block and compare binary with one-hot encoding</a:t>
            </a:r>
          </a:p>
          <a:p xmlns:a="http://schemas.openxmlformats.org/drawingml/2006/main">
            <a:r>
              <a:t>Next companion: lesson-07.html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459feee78b4f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06234e42bd4de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f1ed61ab84d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bfea7dcfd849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76380c8b224e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476ecd6ee145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A42E8F-3917-41EF-9AD6-9202F425B3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1A56C1C-2943-478E-BFCE-B7070408A8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3B5ABA-21A5-4E25-98F9-64E10C060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8A2F2E-EFE3-474E-B1BB-1E57EE6D38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E7F2ED6-EB21-45B5-B0F2-D9000A122D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3B7A97-2993-47A0-8ED1-646EB1E52E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110F98-F47D-40D3-B071-76F86C033A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57BEEB4-D1BC-47E2-955F-8F937EEC5D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543E89-C66B-4603-BC6D-36BBF6886A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4842F7-3B5B-463D-B461-C7950669C9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b9b62732804e7f" /><Relationship Type="http://schemas.openxmlformats.org/officeDocument/2006/relationships/slideLayout" Target="/ppt/slideLayouts/slideLayout1.xml" Id="R78b981e095e64fbe" /><Relationship Type="http://schemas.openxmlformats.org/officeDocument/2006/relationships/slideLayout" Target="/ppt/slideLayouts/slideLayout2.xml" Id="Ra15d5351161e4019" /><Relationship Type="http://schemas.openxmlformats.org/officeDocument/2006/relationships/slideLayout" Target="/ppt/slideLayouts/slideLayout3.xml" Id="R8e07b92d150b45ce" /><Relationship Type="http://schemas.openxmlformats.org/officeDocument/2006/relationships/slideLayout" Target="/ppt/slideLayouts/slideLayout4.xml" Id="Re776eb53703e4523" /><Relationship Type="http://schemas.openxmlformats.org/officeDocument/2006/relationships/slideLayout" Target="/ppt/slideLayouts/slideLayout5.xml" Id="R46cb6d2c105d4112" /><Relationship Type="http://schemas.openxmlformats.org/officeDocument/2006/relationships/slideLayout" Target="/ppt/slideLayouts/slideLayout6.xml" Id="Re1a0945d257342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b981e095e64fbe"/>
    <p:sldLayoutId xmlns:r="http://schemas.openxmlformats.org/officeDocument/2006/relationships" id="2147483650" r:id="Ra15d5351161e4019"/>
    <p:sldLayoutId xmlns:r="http://schemas.openxmlformats.org/officeDocument/2006/relationships" id="2147483651" r:id="R8e07b92d150b45ce"/>
    <p:sldLayoutId xmlns:r="http://schemas.openxmlformats.org/officeDocument/2006/relationships" id="2147483652" r:id="Re776eb53703e4523"/>
    <p:sldLayoutId xmlns:r="http://schemas.openxmlformats.org/officeDocument/2006/relationships" id="2147483653" r:id="R46cb6d2c105d4112"/>
    <p:sldLayoutId xmlns:r="http://schemas.openxmlformats.org/officeDocument/2006/relationships" id="2147483654" r:id="Re1a0945d257342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f9bb469a514d27" /><Relationship Type="http://schemas.openxmlformats.org/officeDocument/2006/relationships/image" Target="/ppt/media/image.png" Id="Rc684095a80db4ae2" /><Relationship Type="http://schemas.openxmlformats.org/officeDocument/2006/relationships/image" Target="/ppt/media/image2.png" Id="Rfcbe3022ffd248f3" /><Relationship Type="http://schemas.openxmlformats.org/officeDocument/2006/relationships/notesSlide" Target="/ppt/notesSlides/notesSlide1.xml" Id="R25d6c08dc8fb4c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7b1a27e7db4fea" /><Relationship Type="http://schemas.openxmlformats.org/officeDocument/2006/relationships/image" Target="/ppt/media/image3.png" Id="R5e67fc2d3f374d1a" /><Relationship Type="http://schemas.openxmlformats.org/officeDocument/2006/relationships/image" Target="/ppt/media/image4.png" Id="R27110b55751d4d08" /><Relationship Type="http://schemas.openxmlformats.org/officeDocument/2006/relationships/notesSlide" Target="/ppt/notesSlides/notesSlide2.xml" Id="R2bdf581a454e4c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14c6a7445c434f" /><Relationship Type="http://schemas.openxmlformats.org/officeDocument/2006/relationships/image" Target="/ppt/media/image5.png" Id="Ra483ff8b925a457b" /><Relationship Type="http://schemas.openxmlformats.org/officeDocument/2006/relationships/image" Target="/ppt/media/image6.png" Id="Rd84613a8f41249a6" /><Relationship Type="http://schemas.openxmlformats.org/officeDocument/2006/relationships/notesSlide" Target="/ppt/notesSlides/notesSlide3.xml" Id="R7dfc5330f4ec43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1ae5a6503e42eb" /><Relationship Type="http://schemas.openxmlformats.org/officeDocument/2006/relationships/image" Target="/ppt/media/image7.png" Id="Re0a6e16567934f8a" /><Relationship Type="http://schemas.openxmlformats.org/officeDocument/2006/relationships/image" Target="/ppt/media/image8.png" Id="R02aec85c50f74e52" /><Relationship Type="http://schemas.openxmlformats.org/officeDocument/2006/relationships/notesSlide" Target="/ppt/notesSlides/notesSlide4.xml" Id="R09b1bc69a77d43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b0ffb395954053" /><Relationship Type="http://schemas.openxmlformats.org/officeDocument/2006/relationships/image" Target="/ppt/media/image9.png" Id="Rcf7c6cf8e6494997" /><Relationship Type="http://schemas.openxmlformats.org/officeDocument/2006/relationships/image" Target="/ppt/media/image10.png" Id="Rdecadfb6e4784067" /><Relationship Type="http://schemas.openxmlformats.org/officeDocument/2006/relationships/notesSlide" Target="/ppt/notesSlides/notesSlide5.xml" Id="R45727b71487644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3a2588be124fe4" /><Relationship Type="http://schemas.openxmlformats.org/officeDocument/2006/relationships/image" Target="/ppt/media/image11.png" Id="Ra4b06c3fc8084e41" /><Relationship Type="http://schemas.openxmlformats.org/officeDocument/2006/relationships/image" Target="/ppt/media/image12.png" Id="Rbf788f3ce7b04668" /><Relationship Type="http://schemas.openxmlformats.org/officeDocument/2006/relationships/notesSlide" Target="/ppt/notesSlides/notesSlide6.xml" Id="Rbe1f4ae9c40540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9d038d9a414885" /><Relationship Type="http://schemas.openxmlformats.org/officeDocument/2006/relationships/image" Target="/ppt/media/image13.png" Id="R0f64c7400e064c74" /><Relationship Type="http://schemas.openxmlformats.org/officeDocument/2006/relationships/image" Target="/ppt/media/image14.png" Id="Rbf6bafebbd5e425f" /><Relationship Type="http://schemas.openxmlformats.org/officeDocument/2006/relationships/notesSlide" Target="/ppt/notesSlides/notesSlide7.xml" Id="R43df09732a8144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558724df734d8d" /><Relationship Type="http://schemas.openxmlformats.org/officeDocument/2006/relationships/image" Target="/ppt/media/image15.png" Id="R1192800fd0994291" /><Relationship Type="http://schemas.openxmlformats.org/officeDocument/2006/relationships/image" Target="/ppt/media/image16.png" Id="R764efa2520a84793" /><Relationship Type="http://schemas.openxmlformats.org/officeDocument/2006/relationships/notesSlide" Target="/ppt/notesSlides/notesSlide8.xml" Id="R9037b64699ad44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20bb65743c4279" /><Relationship Type="http://schemas.openxmlformats.org/officeDocument/2006/relationships/image" Target="/ppt/media/image17.png" Id="R42703cc787a445f1" /><Relationship Type="http://schemas.openxmlformats.org/officeDocument/2006/relationships/image" Target="/ppt/media/image18.png" Id="R4d32654449a04ff8" /><Relationship Type="http://schemas.openxmlformats.org/officeDocument/2006/relationships/notesSlide" Target="/ppt/notesSlides/notesSlide9.xml" Id="R0faedf07b71645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91b2b7b0a44aa2" /><Relationship Type="http://schemas.openxmlformats.org/officeDocument/2006/relationships/image" Target="/ppt/media/image19.png" Id="R03b61353aa48447a" /><Relationship Type="http://schemas.openxmlformats.org/officeDocument/2006/relationships/image" Target="/ppt/media/image20.png" Id="R9095a42bb4f4452d" /><Relationship Type="http://schemas.openxmlformats.org/officeDocument/2006/relationships/notesSlide" Target="/ppt/notesSlides/notesSlide10.xml" Id="Re1208736708b46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83116a1fe44387" /><Relationship Type="http://schemas.openxmlformats.org/officeDocument/2006/relationships/image" Target="/ppt/media/image21.png" Id="Rdc992e1461fc4d9e" /><Relationship Type="http://schemas.openxmlformats.org/officeDocument/2006/relationships/image" Target="/ppt/media/image22.png" Id="Rc54d843295da4672" /><Relationship Type="http://schemas.openxmlformats.org/officeDocument/2006/relationships/notesSlide" Target="/ppt/notesSlides/notesSlide11.xml" Id="Rc1d5f926fb6b4b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cc346a34c74ad8" /><Relationship Type="http://schemas.openxmlformats.org/officeDocument/2006/relationships/image" Target="/ppt/media/image23.png" Id="Rc3378f11e1a54e70" /><Relationship Type="http://schemas.openxmlformats.org/officeDocument/2006/relationships/image" Target="/ppt/media/image24.png" Id="R41da56d26eab4f21" /><Relationship Type="http://schemas.openxmlformats.org/officeDocument/2006/relationships/notesSlide" Target="/ppt/notesSlides/notesSlide12.xml" Id="R065a642d478745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71d5eba6a04ec3" /><Relationship Type="http://schemas.openxmlformats.org/officeDocument/2006/relationships/image" Target="/ppt/media/image25.png" Id="R81054156e3f14dc5" /><Relationship Type="http://schemas.openxmlformats.org/officeDocument/2006/relationships/image" Target="/ppt/media/image26.png" Id="R20358af7cc144e09" /><Relationship Type="http://schemas.openxmlformats.org/officeDocument/2006/relationships/notesSlide" Target="/ppt/notesSlides/notesSlide13.xml" Id="R82685066f7b849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91ca8b48144e6a" /><Relationship Type="http://schemas.openxmlformats.org/officeDocument/2006/relationships/image" Target="/ppt/media/image27.png" Id="Ra046872c5fa6481b" /><Relationship Type="http://schemas.openxmlformats.org/officeDocument/2006/relationships/image" Target="/ppt/media/image28.png" Id="R10a9fb0a51e247fd" /><Relationship Type="http://schemas.openxmlformats.org/officeDocument/2006/relationships/notesSlide" Target="/ppt/notesSlides/notesSlide14.xml" Id="Refac9ca4654441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ec5ed7b269401a" /><Relationship Type="http://schemas.openxmlformats.org/officeDocument/2006/relationships/image" Target="/ppt/media/image29.png" Id="R11f520e649cd45f1" /><Relationship Type="http://schemas.openxmlformats.org/officeDocument/2006/relationships/image" Target="/ppt/media/image30.png" Id="R18139abeeae94b4a" /><Relationship Type="http://schemas.openxmlformats.org/officeDocument/2006/relationships/notesSlide" Target="/ppt/notesSlides/notesSlide15.xml" Id="R9b1529901624454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803fd30c554d0b" /><Relationship Type="http://schemas.openxmlformats.org/officeDocument/2006/relationships/image" Target="/ppt/media/image31.png" Id="R8c3b77c040cb48d1" /><Relationship Type="http://schemas.openxmlformats.org/officeDocument/2006/relationships/image" Target="/ppt/media/image32.png" Id="R2c16eac34c574bbd" /><Relationship Type="http://schemas.openxmlformats.org/officeDocument/2006/relationships/notesSlide" Target="/ppt/notesSlides/notesSlide16.xml" Id="R7bca57590da94e0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3f21dad0994425" /><Relationship Type="http://schemas.openxmlformats.org/officeDocument/2006/relationships/image" Target="/ppt/media/image33.png" Id="R14bd5593bb2b4df2" /><Relationship Type="http://schemas.openxmlformats.org/officeDocument/2006/relationships/image" Target="/ppt/media/image34.png" Id="R9ab22979cdc74cbd" /><Relationship Type="http://schemas.openxmlformats.org/officeDocument/2006/relationships/notesSlide" Target="/ppt/notesSlides/notesSlide17.xml" Id="R3e520fb69eed4cb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448c4d5134d7d" /><Relationship Type="http://schemas.openxmlformats.org/officeDocument/2006/relationships/image" Target="/ppt/media/image35.png" Id="R3ad684a9f6e54ef2" /><Relationship Type="http://schemas.openxmlformats.org/officeDocument/2006/relationships/image" Target="/ppt/media/image36.png" Id="R7717cfbaa8654404" /><Relationship Type="http://schemas.openxmlformats.org/officeDocument/2006/relationships/notesSlide" Target="/ppt/notesSlides/notesSlide18.xml" Id="R57a9ed7ef4994f8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679288c711450c" /><Relationship Type="http://schemas.openxmlformats.org/officeDocument/2006/relationships/image" Target="/ppt/media/image37.png" Id="R871fbcc9b3304fee" /><Relationship Type="http://schemas.openxmlformats.org/officeDocument/2006/relationships/image" Target="/ppt/media/image38.png" Id="R001eb505702e4297" /><Relationship Type="http://schemas.openxmlformats.org/officeDocument/2006/relationships/notesSlide" Target="/ppt/notesSlides/notesSlide19.xml" Id="R5b0d0b49b4fa45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5B8E3-4617-4F16-97B1-CECE5ED5D6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4095a80db4ae2"/>
          <a:srcRect xmlns:a="http://schemas.openxmlformats.org/drawingml/2006/main" l="28940" t="0" r="2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5E4BD-6BE2-4C17-AB04-B85A3D3C75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e3022ffd248f3"/>
          <a:stretch xmlns:a="http://schemas.openxmlformats.org/drawingml/2006/main"/>
        </p:blipFill>
        <p:spPr>
          <a:xfrm xmlns:a="http://schemas.openxmlformats.org/drawingml/2006/main">
            <a:off x="610120" y="457200"/>
            <a:ext cx="6275934" cy="1028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DCC9C-AC16-4239-9C2C-1C3856E0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907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ELEC 335  |  Fall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C33BC-DB9F-4607-94C2-B42FF241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38375"/>
            <a:ext cx="77819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42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FSM synthesis, ASM and encoding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3D0A7-EB3B-4B45-B6DB-6BE8494F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105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Week 11 · Lecture 2</a:t>
            </a:r>
          </a:p>
          <a:p xmlns:a="http://schemas.openxmlformats.org/drawingml/2006/main">
            <a: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Chapters 7 and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5B769-D3C9-4130-89D6-3FDA4D01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29300"/>
            <a:ext cx="8763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6B727-51F4-4F51-872D-C4A6AB7F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423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Digital Logic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CB5CB-DD37-4B8C-84B9-FFDD9FB6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1980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Textbook: Ch. 7 §7.4, pp. 450–465; Ch. 8 §§8.4–8.6, pp. 511–518</a:t>
            </a:r>
          </a:p>
        </p:txBody>
      </p:sp>
    </p:spTree>
    <p:extLst>
      <p:ext uri="{BB962C8B-B14F-4D97-AF65-F5344CB8AC3E}">
        <p14:creationId xmlns:p14="http://schemas.microsoft.com/office/powerpoint/2010/main" val="1469109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FFCA9D-7991-4CEA-B88A-9BBC7D21A7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7fc2d3f374d1a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1D67C-9F62-4493-BB5E-B459893D51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10b55751d4d08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83A34-E623-475F-82F7-17D879F4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L20 · READING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493BF-8D8B-47D0-B772-BD64F395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Where this lecture sits in the course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B9E16-62B6-49DE-852F-EF525E91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7DE79-ED24-462D-8371-4AE186E4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5DBA9-43A8-4859-B2D3-6FF76E42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§7.4, pp. 450–465; Ch. 8 §§8.4–8.6, pp. 511–518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1DB34-D6D7-42C1-8568-F8AED2C7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L20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40A84-B9DF-4AE9-A392-BD703FC8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0738A-98A2-4A7E-BA28-7B7F65DE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DCBDB-A990-4169-BE34-B8ED5DD0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5E35D-8B2F-4AF6-A4B6-FD889665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0002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152C3-8B80-46F6-9A6F-AE51650B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526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Textbook: Ch. 7 §7.4, pp. 450–465; Ch. 8 §§8.4–8.6, pp. 511–518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40ABB-C072-4CEE-951D-F1BB4ECB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8AEA4-2D74-47EC-8183-4590EE46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004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ED4413-A405-403D-801A-4CD3B0DE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5277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263E"/>
                </a:solidFill>
                <a:latin typeface="Tahoma"/>
                <a:ea typeface="Tahoma"/>
                <a:cs typeface="Tahoma"/>
              </a:rPr>
              <a:t>Interactive companion: Lesson 06, FSM synthesis, ASM and encoding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78F5E-C444-46A3-9CED-491AB8F0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C76CE2-11A7-461B-92D9-2A059D68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005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554013-B822-4162-B011-0584401C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529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After class: worked examples and practice in the HTML lesson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BB5B5C-1061-406D-A0AB-81864650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578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Preparation: read the named section, then use the worked slides to check each design step.</a:t>
            </a:r>
          </a:p>
        </p:txBody>
      </p:sp>
    </p:spTree>
    <p:extLst>
      <p:ext uri="{BB962C8B-B14F-4D97-AF65-F5344CB8AC3E}">
        <p14:creationId xmlns:p14="http://schemas.microsoft.com/office/powerpoint/2010/main" val="20296551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E85313-3C24-4DF4-8871-E18EF72269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3ff8b925a457b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AE7E7-4F8F-4C41-910D-73E3C720FD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613a8f41249a6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A6B3E-3526-4C77-9B5F-C17EC076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L20 · 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282DF-CCFA-46DC-AB90-8DC75157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Today's destination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2DA1C-EF65-4EB4-AC0E-33D974AB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9ECE2-42A0-41E4-BE33-334E64E4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DEDE7-014C-4D60-9ABB-A7D359F6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§7.4, pp. 450–465; Ch. 8 §§8.4–8.6, pp. 511–518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06140-C4C1-4D1E-AEBC-A95271CF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L20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0FBC7-47DC-4F22-B0E1-B4EA2AF5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B4670-5B80-40BA-BFB3-D319F288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74758-807B-47AD-ABA9-CDD8B778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14300" cy="34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39771-3DB9-49F3-ADC7-8106EC3E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D9762-37A4-46AA-B0A2-44A35F5F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914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Derive states from useful input suffixes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80BF2-F1B1-449C-A77F-A92BBC31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BB7C9-3CD2-44FA-A256-FA0F181E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057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Design an overlapping 101 detector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69EAF2-9ACE-4216-977B-9CCCC70E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69902B-31CE-414A-BDAC-384A5E5D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200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Interpret an ASM block and compare binary with one-hot encoding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EA040C-8E4C-40A1-AC22-DCE0FB85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5530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84342"/>
                </a:solidFill>
                <a:latin typeface="Tahoma"/>
                <a:ea typeface="Tahoma"/>
                <a:cs typeface="Tahoma"/>
              </a:rPr>
              <a:t>Course outcome: State diagrams and sequential design</a:t>
            </a:r>
          </a:p>
        </p:txBody>
      </p:sp>
    </p:spTree>
    <p:extLst>
      <p:ext uri="{BB962C8B-B14F-4D97-AF65-F5344CB8AC3E}">
        <p14:creationId xmlns:p14="http://schemas.microsoft.com/office/powerpoint/2010/main" val="1846858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86AB9-B61E-4E52-AC3A-667641F5CF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6e16567934f8a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23025-61A2-4E2A-BF12-93B1E1C6E4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ec85c50f74e52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59793-6BA3-4E6F-8F07-02CBF6AF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L20 · BIG PICTURE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1462E-2816-4BA1-8821-3B51E990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question that organizes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CEAB6-FF59-4A00-BB68-DE60A048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1DB48-FE76-47A3-9DD7-5E8A85AC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97EC5-085D-48EF-A9FB-AA41B1C9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§7.4, pp. 450–465; Ch. 8 §§8.4–8.6, pp. 511–518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5D18C-1C6C-4C32-9C22-D1E93165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L20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FF14A-39B1-4EAE-8E6D-012137CE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561A0-1B0C-4919-8CE2-9D323300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B20BE-731B-42AB-B904-AEF741B1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02108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C84FB-4D8A-4281-90BA-18D9912B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62175"/>
            <a:ext cx="876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What history must a detector remember to report an overlapping pattern?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0FA46-AFD1-4AA4-92E1-7D4B059A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05350"/>
            <a:ext cx="876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Keep this question in view as the circuit models and examples develop.</a:t>
            </a:r>
          </a:p>
        </p:txBody>
      </p:sp>
    </p:spTree>
    <p:extLst>
      <p:ext uri="{BB962C8B-B14F-4D97-AF65-F5344CB8AC3E}">
        <p14:creationId xmlns:p14="http://schemas.microsoft.com/office/powerpoint/2010/main" val="21272081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E2DD7-F94F-4B02-8097-535C78C49A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c6cf8e6494997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A880B-30E3-470A-A971-97D264A811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adfb6e4784067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27465-F558-46D8-938C-75B8ED3D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L20 · PREREQUISITE 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85145-530D-4D54-B60B-C0B7B246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Start from what you already know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C56E0-E154-4F79-9BBD-BAD9231E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F2550-3844-4A04-AFA7-BD034748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1B017-32F6-4F53-98BB-C1E3F3B8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§7.4, pp. 450–465; Ch. 8 §§8.4–8.6, pp. 511–518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B9921-A07A-4A69-83AF-472457B0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L20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0F647-F4E1-4AF8-8FE8-525DEB01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7CA7C-2401-4F78-96B4-D1C782E0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5EC4C-3F0E-473E-8FD6-1E9BD736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95916-47E9-4389-AC9F-1DFBC170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47850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07046-3AF2-4217-B88E-053DCE0F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77165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state represents the history needed for future behavior.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B28AC-4DBA-4A32-AA1B-0D2D0FE7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16E1F0-5290-4612-8BA5-E3AAD65F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19425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7DDD6-5149-4607-AAFA-EC3D4E06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943225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Mealy output may be attached to an input-labelled transition.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F8A9F-28C0-4FD8-B5AA-8EBC0F28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1A9B95-0881-49DA-BEF4-8A76DCEF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91000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2C125-F78D-4275-AFC4-15C6F18C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11480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Binary codes are assigned after state meanings are settled.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96AD38-7D2A-4389-8431-E910275E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768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Turn to a partner: explain one statement without reading it aloud.</a:t>
            </a:r>
          </a:p>
        </p:txBody>
      </p:sp>
    </p:spTree>
    <p:extLst>
      <p:ext uri="{BB962C8B-B14F-4D97-AF65-F5344CB8AC3E}">
        <p14:creationId xmlns:p14="http://schemas.microsoft.com/office/powerpoint/2010/main" val="21148743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84A4B4-D8C8-402A-8192-DD4128B0AB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06c3fc8084e41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84EC2-51DD-4BAC-9466-D7ADAC323C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88f3ce7b04668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806F2-A888-4173-B8C1-3AC4B295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L20 · VOCABULARY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97B19-8460-445A-9E38-5B951716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Four words to make precise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2825D-37D6-4531-90B5-4E064485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1BCBB-35FF-4167-B5B2-BE43308D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CB6DE-AFE1-42F0-8E59-C68DA4D4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§7.4, pp. 450–465; Ch. 8 §§8.4–8.6, pp. 511–518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39A9F-89B9-4FE8-A723-D2F93D30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L20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D49AC-1903-421A-8A47-F2D2B44D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7E59B-BB4A-4F3A-991C-49091B58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C84AF-1C09-462E-8DDE-206E20B3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EC813-E44B-4964-9324-2A21A449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useful suffix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D6E60-FC2D-4326-9191-328E90B2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79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recent input ending that could begin a target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CFF27-F7B0-4D41-B6ED-888265DD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0ACAE-E0AC-41ED-9532-A067D75A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431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overlap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F63DF-E419-4745-8A77-D378370C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479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one detection shares bits with the next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A7620-2D9E-4704-8EC6-5F13864B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B86D1-4AC3-473B-B64F-D9B1CC58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ASM block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DE1666-5D49-4188-B316-AEE76289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719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chart element for state actions or decisions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09773E-6F6E-4BDB-B703-925DA80E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7665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FEA7BE-B3AD-4AA8-BC3A-D2FE876D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67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one-hot encoding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F30C95-90F0-45BF-9172-9967A001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719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one state bit asserted per valid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21B85C-5FFF-4778-9CB9-F717173F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59117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Use each term when explaining the circuit, table, or timing trace.</a:t>
            </a:r>
          </a:p>
        </p:txBody>
      </p:sp>
    </p:spTree>
    <p:extLst>
      <p:ext uri="{BB962C8B-B14F-4D97-AF65-F5344CB8AC3E}">
        <p14:creationId xmlns:p14="http://schemas.microsoft.com/office/powerpoint/2010/main" val="6702674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DE9CE2-DCB1-4DAC-8BA3-51A28D448E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4c7400e064c74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4FF8E-0CF0-47F0-9236-1959F99B49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bafebbd5e425f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6BBA8-4605-42E9-85A9-119F57C7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L20 · PLAIN-LANGUAGE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A4217-C95F-436B-A9D9-DD8A2353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119B4-9214-4FBB-B4AE-23715CE2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35211-C16A-4F40-A5C2-BDF63FD2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79096-7CE9-46D9-8FBA-039E5AA0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§7.4, pp. 450–465; Ch. 8 §§8.4–8.6, pp. 511–518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57306-C8AB-452A-9DE2-EDDEA30D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L20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52648-BA02-4372-9A6D-FE586518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62BF7-F608-4DFE-8DB1-8D9930D8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65801-924B-4ABC-B670-8ABFE70E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B190F-788B-421E-971A-A1EB7A20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6212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Name each useful suffix as a state.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9E65C-36B1-4279-91CF-C86ECA08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888B6-61BA-413A-8735-CF786C00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Append each input and keep the longest useful suffix.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332CE-4285-42C4-A19B-7A7B0821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036F7-9A39-4B2C-9C2D-54FF06BD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7667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Place detection on the completing transition and choose codes.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63C152-9095-4F48-ACD6-12ED09F6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038725"/>
            <a:ext cx="97821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13DDA-A501-4A2C-8C93-A79406E9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5302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33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What history must a detector remember to report an overlapping pattern?</a:t>
            </a:r>
          </a:p>
        </p:txBody>
      </p:sp>
    </p:spTree>
    <p:extLst>
      <p:ext uri="{BB962C8B-B14F-4D97-AF65-F5344CB8AC3E}">
        <p14:creationId xmlns:p14="http://schemas.microsoft.com/office/powerpoint/2010/main" val="4397241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73924-A3CC-4D12-88A0-AB0CCB85A9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2800fd0994291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71FDA-0DD0-46BE-91FE-02708FF1AA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efa2520a84793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6677E-5CE6-430D-8C05-690FFFC0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L20 ·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4E05A-6961-4A2E-82C7-E365533D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table to keep beside the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B415B-6D96-4A79-856A-20CCC894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5F05E-B5F0-4AD8-8600-0FB4031F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47C30-D5B7-4B72-BCF1-3C7B08E7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§7.4, pp. 450–465; Ch. 8 §§8.4–8.6, pp. 511–518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09874-EFE9-49E7-BCE6-B80DC253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L20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C5C3C-4DFF-4106-B88B-0C39253A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D7202-424B-4366-B49A-BA591EBF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FF7E3-B8B6-4AE7-AD46-D81E21E48AD6}"/>
              </a:ext>
            </a:extLst>
          </p:cNvPr>
          <p:cNvGraphicFramePr/>
          <p:nvPr/>
        </p:nvGraphicFramePr>
        <p:xfrm>
          <a:off xmlns:a="http://schemas.openxmlformats.org/drawingml/2006/main" x="771525" y="1790700"/>
          <a:ext xmlns:a="http://schemas.openxmlformats.org/drawingml/2006/main" cx="105918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30600"/>
                <a:gridCol w="3530600"/>
                <a:gridCol w="3530600"/>
              </a:tblGrid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Present state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X=0: next/Z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X=1: next/Z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S₀ (none)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S₀ /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S₁ /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S₁ (1)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S₂ /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S₁ /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S₂ (10)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S₀ /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S₁ /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2601F-000C-402D-AC28-E76DB2D1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10200"/>
            <a:ext cx="880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Name the bit order and control conditions before using a row.</a:t>
            </a:r>
          </a:p>
        </p:txBody>
      </p:sp>
    </p:spTree>
    <p:extLst>
      <p:ext uri="{BB962C8B-B14F-4D97-AF65-F5344CB8AC3E}">
        <p14:creationId xmlns:p14="http://schemas.microsoft.com/office/powerpoint/2010/main" val="13357001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54B4AE-5A18-43C0-8616-50C81745D8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03cc787a445f1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B3C07-2916-4C62-9A43-B773BB6C72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2654449a04ff8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55DFD-E17A-488B-9CC6-F67F3DAA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L20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2CF4F-2E17-4568-8D54-C1549DBE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reliable procedure for exercises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BA5C0-5532-415E-BAB2-B541A747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A1FF1-0EC2-48A2-AF26-EE8BBB30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6181E-3655-4651-BD40-B3421EEA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§7.4, pp. 450–465; Ch. 8 §§8.4–8.6, pp. 511–518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0F993-5BCF-4A91-8B93-C774E9EA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L20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2246F-3755-4378-A77E-ED882E56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79906-DDE0-4C25-9321-37B91DBC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273F5-F6A8-4DF9-86CC-3AC8C77D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859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5F005-5F92-49F9-99AC-7653B6D9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621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7FCD2-169B-4553-A4F1-1817464E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573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Identify the shortest history that affects future output and name one state per useful history.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85CA9-16A9-43D0-B25F-DD61163A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527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E52BC-E1CF-44AE-B2E2-603A0C06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289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728D6-41D8-4A25-ACA3-A92375E9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241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For every state and input, append the bit, place any output, and retain the longest useful suffix.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CF2305-1F34-4549-A445-E342D0CF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195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88651-B8FD-42C5-B25D-6CE817B2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957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B43387-1D84-4659-B252-A76A7257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909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Only after the diagram is complete, assign codes and derive next-state equations.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706CBE-CF80-42E8-909A-F51E6155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953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E03EFC-F880-422F-A25E-ED28CA6C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14950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Complete the table or trace, then verify the circuit one row at a time.</a:t>
            </a:r>
          </a:p>
        </p:txBody>
      </p:sp>
    </p:spTree>
    <p:extLst>
      <p:ext uri="{BB962C8B-B14F-4D97-AF65-F5344CB8AC3E}">
        <p14:creationId xmlns:p14="http://schemas.microsoft.com/office/powerpoint/2010/main" val="7860203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AE19A6-07BC-47F0-B1F3-BBD0E24044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61353aa48447a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D9C84-66E5-4DB3-905C-4193D593DD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5a42bb4f4452d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DC821-BF40-4E62-ACBC-C00F6F7A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L20 · WORKED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4812B-CD64-4521-B41F-FA2749C5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Derive the 101 state 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46C08-D827-408D-8337-44B76EB3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CFD3D-E5AA-4A91-85A1-6699A060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4E5E0-9847-4679-A12C-343A3238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§7.4, pp. 450–465; Ch. 8 §§8.4–8.6, pp. 511–518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16815-58F1-412E-A21E-0419959D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L20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19E53-67FE-4EC0-8D02-1760B754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F45B3-90F1-49CB-B51B-FC23854F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2ADFD-BD17-44BF-AB4C-EB598030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107537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97001-3D9C-4EEE-A241-52D141EF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1021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Detect every overlapping occurrence of 101 in a serial stream.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36E08-A02A-44BA-B80D-746638D4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781300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20123-F876-4228-9B9B-8AD1B568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6225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S₀ stores no useful suffix. Input 1 moves to S₁.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A9FA43-A2B2-42B7-81D2-D9FA03AF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05175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2C924-1014-4999-ACB5-93E84F82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28612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S₁ stores suffix 1. Input 0 moves to S₂; input 1 stays S₁.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C223F-838C-4F6C-8EEE-45A91BEE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29050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6AA26-9976-4564-83BA-C58CD128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1000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S₂ stores suffix 10. Input 1 asserts Z=1 and moves to S₁.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036069-E64D-4C1E-8C04-876C2888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52925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45F134-8D5B-4C4E-8904-04449FD4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3387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Input 0 from S₂ gives 100, with no useful suffix, so return to S₀.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4065E3-D2EA-45EE-A5B0-273E74C6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0DD72-8595-42FA-B748-3CE2CEF4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1492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The Mealy machine has three states and detects both occurrences in 10101.</a:t>
            </a:r>
          </a:p>
        </p:txBody>
      </p:sp>
    </p:spTree>
    <p:extLst>
      <p:ext uri="{BB962C8B-B14F-4D97-AF65-F5344CB8AC3E}">
        <p14:creationId xmlns:p14="http://schemas.microsoft.com/office/powerpoint/2010/main" val="20166036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41EE0A-13E7-4A59-8B68-81B369E1A8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92e1461fc4d9e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FC2FD-2BEE-485B-B1C2-B291E285D6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d843295da4672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24657-BDDA-4B03-9F5F-376A1E7C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L20 ·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298B2-4CE5-4746-A2F6-5CE61826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Two designs to distinguish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EC205-57D9-4BC3-86D6-6BE31BC0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6B2AB-CB21-4D69-8C0F-40A3AAEF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1639A-BDB6-4BA0-828B-4CC8441E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§7.4, pp. 450–465; Ch. 8 §§8.4–8.6, pp. 511–518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51F3B-E5E5-41E4-AC6E-D1230E9B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L20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F4F06-9A4F-4F67-9588-081B4D27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E07EC-8B86-4325-97AF-6F5FAB76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6A9E8-8CB5-4A49-BF6E-7D00556C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47850"/>
            <a:ext cx="19050" cy="294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36F0A-8D56-4BA7-9B38-71D32C74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1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Binary encoding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C5DF4-B6A1-43C6-8B58-63D8FD47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Needs ⌈log₂N⌉ flip-flops for N states.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BE821-E42C-4ED1-95E9-0ED954CD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4857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May require more state decoding.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D9BDF-5159-459B-BC36-AA0E6BD6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81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One-hot encoding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2E674-76B5-41EF-A552-4AA5DE05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431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Needs N flip-flops for N states.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95D6D-EDDB-42DB-B663-58176E7D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33775"/>
            <a:ext cx="4857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Can simplify some next-state logic.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56487-D52B-472A-91E8-4F8B4804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55E1F0-7EF3-4343-8A0A-CCDE8174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53025"/>
            <a:ext cx="962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Explain the difference using behavior and timing, then test one case.</a:t>
            </a:r>
          </a:p>
        </p:txBody>
      </p:sp>
    </p:spTree>
    <p:extLst>
      <p:ext uri="{BB962C8B-B14F-4D97-AF65-F5344CB8AC3E}">
        <p14:creationId xmlns:p14="http://schemas.microsoft.com/office/powerpoint/2010/main" val="20283208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ABE9A9-1856-4586-B2E5-339072C79F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78f11e1a54e70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51098-8ED9-4D42-AE95-617689F9D9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a56d26eab4f21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46EDA-B60A-4F29-856B-BEA3C0A0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L20 · INTERACTIVE COMPANION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ECCD9-A7B1-49A0-9B45-8357F972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Overlapping 101 detector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DF1A1-F81D-41B8-B748-5480B438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53FB2-87DF-4F1E-8F81-DB0F41D2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AD06E-CA71-49B9-AE1F-7CEE32BA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§7.4, pp. 450–465; Ch. 8 §§8.4–8.6, pp. 511–518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89FD9-A608-4188-B000-80509F52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L20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C7445-9C88-469F-A81E-3E84725B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BA2CC-E78D-45F4-94C9-EB16B066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D1C98-2BB4-4FD1-8BEC-9288DB9E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19400"/>
            <a:ext cx="21336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116AE-6B54-4AD8-A091-23A127FF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895600"/>
            <a:ext cx="19240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S₀: none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DF718-9226-4A71-AA6D-E2958B13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914650"/>
            <a:ext cx="695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006B3-44FE-4EC3-8215-88568DFF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21336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B849D-A094-4A5C-9E98-868B53A3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95600"/>
            <a:ext cx="19240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S₁: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1C2CD-5EB7-4031-B612-F52CF40C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14650"/>
            <a:ext cx="695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25482-EF62-4D30-8E37-71C3D7A2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819400"/>
            <a:ext cx="21336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E7DCC-0769-46FD-8F2B-5315FF1E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19240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S₂: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4A2707-F7A9-4CCB-8517-7E8BA9B1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00525"/>
            <a:ext cx="7743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S₂ + 1 detects 101 and returns to S₁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8328B-3DC6-402F-8CD1-B047B605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52975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Enter bits one by one or play 10101. Watch the retained suffix and the detection pulse.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7BEC9B-E9CD-4334-98D1-A810D79E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14975"/>
            <a:ext cx="9334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Open lesson-06.html for the animated model and state-by-state controls.</a:t>
            </a:r>
          </a:p>
        </p:txBody>
      </p:sp>
    </p:spTree>
    <p:extLst>
      <p:ext uri="{BB962C8B-B14F-4D97-AF65-F5344CB8AC3E}">
        <p14:creationId xmlns:p14="http://schemas.microsoft.com/office/powerpoint/2010/main" val="15051363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C4ABA-24D3-4A98-99C5-9A8DCEAC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05050" cy="66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08821-6C2F-4260-AD38-CD347BE5BE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54156e3f14dc5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21EF4-8412-4356-BFAB-E5FE400EAA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58af7cc144e09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2C61C-C529-4FCC-BD6C-9202A541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79057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ACTIVITY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330CF-A24B-4848-9258-F945DB39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04975"/>
            <a:ext cx="1238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L20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TEAM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78350-24E5-4C08-8DC1-B6F71155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781050"/>
            <a:ext cx="78771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Apply the method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082D2-E253-46E2-A6C4-2955BF59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90725"/>
            <a:ext cx="8286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Feed 10101 to an overlapping 101 detector. Mark the state after every bit and the two detection pulses.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81293-6C76-4E4B-8849-F660E288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62325"/>
            <a:ext cx="79914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Identify the shortest history that affects future output and name one state per useful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D5CB5-4599-49DE-BC8C-83D28C67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81600"/>
            <a:ext cx="798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2B04B-0B2E-4FAF-9110-580C1826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391150"/>
            <a:ext cx="159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DELIVERABLE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713DB-F2CC-419B-B6CF-FEA85D73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67325"/>
            <a:ext cx="6200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five-step state trace with each output pulse identified.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39B7D-6CE4-4987-AEEB-21425A84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115050"/>
            <a:ext cx="9886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6AEBF-C575-4BE8-B581-7034908A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143625"/>
            <a:ext cx="862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§7.4, pp. 450–465; Ch. 8 §§8.4–8.6, pp. 511–518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E2969-FCF1-4FEB-BC84-D559BDC0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L20  |  Week 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E6C05-C701-4DF0-9487-E86EBBBF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4293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Digital Logic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D6FCC-4339-4028-B31E-4BF6F461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0DB6B5-963F-4F53-8F5B-8468DFFC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115260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2FA53-28A8-4EA5-BCA4-7422B7CCF7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6872c5fa6481b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36790-B7CF-4F89-8D51-1D575F1671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a9fb0a51e247fd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A8A63-44A4-48C0-9E5D-EAE9D4C7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L20 · GUIDED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A6C2F-64C9-46B5-BA02-8464CF3D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Try the first move before 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14C67-A9F6-4E05-B24D-03C1E299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5933B-6152-44D4-9BAC-DB3A5789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88F2A-EE34-4256-B0C0-78096345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§7.4, pp. 450–465; Ch. 8 §§8.4–8.6, pp. 511–518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B8826-C4F3-4159-A63A-01D4FC1B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L20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C96B8E-AD13-40E2-ADF7-8E6EE1E0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E020B-E686-4AE3-9A99-B3733E71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A1EF9-C604-41D8-B842-8C4286ED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047750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8C5AC-4C27-4862-9D7D-E7A5751C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57400"/>
            <a:ext cx="9144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Encode a five-state controller with binary and one-hot assignments.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19F5F-5F8F-4FF9-AD06-2AB87FB2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971925"/>
            <a:ext cx="4067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YOUR FIRST MOVE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9C081-6E5C-4E43-8697-C907A59D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05300"/>
            <a:ext cx="885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Binary needs ⌈log₂5⌉=3 flip-flops.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35AC7-BD4F-45AD-9F2F-F26119EE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429250"/>
            <a:ext cx="881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Pause for 60–90 seconds. Write, then compare with a partner.</a:t>
            </a:r>
          </a:p>
        </p:txBody>
      </p:sp>
    </p:spTree>
    <p:extLst>
      <p:ext uri="{BB962C8B-B14F-4D97-AF65-F5344CB8AC3E}">
        <p14:creationId xmlns:p14="http://schemas.microsoft.com/office/powerpoint/2010/main" val="13413155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C5EA88-C7A4-48F8-BDE6-942480E82B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520e649cd45f1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E2CD1-0CE7-472D-86F0-3ABB272E95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39abeeae94b4a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C1C75-7C6B-44E5-AB48-5D126BF1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L20 · GUIDED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82DA2-252D-4EB5-9980-DA42B2CC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Now make every step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302A4-5D3B-4282-8ECF-BBDD1626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2DA01-3FD9-4B37-A8AD-074EEFB4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BE9D8-3EC8-4A8E-9A0F-987AACD5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§7.4, pp. 450–465; Ch. 8 §§8.4–8.6, pp. 511–518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EF922-DC2A-4EC0-9CC6-EAE825D8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L20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6EC0E-A8B7-490E-BE6C-D6AA90BE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A49F1-DA3C-4154-97F2-FC592547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61A16-D711-4A00-991A-0381C703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240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04763-6D24-4D14-B11B-D7F53CE6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75260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8B7BE-80C6-4372-9247-252F9546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67640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Binary needs ⌈log₂5⌉=3 flip-flops.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F31AA-F4AA-4E32-B8E8-DF12A78C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C4AC0-AB57-4BB5-87B1-701F901D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3365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2030F3-DB8B-4FAD-A2BC-F306CFEF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45745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One-hot needs five flip-flops.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2C7BC-D14E-48D9-8DB3-18C8D14D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D6D07B-34C6-4EC8-A543-575478D8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1470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62804-F07E-473B-A94C-8521CE2E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23850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Binary leaves three unused codes; one-hot leaves many invalid patterns.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A1DB8-F815-4706-B86F-351A38A1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671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B3A255-AE1F-455F-9EF0-D6A49DAF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27E77B-20B6-48D9-AC49-142A2128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01955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Compare next-state logic, reset strategy and timing before choosing.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45CE98-3437-439C-B870-EE5FB88B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993457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D18251-0194-48E3-9C71-86D1C872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72075"/>
            <a:ext cx="9001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958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Storage counts are 3 versus 5; neither count alone determines the best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4128090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3AC0D-FEBF-428C-88FB-21A3BB3431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b77c040cb48d1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F8059-BEBB-437B-B064-CC9AEACC1B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6eac34c574bbd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A8B26-E2A2-49BB-9AD0-352748F3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L20 · MISCONCEPTION CLINIC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A0F74-82DF-42B8-BAB0-3478782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tempting mistake to remove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88748-348E-4327-9FC3-41AAACE8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6CB0F-E341-4056-83D5-AF1428CD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31ED4-E921-412D-BA07-C39C7A58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§7.4, pp. 450–465; Ch. 8 §§8.4–8.6, pp. 511–518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7BCCB-FA2A-45A9-A3FB-19454A4B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L20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AB011-7C9C-49D1-80CB-9F776503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50E80-C9F0-4285-A635-FD5D9D76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A3DCA-2E9F-43B9-BC7A-16AA7183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0CFE5-4F9D-4145-A949-39822D55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145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TEMPTING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EF445-E178-4300-AE77-FD709AB1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764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After detecting 101, the machine returns to the empty-suffix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03D55-D671-4586-BD48-A863EBBE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07BC4-C8AA-4D0C-936F-FA373C41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718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5AB5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E5AB52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E5AB52"/>
                </a:solidFill>
                <a:latin typeface="Tahoma"/>
                <a:ea typeface="Tahoma"/>
                <a:cs typeface="Tahoma"/>
              </a:rPr>
              <a:t>WHY IT FAILS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1FFCD-5376-4631-8B96-050FB70E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337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The last 1 is already a useful prefix of the next occurrence.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A6403-E381-4B8E-B67D-7DE12082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7F367-0AB2-4FDE-9A54-D497D0CA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291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REPAIR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368BC-911B-4C44-AF26-8A0E49EB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3910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Return to the suffix-1 state to allow overlap.</a:t>
            </a:r>
          </a:p>
        </p:txBody>
      </p:sp>
    </p:spTree>
    <p:extLst>
      <p:ext uri="{BB962C8B-B14F-4D97-AF65-F5344CB8AC3E}">
        <p14:creationId xmlns:p14="http://schemas.microsoft.com/office/powerpoint/2010/main" val="11950093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60616-781F-47D3-873A-1C0DA49374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d5593bb2b4df2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2A504-E92D-4C9B-AD38-3CCC1327DF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22979cdc74cbd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D288B-BCDD-4D3C-B86D-ED6E5598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L20 · ONE-MINUTE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F93C4-674F-46DE-981B-E475D8CB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Close the book: can you apply 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895CF-2473-41C2-BAA3-3AF83E4D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89F2F-5405-4419-999C-F44278FA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3276D-48AE-4D45-96E6-18E61659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§7.4, pp. 450–465; Ch. 8 §§8.4–8.6, pp. 511–518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FDB9D-1BC6-47BE-A54B-4D259A5E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L20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64891-8F74-4380-A88B-F7C13459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1CA31-73A0-45EA-B0FA-7E7BBBE3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53A09-6A1B-40AB-A5E5-34A1ED7F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657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AAD2C-86FB-426A-8BCE-A7FB4440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0250"/>
            <a:ext cx="9296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What state follows S₂ after input 1 in the overlapping 101 detector?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C072B-A954-4091-99E5-7DE4C41E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657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A5303-D0E2-4CA2-B007-E4EBE5C6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52850"/>
            <a:ext cx="9296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How many state bits does binary encoding need for 12 states?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67A0FD-F99B-4FDA-98AF-7AEBB4D7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486400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Answer without notes, then compare your reasoning with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12684477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ED30E-E44A-4C41-B317-0CFEAF08F4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684a9f6e54ef2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A41B2-0806-425B-8DC0-3217EB435C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7cfbaa8654404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8F2B0-9F91-43D7-AD94-32FC1F87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L20 · PRACTICE SOLUTIONS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3337C-BA87-4F70-A21B-D19AD5E9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Check the rule behind each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E5A80-66EF-49DB-8504-52643084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0C7CB-17B6-470C-80F2-B1A53090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E788F-D70C-445A-AF01-59734D5C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§7.4, pp. 450–465; Ch. 8 §§8.4–8.6, pp. 511–518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9C5FC-2DF0-4FCA-868B-72B52833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L20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44275-15FE-45DF-A66A-FDCF00C9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5A44C-9E87-4CD5-8EEA-BF6F56E7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03343-BD63-48AE-966A-D01196F3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04394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61112-4060-4555-9C76-DB9372AF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04787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DC434-FEEF-4993-A6D3-0943B20F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5740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S₁, with Z=1 on that transition.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3B222-FF10-44E2-943A-DD995685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04394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C72D2-EA33-48D0-9711-35631A56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5762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9AB2C-C03B-49B3-A28B-FA5558B8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6715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Four bits.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D464E-AD3B-4762-A0A4-D1F6665C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553075"/>
            <a:ext cx="8696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Return to the reference table if your answer used a different rule.</a:t>
            </a:r>
          </a:p>
        </p:txBody>
      </p:sp>
    </p:spTree>
    <p:extLst>
      <p:ext uri="{BB962C8B-B14F-4D97-AF65-F5344CB8AC3E}">
        <p14:creationId xmlns:p14="http://schemas.microsoft.com/office/powerpoint/2010/main" val="3364585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540CBE-03B8-49F3-8978-98E7F76A06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fbcc9b3304fee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6C819-B96C-4CD6-8BEA-2C8E01FA04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eb505702e4297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E3865-8540-4D76-B619-54EFA44A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L20 ·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A70CC-8C7E-40E4-91FE-B7C99E5C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What should stay with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36BCA-CA29-4F0D-9B89-68B6A682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B60B0-8360-4CAA-A791-C63931D2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3CAB7-9982-4736-928D-F270CB8E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§7.4, pp. 450–465; Ch. 8 §§8.4–8.6, pp. 511–518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DC42D-838D-4FAF-83E1-EB04B057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L20  |  Week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B3190-2523-4CBC-BDE2-E24C10F1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E627C-BAE3-4679-A7B4-EE51C1D8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E7EEE-9E57-4ADF-BBFA-A6E11026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B301F-CE05-4F90-9AC9-C62AA59B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Derive states from useful input suffixes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FD8FE-DBAF-4413-9559-66E29AC6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85C44-2E5B-4D52-BE59-66D8CA9C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432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Design an overlapping 101 detector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48F02-B927-432A-A1F5-32DD8A69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E881D-F872-4C70-A4FF-6C9FF6AD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338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Interpret an ASM block and compare binary with one-hot encoding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722350-13E8-4D1B-A60D-B74851AD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72050"/>
            <a:ext cx="9725025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24C30-84B3-4DAF-BCC0-E3298C4E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81600"/>
            <a:ext cx="962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AA185D-6D12-42B5-951B-BA08E86E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95875"/>
            <a:ext cx="7858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Next: ROM, PLA and PAL implementation. Use lesson-07.html to preview its model.</a:t>
            </a:r>
          </a:p>
        </p:txBody>
      </p:sp>
    </p:spTree>
    <p:extLst>
      <p:ext uri="{BB962C8B-B14F-4D97-AF65-F5344CB8AC3E}">
        <p14:creationId xmlns:p14="http://schemas.microsoft.com/office/powerpoint/2010/main" val="3558524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2026-10-13T11:24:42.4130000Z</dcterms:created>
  <dcterms:modified xsi:type="dcterms:W3CDTF">2026-10-13T11:24:42.4130000Z</dcterms:modified>
</coreProperties>
</file>