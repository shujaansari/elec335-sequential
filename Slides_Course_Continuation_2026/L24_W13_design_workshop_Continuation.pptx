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07fb995f4457c" /><Relationship Type="http://schemas.openxmlformats.org/officeDocument/2006/relationships/extended-properties" Target="/docProps/app.xml" Id="R3a7d3bf5a4ad4e5c" /><Relationship Type="http://schemas.openxmlformats.org/officeDocument/2006/relationships/officeDocument" Target="/ppt/presentation.xml" Id="R0e5225a84932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a9630b66e945e4"/>
  </p:sldMasterIdLst>
  <p:notesMasterIdLst>
    <p:notesMasterId xmlns:r="http://schemas.openxmlformats.org/officeDocument/2006/relationships" r:id="R21e31dac46584100"/>
  </p:notesMasterIdLst>
  <p:sldIdLst>
    <p:sldId xmlns:r="http://schemas.openxmlformats.org/officeDocument/2006/relationships" id="256" r:id="R2d0383b309894fa0"/>
    <p:sldId xmlns:r="http://schemas.openxmlformats.org/officeDocument/2006/relationships" id="257" r:id="R69f5e919fa284640"/>
    <p:sldId xmlns:r="http://schemas.openxmlformats.org/officeDocument/2006/relationships" id="258" r:id="Rc14656ca01c84188"/>
    <p:sldId xmlns:r="http://schemas.openxmlformats.org/officeDocument/2006/relationships" id="259" r:id="R40be9a7f9d534466"/>
    <p:sldId xmlns:r="http://schemas.openxmlformats.org/officeDocument/2006/relationships" id="260" r:id="R062917f82a6846bb"/>
    <p:sldId xmlns:r="http://schemas.openxmlformats.org/officeDocument/2006/relationships" id="261" r:id="R12450961bd464d75"/>
    <p:sldId xmlns:r="http://schemas.openxmlformats.org/officeDocument/2006/relationships" id="262" r:id="Rb230aca192274829"/>
    <p:sldId xmlns:r="http://schemas.openxmlformats.org/officeDocument/2006/relationships" id="263" r:id="Rb55e712fb3e84aa9"/>
    <p:sldId xmlns:r="http://schemas.openxmlformats.org/officeDocument/2006/relationships" id="264" r:id="R8c99679c440641b3"/>
    <p:sldId xmlns:r="http://schemas.openxmlformats.org/officeDocument/2006/relationships" id="265" r:id="Rf9f1517e8b9845d4"/>
    <p:sldId xmlns:r="http://schemas.openxmlformats.org/officeDocument/2006/relationships" id="266" r:id="R9dfd5c61063948e5"/>
    <p:sldId xmlns:r="http://schemas.openxmlformats.org/officeDocument/2006/relationships" id="267" r:id="R21bbf0b2a51848e2"/>
    <p:sldId xmlns:r="http://schemas.openxmlformats.org/officeDocument/2006/relationships" id="268" r:id="R2af5b319d0994f99"/>
    <p:sldId xmlns:r="http://schemas.openxmlformats.org/officeDocument/2006/relationships" id="269" r:id="R40942845cf024338"/>
    <p:sldId xmlns:r="http://schemas.openxmlformats.org/officeDocument/2006/relationships" id="270" r:id="Rff54d0d6422242d5"/>
    <p:sldId xmlns:r="http://schemas.openxmlformats.org/officeDocument/2006/relationships" id="271" r:id="Rf532c83bf38b419b"/>
    <p:sldId xmlns:r="http://schemas.openxmlformats.org/officeDocument/2006/relationships" id="272" r:id="R8f915aeb331f4376"/>
    <p:sldId xmlns:r="http://schemas.openxmlformats.org/officeDocument/2006/relationships" id="273" r:id="R244d1f701ba84a02"/>
    <p:sldId xmlns:r="http://schemas.openxmlformats.org/officeDocument/2006/relationships" id="274" r:id="Rf7db1bc2f36645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c8f27cf5f4689" /><Relationship Type="http://schemas.openxmlformats.org/officeDocument/2006/relationships/slideMaster" Target="/ppt/slideMasters/slideMaster1.xml" Id="R98a9630b66e945e4" /><Relationship Type="http://schemas.openxmlformats.org/officeDocument/2006/relationships/notesMaster" Target="/ppt/notesMasters/notesMaster1.xml" Id="R21e31dac46584100" /><Relationship Type="http://schemas.openxmlformats.org/officeDocument/2006/relationships/presProps" Target="/ppt/presProps.xml" Id="Rfe82464a04eb4ecb" /><Relationship Type="http://schemas.openxmlformats.org/officeDocument/2006/relationships/tableStyles" Target="/ppt/tableStyles.xml" Id="R8e404ee0c0d3458b" /><Relationship Type="http://schemas.openxmlformats.org/officeDocument/2006/relationships/slide" Target="/ppt/slides/slide1.xml" Id="R2d0383b309894fa0" /><Relationship Type="http://schemas.openxmlformats.org/officeDocument/2006/relationships/slide" Target="/ppt/slides/slide2.xml" Id="R69f5e919fa284640" /><Relationship Type="http://schemas.openxmlformats.org/officeDocument/2006/relationships/slide" Target="/ppt/slides/slide3.xml" Id="Rc14656ca01c84188" /><Relationship Type="http://schemas.openxmlformats.org/officeDocument/2006/relationships/slide" Target="/ppt/slides/slide4.xml" Id="R40be9a7f9d534466" /><Relationship Type="http://schemas.openxmlformats.org/officeDocument/2006/relationships/slide" Target="/ppt/slides/slide5.xml" Id="R062917f82a6846bb" /><Relationship Type="http://schemas.openxmlformats.org/officeDocument/2006/relationships/slide" Target="/ppt/slides/slide6.xml" Id="R12450961bd464d75" /><Relationship Type="http://schemas.openxmlformats.org/officeDocument/2006/relationships/slide" Target="/ppt/slides/slide7.xml" Id="Rb230aca192274829" /><Relationship Type="http://schemas.openxmlformats.org/officeDocument/2006/relationships/slide" Target="/ppt/slides/slide8.xml" Id="Rb55e712fb3e84aa9" /><Relationship Type="http://schemas.openxmlformats.org/officeDocument/2006/relationships/slide" Target="/ppt/slides/slide9.xml" Id="R8c99679c440641b3" /><Relationship Type="http://schemas.openxmlformats.org/officeDocument/2006/relationships/slide" Target="/ppt/slides/slide10.xml" Id="Rf9f1517e8b9845d4" /><Relationship Type="http://schemas.openxmlformats.org/officeDocument/2006/relationships/slide" Target="/ppt/slides/slide11.xml" Id="R9dfd5c61063948e5" /><Relationship Type="http://schemas.openxmlformats.org/officeDocument/2006/relationships/slide" Target="/ppt/slides/slide12.xml" Id="R21bbf0b2a51848e2" /><Relationship Type="http://schemas.openxmlformats.org/officeDocument/2006/relationships/slide" Target="/ppt/slides/slide13.xml" Id="R2af5b319d0994f99" /><Relationship Type="http://schemas.openxmlformats.org/officeDocument/2006/relationships/slide" Target="/ppt/slides/slide14.xml" Id="R40942845cf024338" /><Relationship Type="http://schemas.openxmlformats.org/officeDocument/2006/relationships/slide" Target="/ppt/slides/slide15.xml" Id="Rff54d0d6422242d5" /><Relationship Type="http://schemas.openxmlformats.org/officeDocument/2006/relationships/slide" Target="/ppt/slides/slide16.xml" Id="Rf532c83bf38b419b" /><Relationship Type="http://schemas.openxmlformats.org/officeDocument/2006/relationships/slide" Target="/ppt/slides/slide17.xml" Id="R8f915aeb331f4376" /><Relationship Type="http://schemas.openxmlformats.org/officeDocument/2006/relationships/slide" Target="/ppt/slides/slide18.xml" Id="R244d1f701ba84a02" /><Relationship Type="http://schemas.openxmlformats.org/officeDocument/2006/relationships/slide" Target="/ppt/slides/slide19.xml" Id="Rf7db1bc2f36645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84b8fafdd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3701bd12e4300" /><Relationship Type="http://schemas.openxmlformats.org/officeDocument/2006/relationships/notesMaster" Target="/ppt/notesMasters/notesMaster1.xml" Id="R1c07f9d9c4f942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f6ea0b7b034e77" /><Relationship Type="http://schemas.openxmlformats.org/officeDocument/2006/relationships/notesMaster" Target="/ppt/notesMasters/notesMaster1.xml" Id="R2c85eafdd3dc45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ab15eb2f44110" /><Relationship Type="http://schemas.openxmlformats.org/officeDocument/2006/relationships/notesMaster" Target="/ppt/notesMasters/notesMaster1.xml" Id="R4cd8d652c2eb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5c3754875c4e81" /><Relationship Type="http://schemas.openxmlformats.org/officeDocument/2006/relationships/notesMaster" Target="/ppt/notesMasters/notesMaster1.xml" Id="Ra835f615c2d04f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2fc358d484d2f" /><Relationship Type="http://schemas.openxmlformats.org/officeDocument/2006/relationships/notesMaster" Target="/ppt/notesMasters/notesMaster1.xml" Id="R7802b45b01c34f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1efb95bd8d4c2e" /><Relationship Type="http://schemas.openxmlformats.org/officeDocument/2006/relationships/notesMaster" Target="/ppt/notesMasters/notesMaster1.xml" Id="Rf8a811970dda49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5b0d128bd84668" /><Relationship Type="http://schemas.openxmlformats.org/officeDocument/2006/relationships/notesMaster" Target="/ppt/notesMasters/notesMaster1.xml" Id="R5a2ef07b92e546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acb9f796d45a0" /><Relationship Type="http://schemas.openxmlformats.org/officeDocument/2006/relationships/notesMaster" Target="/ppt/notesMasters/notesMaster1.xml" Id="R705258d195ac40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85f37a79984e14" /><Relationship Type="http://schemas.openxmlformats.org/officeDocument/2006/relationships/notesMaster" Target="/ppt/notesMasters/notesMaster1.xml" Id="Rd8d3b41c8dc6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659d92cf754328" /><Relationship Type="http://schemas.openxmlformats.org/officeDocument/2006/relationships/notesMaster" Target="/ppt/notesMasters/notesMaster1.xml" Id="R5fa213c96f1f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d95537e2146ae" /><Relationship Type="http://schemas.openxmlformats.org/officeDocument/2006/relationships/notesMaster" Target="/ppt/notesMasters/notesMaster1.xml" Id="R87ec6617d32745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bb016654e7494d" /><Relationship Type="http://schemas.openxmlformats.org/officeDocument/2006/relationships/notesMaster" Target="/ppt/notesMasters/notesMaster1.xml" Id="R47b01b43713246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efeafeb5cb4748" /><Relationship Type="http://schemas.openxmlformats.org/officeDocument/2006/relationships/notesMaster" Target="/ppt/notesMasters/notesMaster1.xml" Id="Re28838e1c8594c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acc6f22b9b4ecd" /><Relationship Type="http://schemas.openxmlformats.org/officeDocument/2006/relationships/notesMaster" Target="/ppt/notesMasters/notesMaster1.xml" Id="R2c867cc6472f48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691f048f2c4aff" /><Relationship Type="http://schemas.openxmlformats.org/officeDocument/2006/relationships/notesMaster" Target="/ppt/notesMasters/notesMaster1.xml" Id="Ra84d143212ea48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c15ae0f967448f" /><Relationship Type="http://schemas.openxmlformats.org/officeDocument/2006/relationships/notesMaster" Target="/ppt/notesMasters/notesMaster1.xml" Id="Rc08d18b5ef2347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8008fd5d6340eb" /><Relationship Type="http://schemas.openxmlformats.org/officeDocument/2006/relationships/notesMaster" Target="/ppt/notesMasters/notesMaster1.xml" Id="R71bd9234dd3a49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f8129f1bee49ef" /><Relationship Type="http://schemas.openxmlformats.org/officeDocument/2006/relationships/notesMaster" Target="/ppt/notesMasters/notesMaster1.xml" Id="Rb7f6d0171d7445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cd8781ce234415" /><Relationship Type="http://schemas.openxmlformats.org/officeDocument/2006/relationships/notesMaster" Target="/ppt/notesMasters/notesMaster1.xml" Id="Rea8572c7c8e5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Opening question: Can one design be traced from behavior to registers, state equations and a memory implementation?</a:t>
            </a:r>
          </a:p>
          <a:p xmlns:a="http://schemas.openxmlformats.org/drawingml/2006/main">
            <a:r>
              <a:t>Outcomes: Model a small serial transmitter as an FSM | Trace parallel load and serial shift timing | Map a controller table to ROM or product terms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Model a small serial transmitter as an FSM</a:t>
            </a:r>
          </a:p>
          <a:p xmlns:a="http://schemas.openxmlformats.org/drawingml/2006/main">
            <a:r>
              <a:t>Trace parallel load and serial shift timing</a:t>
            </a:r>
          </a:p>
          <a:p xmlns:a="http://schemas.openxmlformats.org/drawingml/2006/main">
            <a:r>
              <a:t>Map a controller table to ROM or product terms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Ask students for an initial answer: Can one design be traced from behavior to registers, state equations and a memory implementation?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A controller can be described by states and outputs.</a:t>
            </a:r>
          </a:p>
          <a:p xmlns:a="http://schemas.openxmlformats.org/drawingml/2006/main">
            <a:r>
              <a:t>A register can parallel-load and serial-shift a word.</a:t>
            </a:r>
          </a:p>
          <a:p xmlns:a="http://schemas.openxmlformats.org/drawingml/2006/main">
            <a:r>
              <a:t>A ROM can store next-state and output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datapath: registers and operations that carry data</a:t>
            </a:r>
          </a:p>
          <a:p xmlns:a="http://schemas.openxmlformats.org/drawingml/2006/main">
            <a:r>
              <a:t>controller: state logic that selects datapath operations</a:t>
            </a:r>
          </a:p>
          <a:p xmlns:a="http://schemas.openxmlformats.org/drawingml/2006/main">
            <a:r>
              <a:t>handshake: signals that coordinate start and completion</a:t>
            </a:r>
          </a:p>
          <a:p xmlns:a="http://schemas.openxmlformats.org/drawingml/2006/main">
            <a:r>
              <a:t>microoperation: register action during one control step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Specify the external behavior and timing.</a:t>
            </a:r>
          </a:p>
          <a:p xmlns:a="http://schemas.openxmlformats.org/drawingml/2006/main">
            <a:r>
              <a:t>Separate datapath storage from control states.</a:t>
            </a:r>
          </a:p>
          <a:p xmlns:a="http://schemas.openxmlformats.org/drawingml/2006/main">
            <a:r>
              <a:t>Fill every state/input row, then map to logic or ROM.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Separate controller state, datapath registers, inputs, and observable outputs.</a:t>
            </a:r>
          </a:p>
          <a:p xmlns:a="http://schemas.openxmlformats.org/drawingml/2006/main">
            <a:r>
              <a:t>Trace one clock edge at a time with state, count, data and output columns.</a:t>
            </a:r>
          </a:p>
          <a:p xmlns:a="http://schemas.openxmlformats.org/drawingml/2006/main">
            <a:r>
              <a:t>Build a complete controller table, specify invalid cases, then select gates or ROM/PLA/PAL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Trace transmission of 1011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Prompt: The transmitter emits the rightmost bit first. Give the emitted sequence and number of SHIFT edges.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Start causes IDLE→LOAD; no bit is emitted yet.</a:t>
            </a:r>
          </a:p>
          <a:p xmlns:a="http://schemas.openxmlformats.org/drawingml/2006/main">
            <a:r>
              <a:t>LOAD captures 1011 and sets count to 4.</a:t>
            </a:r>
          </a:p>
          <a:p xmlns:a="http://schemas.openxmlformats.org/drawingml/2006/main">
            <a:r>
              <a:t>Four SHIFT edges emit 1,1,0,1.</a:t>
            </a:r>
          </a:p>
          <a:p xmlns:a="http://schemas.openxmlformats.org/drawingml/2006/main">
            <a:r>
              <a:t>After the fourth emission, state becomes DONE and count becomes 0.</a:t>
            </a:r>
          </a:p>
          <a:p xmlns:a="http://schemas.openxmlformats.org/drawingml/2006/main">
            <a:r>
              <a:t>Answer: The serial sequence is 1101 over four SHIFT edges.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Datapath | Holds and shifts the four-bit word. | Contains the register and bit count.</a:t>
            </a:r>
          </a:p>
          <a:p xmlns:a="http://schemas.openxmlformats.org/drawingml/2006/main">
            <a:r>
              <a:t>Controller | Chooses IDLE, LOAD, SHIFT, DONE. | Generates load, shift and done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Load a four-bit word, start the controller and advance each clock edge. State, count, data and emitted bits animate together.</a:t>
            </a:r>
          </a:p>
          <a:p xmlns:a="http://schemas.openxmlformats.org/drawingml/2006/main">
            <a:r>
              <a:t>Invite students to predict the next state before every edge.</a:t>
            </a:r>
          </a:p>
          <a:p xmlns:a="http://schemas.openxmlformats.org/drawingml/2006/main">
            <a:r>
              <a:t>Write emitted bits on the board and compare with the changing register.</a:t>
            </a:r>
          </a:p>
          <a:p xmlns:a="http://schemas.openxmlformats.org/drawingml/2006/main">
            <a:r>
              <a:t>End by asking learners to map the controller table to a ROM word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Design the control outline for a four-bit serial transmitter. Show when load, shift and done are asserted, including a new start request.</a:t>
            </a:r>
          </a:p>
          <a:p xmlns:a="http://schemas.openxmlformats.org/drawingml/2006/main">
            <a:r>
              <a:t>Deliverable: A state diagram, register actions and a concise verification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Prompt: Use a two-bit state code and two condition bits (start, last) as a conceptual controller address. Store two next-state bits and three action bits.</a:t>
            </a:r>
          </a:p>
          <a:p xmlns:a="http://schemas.openxmlformats.org/drawingml/2006/main">
            <a:r>
              <a:t>First move: There are 2⁴=16 possible addresses.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Estimate a ROM for the controller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There are 2⁴=16 possible addresses.</a:t>
            </a:r>
          </a:p>
          <a:p xmlns:a="http://schemas.openxmlformats.org/drawingml/2006/main">
            <a:r>
              <a:t>Each word contains 2+3=5 output bits.</a:t>
            </a:r>
          </a:p>
          <a:p xmlns:a="http://schemas.openxmlformats.org/drawingml/2006/main">
            <a:r>
              <a:t>The conceptual ROM organization is 16×5.</a:t>
            </a:r>
          </a:p>
          <a:p xmlns:a="http://schemas.openxmlformats.org/drawingml/2006/main">
            <a:r>
              <a:t>Specify all unused address words, including invalid state encodings if any, for safe behavior.</a:t>
            </a:r>
          </a:p>
          <a:p xmlns:a="http://schemas.openxmlformats.org/drawingml/2006/main">
            <a:r>
              <a:t>Answer: The organization is 16×5, or 80 stored output bits. Conditions must be defined for every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TEMPTING CLAIM: The register operation can be decided without specifying controller timing.</a:t>
            </a:r>
          </a:p>
          <a:p xmlns:a="http://schemas.openxmlformats.org/drawingml/2006/main">
            <a:r>
              <a:t>WHY IT FAILS: Load, shift and done must occur in defined states and clock intervals.</a:t>
            </a:r>
          </a:p>
          <a:p xmlns:a="http://schemas.openxmlformats.org/drawingml/2006/main">
            <a:r>
              <a:t>REPAIR: Write a state table with actions and verify the edge-by-edge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Q1: If a PISO register holds 0110 and emits the rightmost bit first, what is the output sequence?</a:t>
            </a:r>
          </a:p>
          <a:p xmlns:a="http://schemas.openxmlformats.org/drawingml/2006/main">
            <a:r>
              <a:t>Hint: Read bits from right to left.</a:t>
            </a:r>
          </a:p>
          <a:p xmlns:a="http://schemas.openxmlformats.org/drawingml/2006/main">
            <a:r>
              <a:t>Answer: 0,1,1,0.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Why does the controller need a count as well as the data register?</a:t>
            </a:r>
          </a:p>
          <a:p xmlns:a="http://schemas.openxmlformats.org/drawingml/2006/main">
            <a:r>
              <a:t>Hint: The data pattern itself may contain zeros and ones.</a:t>
            </a:r>
          </a:p>
          <a:p xmlns:a="http://schemas.openxmlformats.org/drawingml/2006/main">
            <a:r>
              <a:t>Answer: The count records how many bits remain; data bits alone do not indicate whether four transfers have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Q1: If a PISO register holds 0110 and emits the rightmost bit first, what is the output sequence?</a:t>
            </a:r>
          </a:p>
          <a:p xmlns:a="http://schemas.openxmlformats.org/drawingml/2006/main">
            <a:r>
              <a:t>0,1,1,0.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Why does the controller need a count as well as the data register?</a:t>
            </a:r>
          </a:p>
          <a:p xmlns:a="http://schemas.openxmlformats.org/drawingml/2006/main">
            <a:r>
              <a:t>The count records how many bits remain; data bits alone do not indicate whether four transfers have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24 | Week 13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Review Ch. 6–9 and Ch. 5 §5.6.</a:t>
            </a:r>
          </a:p>
          <a:p xmlns:a="http://schemas.openxmlformats.org/drawingml/2006/main">
            <a:r>
              <a:t>Companion animation: lesson-10.html</a:t>
            </a:r>
          </a:p>
          <a:p xmlns:a="http://schemas.openxmlformats.org/drawingml/2006/main">
            <a:r>
              <a:t>Model a small serial transmitter as an FSM</a:t>
            </a:r>
          </a:p>
          <a:p xmlns:a="http://schemas.openxmlformats.org/drawingml/2006/main">
            <a:r>
              <a:t>Trace parallel load and serial shift timing</a:t>
            </a:r>
          </a:p>
          <a:p xmlns:a="http://schemas.openxmlformats.org/drawingml/2006/main">
            <a:r>
              <a:t>Map a controller table to ROM or product terms</a:t>
            </a:r>
          </a:p>
          <a:p xmlns:a="http://schemas.openxmlformats.org/drawingml/2006/main">
            <a:r>
              <a:t>Next companion: course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2a901e5d046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6ac1a2e4b4a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1bb1f74db42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caad85dc346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1d96ba0fe4c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563b90491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548253-D64C-4715-8E0E-113BB28B3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F96945-1984-45F1-8105-21E49B53B6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7B60C9-C521-4AC3-A850-D1AF6BBD8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707C2-2209-4275-B5A9-67C1A7F45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03B91E-7DCB-40A9-B085-A09D911A7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058230-1328-4F94-BFD6-21B4F765D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C9DC6F-AA93-4381-846B-DADD622F8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D97772-1D92-4E63-A572-86778672E5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E496A4-96A0-48D0-B236-A55351145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146FC1-CE3A-41E0-8200-C661B32AA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9871db7b544df" /><Relationship Type="http://schemas.openxmlformats.org/officeDocument/2006/relationships/slideLayout" Target="/ppt/slideLayouts/slideLayout1.xml" Id="Rde97c6a759524ebf" /><Relationship Type="http://schemas.openxmlformats.org/officeDocument/2006/relationships/slideLayout" Target="/ppt/slideLayouts/slideLayout2.xml" Id="R36bb7e11286c4a68" /><Relationship Type="http://schemas.openxmlformats.org/officeDocument/2006/relationships/slideLayout" Target="/ppt/slideLayouts/slideLayout3.xml" Id="Re18498fa186c420f" /><Relationship Type="http://schemas.openxmlformats.org/officeDocument/2006/relationships/slideLayout" Target="/ppt/slideLayouts/slideLayout4.xml" Id="R43263fdd8a324217" /><Relationship Type="http://schemas.openxmlformats.org/officeDocument/2006/relationships/slideLayout" Target="/ppt/slideLayouts/slideLayout5.xml" Id="R78eac4610b574af7" /><Relationship Type="http://schemas.openxmlformats.org/officeDocument/2006/relationships/slideLayout" Target="/ppt/slideLayouts/slideLayout6.xml" Id="R2d767e17b01d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7c6a759524ebf"/>
    <p:sldLayoutId xmlns:r="http://schemas.openxmlformats.org/officeDocument/2006/relationships" id="2147483650" r:id="R36bb7e11286c4a68"/>
    <p:sldLayoutId xmlns:r="http://schemas.openxmlformats.org/officeDocument/2006/relationships" id="2147483651" r:id="Re18498fa186c420f"/>
    <p:sldLayoutId xmlns:r="http://schemas.openxmlformats.org/officeDocument/2006/relationships" id="2147483652" r:id="R43263fdd8a324217"/>
    <p:sldLayoutId xmlns:r="http://schemas.openxmlformats.org/officeDocument/2006/relationships" id="2147483653" r:id="R78eac4610b574af7"/>
    <p:sldLayoutId xmlns:r="http://schemas.openxmlformats.org/officeDocument/2006/relationships" id="2147483654" r:id="R2d767e17b01d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3fe58593e4d2c" /><Relationship Type="http://schemas.openxmlformats.org/officeDocument/2006/relationships/image" Target="/ppt/media/image.png" Id="Re51bcc641d1a4900" /><Relationship Type="http://schemas.openxmlformats.org/officeDocument/2006/relationships/image" Target="/ppt/media/image2.png" Id="Rae75e8fdb91e4523" /><Relationship Type="http://schemas.openxmlformats.org/officeDocument/2006/relationships/notesSlide" Target="/ppt/notesSlides/notesSlide1.xml" Id="R86cda74ea57b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d3b8db60a489b" /><Relationship Type="http://schemas.openxmlformats.org/officeDocument/2006/relationships/image" Target="/ppt/media/image3.png" Id="Rfa0ed0172a7e4d17" /><Relationship Type="http://schemas.openxmlformats.org/officeDocument/2006/relationships/image" Target="/ppt/media/image4.png" Id="Rde361bac20174dfa" /><Relationship Type="http://schemas.openxmlformats.org/officeDocument/2006/relationships/notesSlide" Target="/ppt/notesSlides/notesSlide2.xml" Id="Re40f351a05b1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02eea434647ab" /><Relationship Type="http://schemas.openxmlformats.org/officeDocument/2006/relationships/image" Target="/ppt/media/image5.png" Id="R06645728cb224b81" /><Relationship Type="http://schemas.openxmlformats.org/officeDocument/2006/relationships/image" Target="/ppt/media/image6.png" Id="R507641a108c543b4" /><Relationship Type="http://schemas.openxmlformats.org/officeDocument/2006/relationships/notesSlide" Target="/ppt/notesSlides/notesSlide3.xml" Id="R8d452ad491af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19c54ad524abb" /><Relationship Type="http://schemas.openxmlformats.org/officeDocument/2006/relationships/image" Target="/ppt/media/image7.png" Id="Rd9ec15a5e8af4b16" /><Relationship Type="http://schemas.openxmlformats.org/officeDocument/2006/relationships/image" Target="/ppt/media/image8.png" Id="Rd8bc4e9b5fcc4060" /><Relationship Type="http://schemas.openxmlformats.org/officeDocument/2006/relationships/notesSlide" Target="/ppt/notesSlides/notesSlide4.xml" Id="R1f71154fe83640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bdb3989084b51" /><Relationship Type="http://schemas.openxmlformats.org/officeDocument/2006/relationships/image" Target="/ppt/media/image9.png" Id="R8110d64b5b9344de" /><Relationship Type="http://schemas.openxmlformats.org/officeDocument/2006/relationships/image" Target="/ppt/media/image10.png" Id="R69477fd1fe5e4622" /><Relationship Type="http://schemas.openxmlformats.org/officeDocument/2006/relationships/notesSlide" Target="/ppt/notesSlides/notesSlide5.xml" Id="R05ce912cfade49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2e4197a87425e" /><Relationship Type="http://schemas.openxmlformats.org/officeDocument/2006/relationships/image" Target="/ppt/media/image11.png" Id="Rf84af26ae8334e10" /><Relationship Type="http://schemas.openxmlformats.org/officeDocument/2006/relationships/image" Target="/ppt/media/image12.png" Id="Rec6d46941aac4789" /><Relationship Type="http://schemas.openxmlformats.org/officeDocument/2006/relationships/notesSlide" Target="/ppt/notesSlides/notesSlide6.xml" Id="R5503fe781856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c49695f8149bc" /><Relationship Type="http://schemas.openxmlformats.org/officeDocument/2006/relationships/image" Target="/ppt/media/image13.png" Id="R530be4ca622e461a" /><Relationship Type="http://schemas.openxmlformats.org/officeDocument/2006/relationships/image" Target="/ppt/media/image14.png" Id="R0382e48c496d4b99" /><Relationship Type="http://schemas.openxmlformats.org/officeDocument/2006/relationships/notesSlide" Target="/ppt/notesSlides/notesSlide7.xml" Id="Rf8cbc316c635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1c8719717427a" /><Relationship Type="http://schemas.openxmlformats.org/officeDocument/2006/relationships/image" Target="/ppt/media/image15.png" Id="R0712bcb7b9c74397" /><Relationship Type="http://schemas.openxmlformats.org/officeDocument/2006/relationships/image" Target="/ppt/media/image16.png" Id="R2c4608243c074969" /><Relationship Type="http://schemas.openxmlformats.org/officeDocument/2006/relationships/notesSlide" Target="/ppt/notesSlides/notesSlide8.xml" Id="R4d2ae0275b2443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714f5753e46b3" /><Relationship Type="http://schemas.openxmlformats.org/officeDocument/2006/relationships/image" Target="/ppt/media/image17.png" Id="R14633ed121f34b0c" /><Relationship Type="http://schemas.openxmlformats.org/officeDocument/2006/relationships/image" Target="/ppt/media/image18.png" Id="R45c3ff634b7a4335" /><Relationship Type="http://schemas.openxmlformats.org/officeDocument/2006/relationships/notesSlide" Target="/ppt/notesSlides/notesSlide9.xml" Id="R70fc7df6632e48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9b43854f94de4" /><Relationship Type="http://schemas.openxmlformats.org/officeDocument/2006/relationships/image" Target="/ppt/media/image19.png" Id="Rd7e135f5eba34a5a" /><Relationship Type="http://schemas.openxmlformats.org/officeDocument/2006/relationships/image" Target="/ppt/media/image20.png" Id="Rbda327cae7a249e8" /><Relationship Type="http://schemas.openxmlformats.org/officeDocument/2006/relationships/notesSlide" Target="/ppt/notesSlides/notesSlide10.xml" Id="R70faef27f67d48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2e06b79b4475f" /><Relationship Type="http://schemas.openxmlformats.org/officeDocument/2006/relationships/image" Target="/ppt/media/image21.png" Id="Rbc00ebe66ce9458d" /><Relationship Type="http://schemas.openxmlformats.org/officeDocument/2006/relationships/image" Target="/ppt/media/image22.png" Id="R87849641b6774146" /><Relationship Type="http://schemas.openxmlformats.org/officeDocument/2006/relationships/notesSlide" Target="/ppt/notesSlides/notesSlide11.xml" Id="Rd2a7cbcdab7d4c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ee8e0f7db42d5" /><Relationship Type="http://schemas.openxmlformats.org/officeDocument/2006/relationships/image" Target="/ppt/media/image23.png" Id="R793fea89062a41a2" /><Relationship Type="http://schemas.openxmlformats.org/officeDocument/2006/relationships/image" Target="/ppt/media/image24.png" Id="R595f83f0bf99418c" /><Relationship Type="http://schemas.openxmlformats.org/officeDocument/2006/relationships/notesSlide" Target="/ppt/notesSlides/notesSlide12.xml" Id="Rc92cac53859045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55b9894e54fb7" /><Relationship Type="http://schemas.openxmlformats.org/officeDocument/2006/relationships/image" Target="/ppt/media/image25.png" Id="Ra1472a0b9a304f70" /><Relationship Type="http://schemas.openxmlformats.org/officeDocument/2006/relationships/image" Target="/ppt/media/image26.png" Id="R085d6f9f352f4622" /><Relationship Type="http://schemas.openxmlformats.org/officeDocument/2006/relationships/notesSlide" Target="/ppt/notesSlides/notesSlide13.xml" Id="Reea90aeb2f2443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f3b922e2845f9" /><Relationship Type="http://schemas.openxmlformats.org/officeDocument/2006/relationships/image" Target="/ppt/media/image27.png" Id="R8ab5eb5e84144e99" /><Relationship Type="http://schemas.openxmlformats.org/officeDocument/2006/relationships/image" Target="/ppt/media/image28.png" Id="R7a1862e8f9cc43be" /><Relationship Type="http://schemas.openxmlformats.org/officeDocument/2006/relationships/notesSlide" Target="/ppt/notesSlides/notesSlide14.xml" Id="Rd7a7a13821db44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4e7195b5946df" /><Relationship Type="http://schemas.openxmlformats.org/officeDocument/2006/relationships/image" Target="/ppt/media/image29.png" Id="Rbcc47e94925b4e63" /><Relationship Type="http://schemas.openxmlformats.org/officeDocument/2006/relationships/image" Target="/ppt/media/image30.png" Id="Rf0a8fdc477bf439c" /><Relationship Type="http://schemas.openxmlformats.org/officeDocument/2006/relationships/notesSlide" Target="/ppt/notesSlides/notesSlide15.xml" Id="R35ff05787ac943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32bec1624423f" /><Relationship Type="http://schemas.openxmlformats.org/officeDocument/2006/relationships/image" Target="/ppt/media/image31.png" Id="Re7c37736eac74498" /><Relationship Type="http://schemas.openxmlformats.org/officeDocument/2006/relationships/image" Target="/ppt/media/image32.png" Id="R81732553471f445f" /><Relationship Type="http://schemas.openxmlformats.org/officeDocument/2006/relationships/notesSlide" Target="/ppt/notesSlides/notesSlide16.xml" Id="Re666c41dbfc44f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51d4299194902" /><Relationship Type="http://schemas.openxmlformats.org/officeDocument/2006/relationships/image" Target="/ppt/media/image33.png" Id="Rf85a3dabad194ffb" /><Relationship Type="http://schemas.openxmlformats.org/officeDocument/2006/relationships/image" Target="/ppt/media/image34.png" Id="R4607c3182a214510" /><Relationship Type="http://schemas.openxmlformats.org/officeDocument/2006/relationships/notesSlide" Target="/ppt/notesSlides/notesSlide17.xml" Id="R455aefce8eeb41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8466f963a48a4" /><Relationship Type="http://schemas.openxmlformats.org/officeDocument/2006/relationships/image" Target="/ppt/media/image35.png" Id="R97910d1779414609" /><Relationship Type="http://schemas.openxmlformats.org/officeDocument/2006/relationships/image" Target="/ppt/media/image36.png" Id="R00238bec7afd4ba9" /><Relationship Type="http://schemas.openxmlformats.org/officeDocument/2006/relationships/notesSlide" Target="/ppt/notesSlides/notesSlide18.xml" Id="R6d6ae3a319214c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92e50427e4a9c" /><Relationship Type="http://schemas.openxmlformats.org/officeDocument/2006/relationships/image" Target="/ppt/media/image37.png" Id="R58094d760748402b" /><Relationship Type="http://schemas.openxmlformats.org/officeDocument/2006/relationships/image" Target="/ppt/media/image38.png" Id="Red3c832f72484f5a" /><Relationship Type="http://schemas.openxmlformats.org/officeDocument/2006/relationships/notesSlide" Target="/ppt/notesSlides/notesSlide19.xml" Id="R05bd22360e5240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73941-E925-4EDA-8CA3-C38F973ADB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bcc641d1a4900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EA39A-F8AF-4724-B504-48CB0721D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5e8fdb91e4523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59EC8-63E4-4D50-8283-8BB7F3B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D325-39E4-49E9-8100-BE097F0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Integrated sequential design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6B6E4-AFC4-4A49-A442-EC9EEFD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13 · Lecture 2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Chapters 6–9 (review)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2D02D-5CC9-4A11-8BC9-2FE7351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6DF06-7859-4C8A-B361-C9A8534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63FE1-5C99-491C-ADC3-61712EA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</p:spTree>
    <p:extLst>
      <p:ext uri="{BB962C8B-B14F-4D97-AF65-F5344CB8AC3E}">
        <p14:creationId xmlns:p14="http://schemas.microsoft.com/office/powerpoint/2010/main" val="491594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36E10-2DE8-4789-BF48-DF5D9F028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ed0172a7e4d1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D18D8-779D-4042-A418-472E2E93A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61bac20174df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A5BB0-A3A7-489C-8117-93DAF7AD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1674A-08D3-4923-B46B-EE8BB53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5FD5E-CDE7-4931-8FC5-9A8A60D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0C99E-C1C4-4AD9-B030-BB7C034C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BF699-2AD9-435F-B172-07C82EB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96087-90B1-4292-A83F-348F0FAA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F8B64-5023-4ADC-AD7E-FA8B2CDB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C7418-4A5F-4D7D-9A40-B9C47EE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8E5E-514B-4E00-8740-F2D0671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624E1-71D0-4692-A57C-E28A485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EB743-395F-4B77-A8F1-3637C15D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8771B-3E01-4154-ADB0-E1BE1CA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316BF-FF20-4FE8-AA4D-5482733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58EE4-6CBE-4D4F-B587-90E670C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10, Integrated sequential design 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C7A9D-BE7D-42DF-8882-6FA7E7B3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9CF1F-BA1F-466E-BF76-CDC1A07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0AF5E-D086-4EC1-95AF-689069E6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B355C-1A3C-4812-916E-70187E2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418828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3B75-4CFB-4E74-ADFA-7CE168036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45728cb224b8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5F5A0-D221-478C-A454-8AF4E3F2B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641a108c543b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45B3F-1425-4C14-8B75-70242AC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13FCB-CA4F-451E-AAE8-0A7236A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23A57-7D38-4979-9877-39481E32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2DEC5-9677-4F83-BFC7-5EBFD2FA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4CC80-7FA3-433D-A32C-9925DFC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1DE2-45EA-4849-91A2-D2100CC1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1FCB3-9475-4E98-9F8F-9BCAEC9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BA2FA-6098-469F-A729-F96E0A9D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5E4E6-EAF2-4B1C-8E4F-1AF81FBD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BD8AC-117F-4B50-B9DA-C50FB1B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025E-5C33-4848-8860-0AD9915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Model a small serial transmitter as an FSM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BD428-07FF-4E98-9C40-CABB3FF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2A8E6-CD86-4192-BB6F-807E07A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parallel load and serial shift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30084-7311-4FD0-9CF3-007A16DD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4DEBF-75C3-413C-8F5E-A4DBB054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Map a controller table to ROM or product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033AF-600A-4997-921F-7B71EDB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All three stated sequential and memory-device CLOs</a:t>
            </a:r>
          </a:p>
        </p:txBody>
      </p:sp>
    </p:spTree>
    <p:extLst>
      <p:ext uri="{BB962C8B-B14F-4D97-AF65-F5344CB8AC3E}">
        <p14:creationId xmlns:p14="http://schemas.microsoft.com/office/powerpoint/2010/main" val="1091557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39338-1CA9-40EE-9106-EADF82B16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c15a5e8af4b1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62695-9EEF-40F6-BFDC-C04B6CD29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c4e9b5fcc406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C27E7-28A2-4DD8-821D-7A833EFA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B8A06-8388-4451-8F4A-244433A7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D6E3-19A6-4BD1-B832-58B24BB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2E864-BA63-4956-9361-524C76F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6AB39-8577-4504-894D-4C9A9AD4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E616-32F6-4B44-A0B0-3CB01AD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CA0E1-05B8-4EB3-AEA9-1B8C015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40C30-D1ED-49AC-B2E5-0B6CCD48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EA9E2-E10C-45F7-9CF6-DED4FAB3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3D973-8DC2-4C88-A7DC-102FC1A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Can one design be traced from behavior to registers, state equations and a memory implementation?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9B94D-D590-4B59-9E81-D1CCFA4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466491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22033-B253-4650-A78E-21CBD7475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0d64b5b9344d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8F00B-914F-40B9-ADF7-F79A6CCAD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77fd1fe5e462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77646-BF2A-4FC7-9ABF-8892182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D6F6-D24B-419B-B92B-A655432E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68D9-D243-4478-9473-932F8AFC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CC734-414E-46BA-B815-3FC39C97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4C120-B4E7-472C-85C3-6B113B0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87BCA-6D0E-41D5-BE0E-AE78EBE2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83835-285C-4EDD-8486-60B5035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798CC-B935-4907-BF0D-A87CCE36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C93EE-6FD4-49B4-8F49-3F71429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4419A-EE2E-4845-B7A7-6D80E0A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7244C-3A5D-4EAE-BE74-4A0DFEA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controller can be described by states and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E3C80-52E2-42A6-B683-FF2B0C62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71082-3836-48DE-A5F3-FB0A39C0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53A6C-ADA8-4628-BE0A-A9E14E6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register can parallel-load and serial-shift a word.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2B355-3E06-4067-B24B-3FDA7931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3E9B0-D5DA-48E6-AF75-356A6B9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01BE0-D821-437F-B063-642BF335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ROM can store next-state and output words.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64D65-2E2A-4375-A8C8-C01EF78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1954318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2AF34-51E1-4222-83F8-A35A88B04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af26ae8334e1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3886D-AC32-4F05-B523-D3EE801C9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d46941aac478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7F307-A0C1-4A83-BF66-015AAA3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53A9-5278-4202-9B50-28194297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B81BD-A640-463E-AA11-F99B8F6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2EACD-526E-4B13-964A-BBF23B0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241C-3BA2-41A6-90BC-9C0E4EB5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A42F7-2E64-4E86-A19E-3822455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AF5E4-A8E1-40CC-A26F-5AB118B5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8D58A-4B4C-4B0A-94D4-98EE0DF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B1C3C-6D75-491F-9C51-041E0874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F6C1F-4034-4CA6-91D3-C7C6FFFD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datapath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ED5AD-158C-42D5-A36D-11F1974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registers and operations that carry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A1164-5E9D-4CD7-A733-67FB652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8797D-6FBF-43C9-9D6F-7C88A25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BAA9D-895D-4D83-8FEE-C96DC0C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logic that selects datapath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79E2F-BA50-4751-A68B-B2DF5955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048C7-33A7-4242-A2B0-59F1E8EF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handshake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269FA-0B21-4419-9389-0ED03402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signals that coordinate start and 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2651D-A0C0-48DE-9594-F2D7F6E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C676F-D644-41DD-B050-2163FC93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microoperation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902B7-FE8A-425F-B232-6C04545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register action during one control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B41EB-63F2-4ABD-8BF4-6762255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518008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A8B5D-1736-4068-98A4-546DC33AD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be4ca622e461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6530F-CF15-439D-AA8A-0B4FC50FD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2e48c496d4b9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12B6-D7D6-48FA-AE9C-7EBA3B4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6824-9A45-4705-8216-6E96519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9B20C-71CD-4753-A701-FFD5A552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436A-9E10-4D1D-8866-B2B9C7B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F2FA-FA7D-40F8-88F9-FB12CE5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8C98-C48A-41F5-8EE7-F143C94A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500FA-669E-408A-95DA-DA57DEDD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35494-EC6A-4112-81E2-42ECD8B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D1423-6337-4323-A2AD-72FC35BC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0417A-19CF-4720-8B4E-750A0CD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Specify the external behavior and timing.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B4AFE-E977-4287-936E-9A7E29B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B1706-C049-4D75-AD41-E5218226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datapath storage from control states.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A9F6D-7864-4EF3-8C4F-B32F381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884B8-3F50-4CD3-9A9E-A5847CE0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Fill every state/input row, then map to logic or ROM.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D7B23-997C-45D0-9B0F-8377F91F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7E02B-ACF0-4A08-BFE2-5C548B5F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949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Can one design be traced from behavior to registers, state equations and a memory implementation?</a:t>
            </a:r>
          </a:p>
        </p:txBody>
      </p:sp>
    </p:spTree>
    <p:extLst>
      <p:ext uri="{BB962C8B-B14F-4D97-AF65-F5344CB8AC3E}">
        <p14:creationId xmlns:p14="http://schemas.microsoft.com/office/powerpoint/2010/main" val="853665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B18D6-B792-4A34-A9ED-54D5E845A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2bcb7b9c7439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2220A-8599-4007-B162-0166C1B44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608243c07496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3632F-0114-4261-873B-555F7ED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46E11-34A5-42E8-B3AB-1983FE4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AF58F-3955-41C6-A26E-DE9F8EB6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05FC1-9873-4312-A34D-6D38B37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9C9A-B559-4843-8A27-3A57C00D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63A46-C11B-46D0-9991-AB141CB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D1F03-A6EC-4749-AB4D-2907AAE6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21FBF-8B77-4923-AB96-64EF8BA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3C280-63C7-4125-88D1-624E65714585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647950"/>
                <a:gridCol w="2647950"/>
                <a:gridCol w="2647950"/>
              </a:tblGrid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State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 state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IDLE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start=0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IDLE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wait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IDLE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start=1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LOAD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accept request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LOAD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any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SHIFT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parallel load; count←4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SHIFT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count&gt;1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SHIFT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emit bit; shift; decrement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SHIFT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count=1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emit final bit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DONE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any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IDLE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done pulse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70B34-DBA7-4E2B-A866-A4A7C3F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1496065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F8B3F-06A2-4C04-B31A-5DDF3A4C3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33ed121f34b0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BDD54-5AF6-4A84-85CD-A15BE8B44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3ff634b7a433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7903-C613-4587-9542-700FE1F5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1B4E5-533D-4F21-A2C0-E71A6342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092F9-3433-44DB-911D-6F218AD1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72BD2-32D5-4EC4-9338-66171DC5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C312-B1C8-4651-8C6D-F025811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18845-2113-4B02-8424-41EE6DC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26F69-1BDD-42AB-AE08-C8D95B4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6831-547D-4171-8A92-3681991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98BAF-91DE-4C6E-A8C9-3FDC8AB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5845-9CF4-460F-8CFF-081CD508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C1BF1-AD38-4F43-9086-F5510EC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controller state, datapath registers, inputs, and observable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5F017-2A58-4C8A-B2F4-3A93DA7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0B2D5-9A90-4822-B39A-188CD8D8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BE730-E743-4704-8243-5DF481A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one clock edge at a time with state, count, data and output columns.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2AC8E-3171-4799-9EEF-F59B7BD5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27A34-AD6C-4B6B-883F-1E1E9F8B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38F42-8DF2-420F-983C-ACC902D4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Build a complete controller table, specify invalid cases, then select gates or ROM/PLA/PAL implementation.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57E2A-EF5A-4B04-B561-D0455865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C73DB-22E8-4EF2-80CA-00C6359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1542133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BE450-FD75-4617-920E-8F800F7FD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135f5eba34a5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67D5A-F6B5-4BF4-A1F2-E29537270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327cae7a249e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49904-80CB-4A16-9B7C-90468F3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51884-5A95-407C-82BB-29E2874B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Trace transmission of 1011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D389E-F9A5-4138-B3FE-A678CDC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FE5E9-C4B5-4B03-BB41-E492ECB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A7EFE-F137-45CD-9437-65B2A5E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E694-9032-47BF-A4E3-733E5ED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C009A-E00A-4958-9A5E-993A4071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70954-645A-4679-B945-306A19E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08269-116F-4DEF-9B0B-9A39C89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F36B8-DA7C-4920-97BD-28A64590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transmitter emits the rightmost bit first. Give the emitted sequence and number of SHIFT edges.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71011-B87C-4205-8821-9089090A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BFE0A-7409-4421-B6D5-04F8ACE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Start causes IDLE→LOAD; no bit is emitted yet.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638B6-9E5D-461E-86FA-A94EE837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EDEA6-7D98-4D38-9ABC-1E995D1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LOAD captures 1011 and sets count to 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E19B2-D91C-4A3F-83C9-0F3A74A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6BC25-4F16-4DEE-8F2D-B755DE01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Four SHIFT edges emit 1,1,0,1.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4EBA9-7052-4214-AAE3-F9073B7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FC32D-FACD-48C9-B8FF-5ED08E4F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the fourth emission, state becomes DONE and count becomes 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B55D9-AC3E-4666-8E22-2B65F8E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858FE-4FA8-4F22-9E03-9648B1C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serial sequence is 1101 over four SHIFT edges.</a:t>
            </a:r>
          </a:p>
        </p:txBody>
      </p:sp>
    </p:spTree>
    <p:extLst>
      <p:ext uri="{BB962C8B-B14F-4D97-AF65-F5344CB8AC3E}">
        <p14:creationId xmlns:p14="http://schemas.microsoft.com/office/powerpoint/2010/main" val="707737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1024C-8491-409A-A3C4-B9A3F8D08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0ebe66ce9458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5CE81-5228-4C07-A4C5-8896C96A0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49641b677414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5FC67-2A26-4F33-8810-C263ADF7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B092A-2160-4A81-B98A-DE20D91F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496F8-5141-4A2D-B82B-7DFA13F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4B01-C665-479A-A9A4-A836A7D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19D05-A40B-44CB-9134-BB626A9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5A689-619C-476F-9C6B-58AA5A2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2BD6E-4B58-4591-A7F4-8DFC229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09A42-18DE-4C97-9763-F7B4ADD8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8B994-0FA5-4CB9-9295-4C78792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C685D-ADFB-4ECD-8FC2-EC6639A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Datapath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CC25F-6847-416A-9526-FA9C139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Holds and shifts the four-bit word.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305D9-2516-4BB8-AA0F-E3FB73C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Contains the register and bit count.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B61EA-E5F8-47BA-844A-106939C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BCE40-AF11-4932-8CD0-A18A551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Chooses IDLE, LOAD, SHIFT, DONE.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F058C-A9A3-4445-BF36-45CCE650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Generates load, shift and done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D1F58-D63F-49BC-A84B-A682954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EBE32-0662-4458-9018-A9CA32D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2039843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D7832-612E-4A40-A02B-EFEEEAF80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fea89062a41a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2DDB7-949F-462E-9AC3-D2E0BF820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f83f0bf99418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7BD44-517B-48B8-AE1A-912DA3D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61632-3D75-45B8-A04E-11E7417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Serial transmitter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BB4EC-BB72-42C9-B69E-36F6854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B8632-0727-48DF-93D0-3358CB78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334D7-7B17-4D69-8ADD-08006AD9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82E66-42AC-4410-A2C7-CE74C729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BF7FF-88A6-4C63-972A-A2BD0A69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BEC3A-6955-46E1-8FD8-3487E37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69E7C-21FC-4F98-8084-D780064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714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0268F-52B3-4495-9027-549370D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95600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DB3F9-CC29-41A2-98FF-29FA42C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146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0713B-0A80-4285-9EE4-14C62AAF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19400"/>
            <a:ext cx="1714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A0432-B331-4B71-9564-7701C73B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369FD-C735-4515-AE33-4B290C9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DEC4A-7A55-4082-8779-456488A6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714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71120-6070-4BF6-B0B6-34150CB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SHIFT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C5CA2-27DD-49FE-BE14-BABF2AF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146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EF871-94B8-46CD-AA0F-AA9D5917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1714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A33DF-FF36-42F5-B4BF-C0633FA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CFDBC-46B8-49B6-A325-294C97A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91000"/>
            <a:ext cx="757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Controller states select datapath microoperations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BA57D-6291-44A6-A533-1AB66CB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Load a four-bit word, start the controller and advance each clock edge. State, count, data and emitted bits animate together.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D3B7C-A5F0-45AC-B140-026DEDD5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lesson-10.html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7372359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203AE-9392-4DD8-A2F3-CC3026BB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E9362-B370-46D3-BADC-9F83A8937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72a0b9a304f7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5040A-DB5F-43D2-993A-8E4BB9A4F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d6f9f352f462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D5730-87B3-40A5-A511-A7C5456E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91E56-2876-4653-B901-3DBFD5B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L24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EF2D5-9D4A-44F3-93A6-C4830F9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015F1-A2B8-43B9-8AD9-B87CFD95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Design the control outline for a four-bit serial transmitter. Show when load, shift and done are asserted, including a new start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3AA8E-A1E1-4E1B-9842-98CE2C7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controller state, datapath registers, inputs, and observable outputs.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DCCA7-3A59-4DC5-AF54-A3F2CB4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A265A-17AC-495E-8321-29343884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767C0-23C5-45A4-B038-5D42BE63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state diagram, register actions and a concise verification trace.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39CF6-E900-4A12-A951-6D6FEC2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CB053-6E9D-4DA6-AFC0-F00FA3C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E0EA9-9F1B-4AF8-8F3F-0447788E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L24  |  Week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77707-B888-41CA-A286-7CEAA663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7253D-71DB-4B65-A14E-5AB8E73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9F700-C519-456D-8707-8355D9B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82134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03021-3619-4C04-B601-ABD875A14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eb5e84144e9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268AF-DE6B-4035-B6C6-91228E1EE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862e8f9cc43b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F6A4E-AF3B-4C67-87F0-A360133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7AF3D-941E-4707-ABCB-B4F894B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6847C-84C6-4C66-BC68-69AE0EB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FADD-DE3F-45EA-B979-6136CD55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448A7-623E-4BB4-8732-E6AE57B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869B8-E197-479B-8F63-645A15F7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B2460-0994-42E1-B50B-7C925D5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76942-786A-4082-AF84-F77A124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24142-CE49-4B2B-A88A-D957239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EC660-7A2F-4988-BD12-AD21D55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Use a two-bit state code and two condition bits (start, last) as a conceptual controller address. Store two next-state bits and three action bits.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ED8D2-5D76-460D-AC1F-769EF5F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30E48-AF0E-47AD-A1B0-2894600B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There are 2⁴=16 possible addresses.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32BC5-1021-4355-82D6-36F94B7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4930672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4AB1E-C205-4E52-BAE8-F49CADC2E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47e94925b4e6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BDB01-F167-4404-BECD-1AA39344E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8fdc477bf439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B7814-574A-4673-B3B9-BC9AB02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21C14-2405-4EB7-9768-F73A755C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7C866-0A94-4F6D-BE77-BA85993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79B35-2FB6-46DC-B79A-9F7BE63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AC55A-01C4-4698-BFE7-FEB6693C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9B983-7C5D-488D-83FC-1F7E2562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07C98-B0A9-4B91-85F7-7E83ACF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4F7F0-B5A5-4395-B4B2-181D992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A149D-9C26-49FF-BF36-D053A41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10C26-8DF1-492C-BA5B-3E8F536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723BA-38CC-4633-ABE1-C2D81C9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There are 2⁴=16 possible addresses.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93664-B34F-4773-A71F-8FEF9BDB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340DC-783C-4430-A3E2-404B8D6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09B9D-9462-469E-B17C-BF094B3F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Each word contains 2+3=5 output bits.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47F8B-DADB-488A-BFA8-3B1876C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336AB-6989-4672-9A12-9FD4089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C16C9-4C85-43EF-BC12-C2C9CC2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conceptual ROM organization is 16×5.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50810-A334-45BD-B750-F76B89C2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3C68D-BD90-48BE-B6FC-6C99A09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F4692-3127-45E5-B707-4574D525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Specify all unused address words, including invalid state encodings if any, for safe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81E05-C228-472D-B609-A6F295F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86D87-EBC0-45DE-8BFF-99B1C70D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organization is 16×5, or 80 stored output bits. Conditions must be defined for every address.</a:t>
            </a:r>
          </a:p>
        </p:txBody>
      </p:sp>
    </p:spTree>
    <p:extLst>
      <p:ext uri="{BB962C8B-B14F-4D97-AF65-F5344CB8AC3E}">
        <p14:creationId xmlns:p14="http://schemas.microsoft.com/office/powerpoint/2010/main" val="1245773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8FD13-6DF8-46CE-8528-74432D1E5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37736eac7449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00324-9C47-419C-B445-9D0639521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32553471f445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B3B43-9AD4-4D10-8FB2-2F4AE84E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6982E-D005-4BB7-B5EC-2004F66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CC03-5FE5-4EF8-94EB-18A86E5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26976-9866-41D9-9598-77B4A71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4D559-60AA-4F08-8A0F-008334C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5FC42-B4C9-4FDE-A064-D33ED8EC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2F57D-5E14-411E-8A2D-DAF26DD3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C50CD-D313-4787-9D98-DA2E4FA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9CA00-F207-4CFF-8F87-32DFFBA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072B1-6D45-4FE0-B21C-743AE36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9BC82-6579-44FB-83A5-1CFE6210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register operation can be decided without specifying controller timing.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D1D7B-59F0-44A8-BA22-6280415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6AA59-42E5-498D-B97A-8A5B36E6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6FB63-3CB4-4A05-93B5-F6F7B4BE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Load, shift and done must occur in defined states and clock intervals.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4A2D5-D222-4133-AB16-9D323B23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C73CB-4F18-47FF-93C2-B2FBB80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E17EB-7882-49A8-AAE2-870E831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a state table with actions and verify the edge-by-edge trace.</a:t>
            </a:r>
          </a:p>
        </p:txBody>
      </p:sp>
    </p:spTree>
    <p:extLst>
      <p:ext uri="{BB962C8B-B14F-4D97-AF65-F5344CB8AC3E}">
        <p14:creationId xmlns:p14="http://schemas.microsoft.com/office/powerpoint/2010/main" val="1709029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C85AE-87C0-4F04-8840-B9F3A4BD0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a3dabad194ff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0594-2C45-42E2-B392-3C8CCA0D6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c3182a21451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10023-D00E-4063-B090-463A15E2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B74D5-734F-4CA4-BF56-D27D4F8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2BAC9-7ED7-4BF5-8D6B-7E5F6A45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FCED5-6818-4221-8258-F86C1679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23C65-3079-47E9-A918-F5E97A6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6ECC3-8FC1-4C16-8CC8-CDBF69A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77D18-001C-4EFE-B2B8-476600D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08F79-8B36-435D-87DE-FB3DE08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44C63-AA2C-4AE5-ACE2-4E892178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C1CBC-8600-47AD-8C20-C0D655D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If a PISO register holds 0110 and emits the rightmost bit first, what is the output sequence?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A85E8-3667-4CFB-B5F2-75BE59B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D85ED-BE6B-4D4B-8ED7-EC4DE324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Why does the controller need a count as well as the data register?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811E3-5FFE-422F-8432-F0CDA68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5689953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FD5E3-1751-4A95-BBD8-67EB64E13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10d177941460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C6587-B6BC-48A5-AC64-44715B045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38bec7afd4ba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64128-C210-4981-8D41-E9657C7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CEDBE-9D6B-47B6-AAD8-EBD4DB1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E0BEE-D427-4DDA-B2A3-F07DFA2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12F93-81CE-4F23-9CCF-29969325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24F30-98B2-4E4E-B807-C644FF5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F5821-BA5C-4931-BF37-DA313CBC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4E14F-52E4-4E45-B89B-7B6F8A1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13AC2-77F0-461C-AD73-CD8A19A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1DD6A-0E3F-466B-A790-6236D0C9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B1C86-973E-4A86-B6B1-958DFC7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C2D4E-CC41-49B2-B1E3-EB4A239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0,1,1,0.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DA448-1079-4A20-8FC1-F78ADED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B7D20-60A2-4B8D-8952-32BAB025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A17B9-30AF-4C3C-97B7-EF42113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count records how many bits remain; data bits alone do not indicate whether four transfers have occurred.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F9D98-923D-43DC-A398-1150353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508177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ADF97-FA18-4EE8-8C72-3A40456A2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94d760748402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A519C-D09B-42C1-9563-6DE479B8B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c832f72484f5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4196B-EE23-41EA-9283-78CFA72C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L24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9D50-7453-4FB9-8749-0269004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7749A-5235-480E-99BC-21BEB2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A39A-CC6A-4BA7-856F-B8FB0B2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EDF4D-D727-4E49-8F98-839AB09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Review Ch. 6–9 and Ch. 5 §5.6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5EE4E-40C1-456A-9100-DDD1E90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L24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7FD32-DAF6-4F85-B63E-4714423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1A2F8-8707-4D92-AA3A-30AE2918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32016-7F9B-4BB5-AA21-D17DBFD9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8E306-C986-4C3E-BF48-F9DC45DB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Model a small serial transmitter as an FSM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EAAD7-F62B-4317-BC2D-618B6E2C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20963-3835-4748-AE41-8B0D0CC8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parallel load and serial shift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74432-CD22-46AA-8C74-88702C31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D7FC1-591D-48E4-9891-4320145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Map a controller table to ROM or product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27488-1E1C-4F13-82D0-16EF42FE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3BB2A-7503-4191-AFC3-EC8CFB27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C231A-5641-41E5-A0B4-B8F0708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Review the design methods and test each circuit against its full state table.</a:t>
            </a:r>
          </a:p>
        </p:txBody>
      </p:sp>
    </p:spTree>
    <p:extLst>
      <p:ext uri="{BB962C8B-B14F-4D97-AF65-F5344CB8AC3E}">
        <p14:creationId xmlns:p14="http://schemas.microsoft.com/office/powerpoint/2010/main" val="26184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2026-10-13T11:24:59.7130000Z</dcterms:created>
  <dcterms:modified xsi:type="dcterms:W3CDTF">2026-10-13T11:24:59.7130000Z</dcterms:modified>
</coreProperties>
</file>